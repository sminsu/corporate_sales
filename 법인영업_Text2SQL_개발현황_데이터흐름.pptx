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e9798c455a486f" /><Relationship Type="http://schemas.openxmlformats.org/officeDocument/2006/relationships/extended-properties" Target="/docProps/app.xml" Id="R4f111fae22764033" /><Relationship Type="http://schemas.openxmlformats.org/officeDocument/2006/relationships/officeDocument" Target="/ppt/presentation.xml" Id="Rd4987369e7c643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5bb979a0494243"/>
  </p:sldMasterIdLst>
  <p:notesMasterIdLst>
    <p:notesMasterId xmlns:r="http://schemas.openxmlformats.org/officeDocument/2006/relationships" r:id="R644be680f11e49db"/>
  </p:notesMasterIdLst>
  <p:sldIdLst>
    <p:sldId xmlns:r="http://schemas.openxmlformats.org/officeDocument/2006/relationships" id="256" r:id="R6d1c1bb202704f5f"/>
    <p:sldId xmlns:r="http://schemas.openxmlformats.org/officeDocument/2006/relationships" id="257" r:id="R0d7e39b051114870"/>
    <p:sldId xmlns:r="http://schemas.openxmlformats.org/officeDocument/2006/relationships" id="258" r:id="Rb484e1689c324f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08c51b8af242ed" /><Relationship Type="http://schemas.openxmlformats.org/officeDocument/2006/relationships/slideMaster" Target="/ppt/slideMasters/slideMaster1.xml" Id="Ref5bb979a0494243" /><Relationship Type="http://schemas.openxmlformats.org/officeDocument/2006/relationships/notesMaster" Target="/ppt/notesMasters/notesMaster1.xml" Id="R644be680f11e49db" /><Relationship Type="http://schemas.openxmlformats.org/officeDocument/2006/relationships/presProps" Target="/ppt/presProps.xml" Id="R17f33f1001694e42" /><Relationship Type="http://schemas.openxmlformats.org/officeDocument/2006/relationships/tableStyles" Target="/ppt/tableStyles.xml" Id="R82171a6ed3e24788" /><Relationship Type="http://schemas.openxmlformats.org/officeDocument/2006/relationships/slide" Target="/ppt/slides/slide1.xml" Id="R6d1c1bb202704f5f" /><Relationship Type="http://schemas.openxmlformats.org/officeDocument/2006/relationships/slide" Target="/ppt/slides/slide2.xml" Id="R0d7e39b051114870" /><Relationship Type="http://schemas.openxmlformats.org/officeDocument/2006/relationships/slide" Target="/ppt/slides/slide3.xml" Id="Rb484e1689c324f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e68813d10f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d1bdb597704f1c" /><Relationship Type="http://schemas.openxmlformats.org/officeDocument/2006/relationships/notesMaster" Target="/ppt/notesMasters/notesMaster1.xml" Id="R39432b3936cf46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89bff2e1ce493c" /><Relationship Type="http://schemas.openxmlformats.org/officeDocument/2006/relationships/notesMaster" Target="/ppt/notesMasters/notesMaster1.xml" Id="Re88a5481f13841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0e905c845c4a2d" /><Relationship Type="http://schemas.openxmlformats.org/officeDocument/2006/relationships/notesMaster" Target="/ppt/notesMasters/notesMaster1.xml" Id="R761c3744ec7c4e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README.md:3-67 (서비스 목적, 전체 구조, 주요 모듈)</a:t>
            </a:r>
          </a:p>
          <a:p xmlns:a="http://schemas.openxmlformats.org/drawingml/2006/main">
            <a:r>
              <a:t>- semantic_layer.yaml: semantic_layer_metadata, canonical_domains, canonical_metrics (31 tables, 6 domains, 42 metrics)</a:t>
            </a:r>
          </a:p>
          <a:p xmlns:a="http://schemas.openxmlformats.org/drawingml/2006/main">
            <a:r>
              <a:t>- text2sql_agent/tools/sql_verified_queries.yaml (66 verified query definitions)</a:t>
            </a:r>
          </a:p>
          <a:p xmlns:a="http://schemas.openxmlformats.org/drawingml/2006/main">
            <a:r>
              <a:t>- V2_APPLIED.md:5-35 (v2 적용 범위와 안전 검증 보강)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README.md:15-38 (browser, FastAPI, agent, workflow, LLM, schema, tools, DB, export connections)</a:t>
            </a:r>
          </a:p>
          <a:p xmlns:a="http://schemas.openxmlformats.org/drawingml/2006/main">
            <a:r>
              <a:t>- web_service.py:95-103, 2734-2774, 3148-3168 (FastAPI, SSE endpoint, static UI serving)</a:t>
            </a:r>
          </a:p>
          <a:p xmlns:a="http://schemas.openxmlformats.org/drawingml/2006/main">
            <a:r>
              <a:t>- text2sql_agent/workflow.py:4715-4764 (LangGraph node and edge topology)</a:t>
            </a:r>
          </a:p>
          <a:p xmlns:a="http://schemas.openxmlformats.org/drawingml/2006/main">
            <a:r>
              <a:t>- text2sql_agent/llm.py:54-84 (LLM and embedding clients)</a:t>
            </a:r>
          </a:p>
          <a:p xmlns:a="http://schemas.openxmlformats.org/drawingml/2006/main">
            <a:r>
              <a:t>- text2sql_agent/db.py:284-309, 551-638 (read-only guard and Athena/PostgreSQL adapter)</a:t>
            </a:r>
          </a:p>
          <a:p xmlns:a="http://schemas.openxmlformats.org/drawingml/2006/main">
            <a:r>
              <a:t>- text2sql_agent/session_store.py:1088-1096 (PostgreSQL or in-memory session store)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text2sql_agent/workflow.py:375-433 (question classification)</a:t>
            </a:r>
          </a:p>
          <a:p xmlns:a="http://schemas.openxmlformats.org/drawingml/2006/main">
            <a:r>
              <a:t>- text2sql_agent/workflow.py:2250-2308, 2939-3079 (Tool/VQ/generated SQL routing and parameter continuation)</a:t>
            </a:r>
          </a:p>
          <a:p xmlns:a="http://schemas.openxmlformats.org/drawingml/2006/main">
            <a:r>
              <a:t>- text2sql_agent/workflow.py:4346-4475 (SQL validation and read-only query execution)</a:t>
            </a:r>
          </a:p>
          <a:p xmlns:a="http://schemas.openxmlformats.org/drawingml/2006/main">
            <a:r>
              <a:t>- text2sql_agent/workflow.py:4518-4589 (answer generation and deterministic fallback)</a:t>
            </a:r>
          </a:p>
          <a:p xmlns:a="http://schemas.openxmlformats.org/drawingml/2006/main">
            <a:r>
              <a:t>- web_service.py:2734-2774, 3086-3145 (SSE delivery and export/download endpoints)</a:t>
            </a:r>
          </a:p>
          <a:p xmlns:a="http://schemas.openxmlformats.org/drawingml/2006/main">
            <a:r>
              <a:t>- text2sql_agent/followup_ops.py:229-676 (local follow-up transforms and charts)</a:t>
            </a:r>
          </a:p>
          <a:p xmlns:a="http://schemas.openxmlformats.org/drawingml/2006/main">
            <a:r>
              <a:t>- text2sql_agent/exports.py:267-597 (Word, Excel, CSV and TXT export)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06573256e4b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cda48cda2840bf" /><Relationship Type="http://schemas.openxmlformats.org/officeDocument/2006/relationships/slideLayout" Target="/ppt/slideLayouts/slideLayout1.xml" Id="R8811b21fc80448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11b21fc80448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9c87046714085" /><Relationship Type="http://schemas.openxmlformats.org/officeDocument/2006/relationships/image" Target="/ppt/media/image.png" Id="Reaeb53f7ca3c47f3" /><Relationship Type="http://schemas.openxmlformats.org/officeDocument/2006/relationships/notesSlide" Target="/ppt/notesSlides/notesSlide1.xml" Id="Raeca315d4f06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6d90b5b844dd8" /><Relationship Type="http://schemas.openxmlformats.org/officeDocument/2006/relationships/notesSlide" Target="/ppt/notesSlides/notesSlide2.xml" Id="R1616f9677b0e46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6bb985ec14806" /><Relationship Type="http://schemas.openxmlformats.org/officeDocument/2006/relationships/notesSlide" Target="/ppt/notesSlides/notesSlide3.xml" Id="R13bf291926794f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b53f7ca3c47f3"/>
          <a:stretch xmlns:a="http://schemas.openxmlformats.org/drawingml/2006/main"/>
        </p:blipFill>
        <p:spPr>
          <a:xfrm xmlns:a="http://schemas.openxmlformats.org/drawingml/2006/main">
            <a:off x="10895135" y="342900"/>
            <a:ext cx="726831" cy="590550"/>
          </a:xfrm>
          <a:prstGeom xmlns:a="http://schemas.openxmlformats.org/drawingml/2006/main" prst="rect">
            <a:avLst/>
          </a:prstGeom>
        </p:spPr>
      </p:pic>
      <p:sp>
        <p:nvSpPr>
          <p:cNvPr id="2" name="slide-1-eyebrow">
            <a:extLst xmlns:a="http://schemas.openxmlformats.org/drawingml/2006/main">
              <a:ext uri="{FF2B5EF4-FFF2-40B4-BE49-F238E27FC236}">
                <a16:creationId xmlns:a16="http://schemas.microsoft.com/office/drawing/2014/main" id="{284AB2A7-1950-4074-B612-2C0FB5F1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CURRENT STATE · TEXT2SQL V4</a:t>
            </a:r>
          </a:p>
        </p:txBody>
      </p:sp>
      <p:sp>
        <p:nvSpPr>
          <p:cNvPr id="3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8F87B986-973A-488C-8E20-809A63E6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자연어 질문을 안전한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데이터 답변으로 연결합니다</a:t>
            </a:r>
          </a:p>
        </p:txBody>
      </p:sp>
      <p:sp>
        <p:nvSpPr>
          <p:cNvPr id="4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5A98B069-CBB5-4893-BB95-F0579CF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업무 담당자가 기간·대상·지표를 묻고, 시스템은 검증된 경로로 기존 업무 데이터를 읽기 전용 조회합니다.</a:t>
            </a:r>
          </a:p>
        </p:txBody>
      </p:sp>
      <p:sp>
        <p:nvSpPr>
          <p:cNvPr id="5" name="slide1-card-1-anchor">
            <a:extLst xmlns:a="http://schemas.openxmlformats.org/drawingml/2006/main">
              <a:ext uri="{FF2B5EF4-FFF2-40B4-BE49-F238E27FC236}">
                <a16:creationId xmlns:a16="http://schemas.microsoft.com/office/drawing/2014/main" id="{85E3024E-FB13-4ED1-8176-C9D9D4F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1-card-2-anchor">
            <a:extLst xmlns:a="http://schemas.openxmlformats.org/drawingml/2006/main">
              <a:ext uri="{FF2B5EF4-FFF2-40B4-BE49-F238E27FC236}">
                <a16:creationId xmlns:a16="http://schemas.microsoft.com/office/drawing/2014/main" id="{EA3D47F9-83FE-4CF6-9647-DD6A206B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slide1-card-3-anchor">
            <a:extLst xmlns:a="http://schemas.openxmlformats.org/drawingml/2006/main">
              <a:ext uri="{FF2B5EF4-FFF2-40B4-BE49-F238E27FC236}">
                <a16:creationId xmlns:a16="http://schemas.microsoft.com/office/drawing/2014/main" id="{02CEE3E4-6073-4598-BD56-85F6739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81450" y="37623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58125" y="37623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10" name="slide-1-card-1-box">
            <a:extLst xmlns:a="http://schemas.openxmlformats.org/drawingml/2006/main">
              <a:ext uri="{FF2B5EF4-FFF2-40B4-BE49-F238E27FC236}">
                <a16:creationId xmlns:a16="http://schemas.microsoft.com/office/drawing/2014/main" id="{5557F286-9EDE-42F3-BC6E-920E0DB0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slide-1-card-1-number">
            <a:extLst xmlns:a="http://schemas.openxmlformats.org/drawingml/2006/main">
              <a:ext uri="{FF2B5EF4-FFF2-40B4-BE49-F238E27FC236}">
                <a16:creationId xmlns:a16="http://schemas.microsoft.com/office/drawing/2014/main" id="{31446B5F-2E51-478B-8B66-59A32ED4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2" name="slide-1-card-1-title">
            <a:extLst xmlns:a="http://schemas.openxmlformats.org/drawingml/2006/main">
              <a:ext uri="{FF2B5EF4-FFF2-40B4-BE49-F238E27FC236}">
                <a16:creationId xmlns:a16="http://schemas.microsoft.com/office/drawing/2014/main" id="{95F95457-DD17-450C-8070-181FFAC5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 입력</a:t>
            </a:r>
          </a:p>
        </p:txBody>
      </p:sp>
      <p:sp>
        <p:nvSpPr>
          <p:cNvPr id="13" name="slide-1-card-1-body">
            <a:extLst xmlns:a="http://schemas.openxmlformats.org/drawingml/2006/main">
              <a:ext uri="{FF2B5EF4-FFF2-40B4-BE49-F238E27FC236}">
                <a16:creationId xmlns:a16="http://schemas.microsoft.com/office/drawing/2014/main" id="{E8198757-52AE-4690-92C2-5A855FE4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한국어로 기간·대상·지표를 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필요하면 추가 조건을 이어서 보완</a:t>
            </a:r>
          </a:p>
        </p:txBody>
      </p:sp>
      <p:sp>
        <p:nvSpPr>
          <p:cNvPr id="14" name="slide-1-card-2-box">
            <a:extLst xmlns:a="http://schemas.openxmlformats.org/drawingml/2006/main">
              <a:ext uri="{FF2B5EF4-FFF2-40B4-BE49-F238E27FC236}">
                <a16:creationId xmlns:a16="http://schemas.microsoft.com/office/drawing/2014/main" id="{0E80EE1A-692D-418F-853E-B615728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5" name="slide-1-card-2-number">
            <a:extLst xmlns:a="http://schemas.openxmlformats.org/drawingml/2006/main">
              <a:ext uri="{FF2B5EF4-FFF2-40B4-BE49-F238E27FC236}">
                <a16:creationId xmlns:a16="http://schemas.microsoft.com/office/drawing/2014/main" id="{51B9B711-0D73-4851-9F30-CEBCF28E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6" name="slide-1-card-2-title">
            <a:extLst xmlns:a="http://schemas.openxmlformats.org/drawingml/2006/main">
              <a:ext uri="{FF2B5EF4-FFF2-40B4-BE49-F238E27FC236}">
                <a16:creationId xmlns:a16="http://schemas.microsoft.com/office/drawing/2014/main" id="{B50ED534-6384-4909-A774-F1824F37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76575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 규칙 기반 처리</a:t>
            </a:r>
          </a:p>
        </p:txBody>
      </p:sp>
      <p:sp>
        <p:nvSpPr>
          <p:cNvPr id="17" name="slide-1-card-2-body">
            <a:extLst xmlns:a="http://schemas.openxmlformats.org/drawingml/2006/main">
              <a:ext uri="{FF2B5EF4-FFF2-40B4-BE49-F238E27FC236}">
                <a16:creationId xmlns:a16="http://schemas.microsoft.com/office/drawing/2014/main" id="{511359B9-E937-4298-A926-C89509F6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528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검증 쿼리·전용 Tool을 우선 적용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새 질문만 Semantic 기반 SQL 생성</a:t>
            </a:r>
          </a:p>
        </p:txBody>
      </p:sp>
      <p:sp>
        <p:nvSpPr>
          <p:cNvPr id="18" name="slide-1-card-3-box">
            <a:extLst xmlns:a="http://schemas.openxmlformats.org/drawingml/2006/main">
              <a:ext uri="{FF2B5EF4-FFF2-40B4-BE49-F238E27FC236}">
                <a16:creationId xmlns:a16="http://schemas.microsoft.com/office/drawing/2014/main" id="{3183BFD1-ECFE-4B46-9820-268418BB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9" name="slide-1-card-3-number">
            <a:extLst xmlns:a="http://schemas.openxmlformats.org/drawingml/2006/main">
              <a:ext uri="{FF2B5EF4-FFF2-40B4-BE49-F238E27FC236}">
                <a16:creationId xmlns:a16="http://schemas.microsoft.com/office/drawing/2014/main" id="{BEE1C98C-24F4-45B3-8EB1-72CF9B0D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0" name="slide-1-card-3-title">
            <a:extLst xmlns:a="http://schemas.openxmlformats.org/drawingml/2006/main">
              <a:ext uri="{FF2B5EF4-FFF2-40B4-BE49-F238E27FC236}">
                <a16:creationId xmlns:a16="http://schemas.microsoft.com/office/drawing/2014/main" id="{8B358E84-704C-410D-ADDD-92548BFE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76575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결과 활용</a:t>
            </a:r>
          </a:p>
        </p:txBody>
      </p:sp>
      <p:sp>
        <p:nvSpPr>
          <p:cNvPr id="21" name="slide-1-card-3-body">
            <a:extLst xmlns:a="http://schemas.openxmlformats.org/drawingml/2006/main">
              <a:ext uri="{FF2B5EF4-FFF2-40B4-BE49-F238E27FC236}">
                <a16:creationId xmlns:a16="http://schemas.microsoft.com/office/drawing/2014/main" id="{CCC358B4-1ACD-4996-95F9-7249FABA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528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요약·표·실행 SQL을 함께 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후속 분석·차트·파일로 재사용</a:t>
            </a:r>
          </a:p>
        </p:txBody>
      </p:sp>
      <p:sp>
        <p:nvSpPr>
          <p:cNvPr id="22" name="slide-1-key-message">
            <a:extLst xmlns:a="http://schemas.openxmlformats.org/drawingml/2006/main">
              <a:ext uri="{FF2B5EF4-FFF2-40B4-BE49-F238E27FC236}">
                <a16:creationId xmlns:a16="http://schemas.microsoft.com/office/drawing/2014/main" id="{33D573F6-5B83-444C-815A-AAC381A4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776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lide-1-key-message-text">
            <a:extLst xmlns:a="http://schemas.openxmlformats.org/drawingml/2006/main">
              <a:ext uri="{FF2B5EF4-FFF2-40B4-BE49-F238E27FC236}">
                <a16:creationId xmlns:a16="http://schemas.microsoft.com/office/drawing/2014/main" id="{59623BF8-E218-4262-AA4C-911FE4B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원칙  |  미리 정의된 업무지식과 검증된 조회 경로를 우선 사용하고, AI 생성 SQL도 안전 검증 후 실행합니다.</a:t>
            </a:r>
          </a:p>
        </p:txBody>
      </p:sp>
      <p:sp>
        <p:nvSpPr>
          <p:cNvPr id="24" name="slide-1-scope">
            <a:extLst xmlns:a="http://schemas.openxmlformats.org/drawingml/2006/main">
              <a:ext uri="{FF2B5EF4-FFF2-40B4-BE49-F238E27FC236}">
                <a16:creationId xmlns:a16="http://schemas.microsoft.com/office/drawing/2014/main" id="{EC9A4A9E-FE0D-4521-A945-0960C76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현재 지식 기반  ·  6개 업무영역  ·  31개 업무 테이블  ·  42개 표준지표  ·  66개 검증 쿼리</a:t>
            </a:r>
          </a:p>
        </p:txBody>
      </p:sp>
      <p:sp>
        <p:nvSpPr>
          <p:cNvPr id="25" name="slide-1-footer-label">
            <a:extLst xmlns:a="http://schemas.openxmlformats.org/drawingml/2006/main">
              <a:ext uri="{FF2B5EF4-FFF2-40B4-BE49-F238E27FC236}">
                <a16:creationId xmlns:a16="http://schemas.microsoft.com/office/drawing/2014/main" id="{67B4CDD1-1706-46DC-B06B-AA647962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As-Is</a:t>
            </a:r>
          </a:p>
        </p:txBody>
      </p:sp>
      <p:sp>
        <p:nvSpPr>
          <p:cNvPr id="26" name="slide-1-footer-number">
            <a:extLst xmlns:a="http://schemas.openxmlformats.org/drawingml/2006/main">
              <a:ext uri="{FF2B5EF4-FFF2-40B4-BE49-F238E27FC236}">
                <a16:creationId xmlns:a16="http://schemas.microsoft.com/office/drawing/2014/main" id="{D6FCE017-3355-4D92-9288-297C3B3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1102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3F5ED36-BAB0-4A79-9613-88A157CD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하나의 웹서비스가 업무지식·AI·DB를 연결합니다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3BB11E49-A220-4814-9F33-2096AD7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브라우저 UI와 API는 함께 배포되고, 업무 조회 데이터와 대화 이력은 역할이 분리되어 있습니다.</a:t>
            </a:r>
          </a:p>
        </p:txBody>
      </p:sp>
      <p:sp>
        <p:nvSpPr>
          <p:cNvPr id="3" name="slide-2-accent-line">
            <a:extLst xmlns:a="http://schemas.openxmlformats.org/drawingml/2006/main">
              <a:ext uri="{FF2B5EF4-FFF2-40B4-BE49-F238E27FC236}">
                <a16:creationId xmlns:a16="http://schemas.microsoft.com/office/drawing/2014/main" id="{CEA2D9CA-9734-460B-B89B-2495D84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2-deploy-label">
            <a:extLst xmlns:a="http://schemas.openxmlformats.org/drawingml/2006/main">
              <a:ext uri="{FF2B5EF4-FFF2-40B4-BE49-F238E27FC236}">
                <a16:creationId xmlns:a16="http://schemas.microsoft.com/office/drawing/2014/main" id="{4BB542A1-9C75-4EC7-952F-3EFA6B2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동일 Docker / Uvicorn 서비스</a:t>
            </a:r>
          </a:p>
        </p:txBody>
      </p:sp>
      <p:sp>
        <p:nvSpPr>
          <p:cNvPr id="5" name="rule-48-248">
            <a:extLst xmlns:a="http://schemas.openxmlformats.org/drawingml/2006/main">
              <a:ext uri="{FF2B5EF4-FFF2-40B4-BE49-F238E27FC236}">
                <a16:creationId xmlns:a16="http://schemas.microsoft.com/office/drawing/2014/main" id="{43B065F2-8F4E-47BA-8B45-E72B8A6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" name="slide2-browser-anchor">
            <a:extLst xmlns:a="http://schemas.openxmlformats.org/drawingml/2006/main">
              <a:ext uri="{FF2B5EF4-FFF2-40B4-BE49-F238E27FC236}">
                <a16:creationId xmlns:a16="http://schemas.microsoft.com/office/drawing/2014/main" id="{C8562527-9777-4758-BAB1-C3A7B3A1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714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slide2-api-anchor">
            <a:extLst xmlns:a="http://schemas.openxmlformats.org/drawingml/2006/main">
              <a:ext uri="{FF2B5EF4-FFF2-40B4-BE49-F238E27FC236}">
                <a16:creationId xmlns:a16="http://schemas.microsoft.com/office/drawing/2014/main" id="{F1AD71C3-9070-4E41-962B-826C1D36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714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slide2-agent-anchor">
            <a:extLst xmlns:a="http://schemas.openxmlformats.org/drawingml/2006/main">
              <a:ext uri="{FF2B5EF4-FFF2-40B4-BE49-F238E27FC236}">
                <a16:creationId xmlns:a16="http://schemas.microsoft.com/office/drawing/2014/main" id="{7A0E1827-308F-4258-9BF5-A2EC8609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190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slide2-db-anchor">
            <a:extLst xmlns:a="http://schemas.openxmlformats.org/drawingml/2006/main">
              <a:ext uri="{FF2B5EF4-FFF2-40B4-BE49-F238E27FC236}">
                <a16:creationId xmlns:a16="http://schemas.microsoft.com/office/drawing/2014/main" id="{FA3CBDB4-0661-411F-9277-01919CA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809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slide2-output-anchor">
            <a:extLst xmlns:a="http://schemas.openxmlformats.org/drawingml/2006/main">
              <a:ext uri="{FF2B5EF4-FFF2-40B4-BE49-F238E27FC236}">
                <a16:creationId xmlns:a16="http://schemas.microsoft.com/office/drawing/2014/main" id="{982EFB8B-0E11-4CA9-90CC-63443AE6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943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slide2-knowledge-anchor">
            <a:extLst xmlns:a="http://schemas.openxmlformats.org/drawingml/2006/main">
              <a:ext uri="{FF2B5EF4-FFF2-40B4-BE49-F238E27FC236}">
                <a16:creationId xmlns:a16="http://schemas.microsoft.com/office/drawing/2014/main" id="{FCA0344B-35C9-4353-B2B3-87D3D78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0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slide2-model-anchor">
            <a:extLst xmlns:a="http://schemas.openxmlformats.org/drawingml/2006/main">
              <a:ext uri="{FF2B5EF4-FFF2-40B4-BE49-F238E27FC236}">
                <a16:creationId xmlns:a16="http://schemas.microsoft.com/office/drawing/2014/main" id="{2F004928-4F97-415E-8F9B-4DFDF28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243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slide2-session-anchor">
            <a:extLst xmlns:a="http://schemas.openxmlformats.org/drawingml/2006/main">
              <a:ext uri="{FF2B5EF4-FFF2-40B4-BE49-F238E27FC236}">
                <a16:creationId xmlns:a16="http://schemas.microsoft.com/office/drawing/2014/main" id="{7A17D8DE-6D2A-40A4-A0BC-8CFA824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171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7170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62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29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15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1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934075" y="21526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2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5934075" y="4076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3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505200" y="39433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21" name="slide2-browser-box">
            <a:extLst xmlns:a="http://schemas.openxmlformats.org/drawingml/2006/main">
              <a:ext uri="{FF2B5EF4-FFF2-40B4-BE49-F238E27FC236}">
                <a16:creationId xmlns:a16="http://schemas.microsoft.com/office/drawing/2014/main" id="{0247218F-3AEE-4609-A128-F7EBDF2D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714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22" name="slide2-browser-label">
            <a:extLst xmlns:a="http://schemas.openxmlformats.org/drawingml/2006/main">
              <a:ext uri="{FF2B5EF4-FFF2-40B4-BE49-F238E27FC236}">
                <a16:creationId xmlns:a16="http://schemas.microsoft.com/office/drawing/2014/main" id="{53D3AB8C-8E11-4695-8767-8E9FD439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23" name="slide2-browser-title">
            <a:extLst xmlns:a="http://schemas.openxmlformats.org/drawingml/2006/main">
              <a:ext uri="{FF2B5EF4-FFF2-40B4-BE49-F238E27FC236}">
                <a16:creationId xmlns:a16="http://schemas.microsoft.com/office/drawing/2014/main" id="{322611E2-450A-42D9-9CF9-924F0836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브라우저 UI</a:t>
            </a:r>
          </a:p>
        </p:txBody>
      </p:sp>
      <p:sp>
        <p:nvSpPr>
          <p:cNvPr id="24" name="slide2-browser-body">
            <a:extLst xmlns:a="http://schemas.openxmlformats.org/drawingml/2006/main">
              <a:ext uri="{FF2B5EF4-FFF2-40B4-BE49-F238E27FC236}">
                <a16:creationId xmlns:a16="http://schemas.microsoft.com/office/drawing/2014/main" id="{B44C943F-E19D-4714-80F5-3EBB1FA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질문·추가조건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후속 분석 요청</a:t>
            </a:r>
          </a:p>
        </p:txBody>
      </p:sp>
      <p:sp>
        <p:nvSpPr>
          <p:cNvPr id="25" name="slide2-api-box">
            <a:extLst xmlns:a="http://schemas.openxmlformats.org/drawingml/2006/main">
              <a:ext uri="{FF2B5EF4-FFF2-40B4-BE49-F238E27FC236}">
                <a16:creationId xmlns:a16="http://schemas.microsoft.com/office/drawing/2014/main" id="{58D15EAA-1D95-49F9-BE84-2A432296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714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26" name="slide2-api-label">
            <a:extLst xmlns:a="http://schemas.openxmlformats.org/drawingml/2006/main">
              <a:ext uri="{FF2B5EF4-FFF2-40B4-BE49-F238E27FC236}">
                <a16:creationId xmlns:a16="http://schemas.microsoft.com/office/drawing/2014/main" id="{180E09F9-8E17-4601-94FE-56EEB9B6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0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WEB / API</a:t>
            </a:r>
          </a:p>
        </p:txBody>
      </p:sp>
      <p:sp>
        <p:nvSpPr>
          <p:cNvPr id="27" name="slide2-api-title">
            <a:extLst xmlns:a="http://schemas.openxmlformats.org/drawingml/2006/main">
              <a:ext uri="{FF2B5EF4-FFF2-40B4-BE49-F238E27FC236}">
                <a16:creationId xmlns:a16="http://schemas.microsoft.com/office/drawing/2014/main" id="{1F3D7EDB-37F5-4C3A-B1F8-DC88E1EA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28" name="slide2-api-body">
            <a:extLst xmlns:a="http://schemas.openxmlformats.org/drawingml/2006/main">
              <a:ext uri="{FF2B5EF4-FFF2-40B4-BE49-F238E27FC236}">
                <a16:creationId xmlns:a16="http://schemas.microsoft.com/office/drawing/2014/main" id="{680D63DC-5B73-4109-85CC-785B6E01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세션·진행상태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SSE·파일 다운로드</a:t>
            </a:r>
          </a:p>
        </p:txBody>
      </p:sp>
      <p:sp>
        <p:nvSpPr>
          <p:cNvPr id="29" name="slide2-agent-box">
            <a:extLst xmlns:a="http://schemas.openxmlformats.org/drawingml/2006/main">
              <a:ext uri="{FF2B5EF4-FFF2-40B4-BE49-F238E27FC236}">
                <a16:creationId xmlns:a16="http://schemas.microsoft.com/office/drawing/2014/main" id="{96109EA4-5233-4CDD-B507-29CE0696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8575">
            <a:solidFill>
              <a:srgbClr val="FFCC00"/>
            </a:solidFill>
            <a:prstDash val="solid"/>
          </a:ln>
        </p:spPr>
      </p:sp>
      <p:sp>
        <p:nvSpPr>
          <p:cNvPr id="30" name="slide2-agent-label">
            <a:extLst xmlns:a="http://schemas.openxmlformats.org/drawingml/2006/main">
              <a:ext uri="{FF2B5EF4-FFF2-40B4-BE49-F238E27FC236}">
                <a16:creationId xmlns:a16="http://schemas.microsoft.com/office/drawing/2014/main" id="{EDD1FAFB-BD1B-4884-9719-4E49B76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ORCHESTRATOR</a:t>
            </a:r>
          </a:p>
        </p:txBody>
      </p:sp>
      <p:sp>
        <p:nvSpPr>
          <p:cNvPr id="31" name="slide2-agent-title">
            <a:extLst xmlns:a="http://schemas.openxmlformats.org/drawingml/2006/main">
              <a:ext uri="{FF2B5EF4-FFF2-40B4-BE49-F238E27FC236}">
                <a16:creationId xmlns:a16="http://schemas.microsoft.com/office/drawing/2014/main" id="{AE910CD8-1446-4ED5-83B0-37594E6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Text2SQL Agent</a:t>
            </a:r>
          </a:p>
        </p:txBody>
      </p:sp>
      <p:sp>
        <p:nvSpPr>
          <p:cNvPr id="32" name="slide2-agent-body">
            <a:extLst xmlns:a="http://schemas.openxmlformats.org/drawingml/2006/main">
              <a:ext uri="{FF2B5EF4-FFF2-40B4-BE49-F238E27FC236}">
                <a16:creationId xmlns:a16="http://schemas.microsoft.com/office/drawing/2014/main" id="{DBD561FD-5038-4609-A4BC-FF328112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질문 분류·도메인 선택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Tool / 검증 SQL / 생성 SQL</a:t>
            </a:r>
          </a:p>
        </p:txBody>
      </p:sp>
      <p:sp>
        <p:nvSpPr>
          <p:cNvPr id="33" name="slide2-db-box">
            <a:extLst xmlns:a="http://schemas.openxmlformats.org/drawingml/2006/main">
              <a:ext uri="{FF2B5EF4-FFF2-40B4-BE49-F238E27FC236}">
                <a16:creationId xmlns:a16="http://schemas.microsoft.com/office/drawing/2014/main" id="{5D012F7B-85DB-4E4E-AE4E-FFD72CCC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809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34" name="slide2-db-label">
            <a:extLst xmlns:a="http://schemas.openxmlformats.org/drawingml/2006/main">
              <a:ext uri="{FF2B5EF4-FFF2-40B4-BE49-F238E27FC236}">
                <a16:creationId xmlns:a16="http://schemas.microsoft.com/office/drawing/2014/main" id="{00BF1C59-126E-4B56-9F9A-C4653C6D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READ ONLY</a:t>
            </a:r>
          </a:p>
        </p:txBody>
      </p:sp>
      <p:sp>
        <p:nvSpPr>
          <p:cNvPr id="35" name="slide2-db-title">
            <a:extLst xmlns:a="http://schemas.openxmlformats.org/drawingml/2006/main">
              <a:ext uri="{FF2B5EF4-FFF2-40B4-BE49-F238E27FC236}">
                <a16:creationId xmlns:a16="http://schemas.microsoft.com/office/drawing/2014/main" id="{1F5EBFC5-676E-47B7-A258-E05C781F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 데이터</a:t>
            </a:r>
          </a:p>
        </p:txBody>
      </p:sp>
      <p:sp>
        <p:nvSpPr>
          <p:cNvPr id="36" name="slide2-db-body">
            <a:extLst xmlns:a="http://schemas.openxmlformats.org/drawingml/2006/main">
              <a:ext uri="{FF2B5EF4-FFF2-40B4-BE49-F238E27FC236}">
                <a16:creationId xmlns:a16="http://schemas.microsoft.com/office/drawing/2014/main" id="{2FBDD166-B4BC-4B26-9268-8EC7F52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766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Athena 또는 PostgreSQL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SELECT · WITH만 허용</a:t>
            </a:r>
          </a:p>
        </p:txBody>
      </p:sp>
      <p:sp>
        <p:nvSpPr>
          <p:cNvPr id="37" name="slide2-output-box">
            <a:extLst xmlns:a="http://schemas.openxmlformats.org/drawingml/2006/main">
              <a:ext uri="{FF2B5EF4-FFF2-40B4-BE49-F238E27FC236}">
                <a16:creationId xmlns:a16="http://schemas.microsoft.com/office/drawing/2014/main" id="{B8931529-8C16-4339-A00C-C459E72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943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38" name="slide2-output-label">
            <a:extLst xmlns:a="http://schemas.openxmlformats.org/drawingml/2006/main">
              <a:ext uri="{FF2B5EF4-FFF2-40B4-BE49-F238E27FC236}">
                <a16:creationId xmlns:a16="http://schemas.microsoft.com/office/drawing/2014/main" id="{ACD84465-93AE-4621-BB49-B135203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39" name="slide2-output-title">
            <a:extLst xmlns:a="http://schemas.openxmlformats.org/drawingml/2006/main">
              <a:ext uri="{FF2B5EF4-FFF2-40B4-BE49-F238E27FC236}">
                <a16:creationId xmlns:a16="http://schemas.microsoft.com/office/drawing/2014/main" id="{BA3942CA-5F26-4AA9-9576-9FB7AEDF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결과 화면</a:t>
            </a:r>
          </a:p>
        </p:txBody>
      </p:sp>
      <p:sp>
        <p:nvSpPr>
          <p:cNvPr id="40" name="slide2-output-body">
            <a:extLst xmlns:a="http://schemas.openxmlformats.org/drawingml/2006/main">
              <a:ext uri="{FF2B5EF4-FFF2-40B4-BE49-F238E27FC236}">
                <a16:creationId xmlns:a16="http://schemas.microsoft.com/office/drawing/2014/main" id="{8B2E51B0-1BE8-4997-BF80-49350C19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766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요약·표·실행 SQL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차트·후속 질문</a:t>
            </a:r>
          </a:p>
        </p:txBody>
      </p:sp>
      <p:sp>
        <p:nvSpPr>
          <p:cNvPr id="41" name="slide2-knowledge-box">
            <a:extLst xmlns:a="http://schemas.openxmlformats.org/drawingml/2006/main">
              <a:ext uri="{FF2B5EF4-FFF2-40B4-BE49-F238E27FC236}">
                <a16:creationId xmlns:a16="http://schemas.microsoft.com/office/drawing/2014/main" id="{165A11EE-68A0-4C97-8D39-B6EFCEA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0200"/>
            <a:ext cx="2190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lide2-knowledge-text">
            <a:extLst xmlns:a="http://schemas.openxmlformats.org/drawingml/2006/main">
              <a:ext uri="{FF2B5EF4-FFF2-40B4-BE49-F238E27FC236}">
                <a16:creationId xmlns:a16="http://schemas.microsoft.com/office/drawing/2014/main" id="{8B3187CE-F73A-4320-B580-FEE9ECD8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335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업무지식  |  Semantic Layer · 검증 쿼리 · 전용 Tool</a:t>
            </a:r>
          </a:p>
        </p:txBody>
      </p:sp>
      <p:sp>
        <p:nvSpPr>
          <p:cNvPr id="43" name="slide2-model-box">
            <a:extLst xmlns:a="http://schemas.openxmlformats.org/drawingml/2006/main">
              <a:ext uri="{FF2B5EF4-FFF2-40B4-BE49-F238E27FC236}">
                <a16:creationId xmlns:a16="http://schemas.microsoft.com/office/drawing/2014/main" id="{D12DFEB4-8868-428D-9BC6-390E4DAF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2435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44" name="slide2-model-label">
            <a:extLst xmlns:a="http://schemas.openxmlformats.org/drawingml/2006/main">
              <a:ext uri="{FF2B5EF4-FFF2-40B4-BE49-F238E27FC236}">
                <a16:creationId xmlns:a16="http://schemas.microsoft.com/office/drawing/2014/main" id="{88CC2E52-91AA-4D12-AA9B-8633A7A4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SUPPORT</a:t>
            </a:r>
          </a:p>
        </p:txBody>
      </p:sp>
      <p:sp>
        <p:nvSpPr>
          <p:cNvPr id="45" name="slide2-model-title">
            <a:extLst xmlns:a="http://schemas.openxmlformats.org/drawingml/2006/main">
              <a:ext uri="{FF2B5EF4-FFF2-40B4-BE49-F238E27FC236}">
                <a16:creationId xmlns:a16="http://schemas.microsoft.com/office/drawing/2014/main" id="{81AA2431-64E9-4853-BFFF-B1AF1C2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사내 AI 모델</a:t>
            </a:r>
          </a:p>
        </p:txBody>
      </p:sp>
      <p:sp>
        <p:nvSpPr>
          <p:cNvPr id="46" name="slide2-model-body">
            <a:extLst xmlns:a="http://schemas.openxmlformats.org/drawingml/2006/main">
              <a:ext uri="{FF2B5EF4-FFF2-40B4-BE49-F238E27FC236}">
                <a16:creationId xmlns:a16="http://schemas.microsoft.com/office/drawing/2014/main" id="{D621053E-15EE-436B-A19A-C87EE3BC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4347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LLM: 판단·SQL·요약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Embedding: 후보 탐색</a:t>
            </a:r>
          </a:p>
        </p:txBody>
      </p:sp>
      <p:sp>
        <p:nvSpPr>
          <p:cNvPr id="47" name="slide2-session-box">
            <a:extLst xmlns:a="http://schemas.openxmlformats.org/drawingml/2006/main">
              <a:ext uri="{FF2B5EF4-FFF2-40B4-BE49-F238E27FC236}">
                <a16:creationId xmlns:a16="http://schemas.microsoft.com/office/drawing/2014/main" id="{FA467D2E-7A20-4EA6-A594-D82EAE8A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48" name="slide2-session-label">
            <a:extLst xmlns:a="http://schemas.openxmlformats.org/drawingml/2006/main">
              <a:ext uri="{FF2B5EF4-FFF2-40B4-BE49-F238E27FC236}">
                <a16:creationId xmlns:a16="http://schemas.microsoft.com/office/drawing/2014/main" id="{6C315556-F6C0-419A-B5C6-8A70E67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1960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49" name="slide2-session-title">
            <a:extLst xmlns:a="http://schemas.openxmlformats.org/drawingml/2006/main">
              <a:ext uri="{FF2B5EF4-FFF2-40B4-BE49-F238E27FC236}">
                <a16:creationId xmlns:a16="http://schemas.microsoft.com/office/drawing/2014/main" id="{F993E860-4C78-4FB4-B044-D8354296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세션 저장소</a:t>
            </a:r>
          </a:p>
        </p:txBody>
      </p:sp>
      <p:sp>
        <p:nvSpPr>
          <p:cNvPr id="50" name="slide2-session-body">
            <a:extLst xmlns:a="http://schemas.openxmlformats.org/drawingml/2006/main">
              <a:ext uri="{FF2B5EF4-FFF2-40B4-BE49-F238E27FC236}">
                <a16:creationId xmlns:a16="http://schemas.microsoft.com/office/drawing/2014/main" id="{58AC5396-BAF5-4B77-9C7C-0023D71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43475"/>
            <a:ext cx="1409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대화·결과·파일 token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PostgreSQL / Memory</a:t>
            </a:r>
          </a:p>
        </p:txBody>
      </p:sp>
      <p:sp>
        <p:nvSpPr>
          <p:cNvPr id="51" name="slide-2-legend-main">
            <a:extLst xmlns:a="http://schemas.openxmlformats.org/drawingml/2006/main">
              <a:ext uri="{FF2B5EF4-FFF2-40B4-BE49-F238E27FC236}">
                <a16:creationId xmlns:a16="http://schemas.microsoft.com/office/drawing/2014/main" id="{57EBC367-1F19-4305-978B-B338C445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9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●  질문 → 조회 → 결과의 주 흐름</a:t>
            </a:r>
          </a:p>
        </p:txBody>
      </p:sp>
      <p:sp>
        <p:nvSpPr>
          <p:cNvPr id="52" name="slide-2-legend-support">
            <a:extLst xmlns:a="http://schemas.openxmlformats.org/drawingml/2006/main">
              <a:ext uri="{FF2B5EF4-FFF2-40B4-BE49-F238E27FC236}">
                <a16:creationId xmlns:a16="http://schemas.microsoft.com/office/drawing/2014/main" id="{9EA8B0EE-2DF1-4305-96F1-21FFD7D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05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—  업무지식·모델·세션의 보조 연결</a:t>
            </a:r>
          </a:p>
        </p:txBody>
      </p:sp>
      <p:sp>
        <p:nvSpPr>
          <p:cNvPr id="53" name="slide-2-note">
            <a:extLst xmlns:a="http://schemas.openxmlformats.org/drawingml/2006/main">
              <a:ext uri="{FF2B5EF4-FFF2-40B4-BE49-F238E27FC236}">
                <a16:creationId xmlns:a16="http://schemas.microsoft.com/office/drawing/2014/main" id="{C636BD94-F058-4C80-8301-5011311D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 DB는 조회 전용  /  세션 DB는 대화·결과 보관용  /  Redis는 선택적 캐시</a:t>
            </a:r>
          </a:p>
        </p:txBody>
      </p:sp>
      <p:sp>
        <p:nvSpPr>
          <p:cNvPr id="54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8AD196EB-7F89-4AB6-B1EE-08B532BE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As-Is</a:t>
            </a:r>
          </a:p>
        </p:txBody>
      </p:sp>
      <p:sp>
        <p:nvSpPr>
          <p:cNvPr id="55" name="slide-2-footer-number">
            <a:extLst xmlns:a="http://schemas.openxmlformats.org/drawingml/2006/main">
              <a:ext uri="{FF2B5EF4-FFF2-40B4-BE49-F238E27FC236}">
                <a16:creationId xmlns:a16="http://schemas.microsoft.com/office/drawing/2014/main" id="{9E3085E1-8EA3-4571-926F-249A23C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49902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EB609BB-43B4-4288-8C2A-2B72584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질문은 7단계를 거쳐 답변이 됩니다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0B0FB8BD-2CB2-49F4-9820-5A67DBC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표준 업무는 검증된 경로를 우선 사용하고, 새로운 질문만 AI 생성 SQL 경로로 보냅니다.</a:t>
            </a:r>
          </a:p>
        </p:txBody>
      </p:sp>
      <p:sp>
        <p:nvSpPr>
          <p:cNvPr id="3" name="slide-3-accent-line">
            <a:extLst xmlns:a="http://schemas.openxmlformats.org/drawingml/2006/main">
              <a:ext uri="{FF2B5EF4-FFF2-40B4-BE49-F238E27FC236}">
                <a16:creationId xmlns:a16="http://schemas.microsoft.com/office/drawing/2014/main" id="{4A1E001B-B752-44A9-AA03-72C82D1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3-input-anchor">
            <a:extLst xmlns:a="http://schemas.openxmlformats.org/drawingml/2006/main">
              <a:ext uri="{FF2B5EF4-FFF2-40B4-BE49-F238E27FC236}">
                <a16:creationId xmlns:a16="http://schemas.microsoft.com/office/drawing/2014/main" id="{3C1EF3D8-F43B-41A4-8AAA-4B9CB43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process-anchor">
            <a:extLst xmlns:a="http://schemas.openxmlformats.org/drawingml/2006/main">
              <a:ext uri="{FF2B5EF4-FFF2-40B4-BE49-F238E27FC236}">
                <a16:creationId xmlns:a16="http://schemas.microsoft.com/office/drawing/2014/main" id="{73A15B7B-8D67-4ABF-8D5C-B49E8D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3-output-anchor">
            <a:extLst xmlns:a="http://schemas.openxmlformats.org/drawingml/2006/main">
              <a:ext uri="{FF2B5EF4-FFF2-40B4-BE49-F238E27FC236}">
                <a16:creationId xmlns:a16="http://schemas.microsoft.com/office/drawing/2014/main" id="{C23B42C3-02A9-4DBA-81D5-5E8D079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90950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9" name="slide3-input-card">
            <a:extLst xmlns:a="http://schemas.openxmlformats.org/drawingml/2006/main">
              <a:ext uri="{FF2B5EF4-FFF2-40B4-BE49-F238E27FC236}">
                <a16:creationId xmlns:a16="http://schemas.microsoft.com/office/drawing/2014/main" id="{094FA9D4-5B2B-4F19-B25C-6BBD0A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0" name="slide3-input-phase">
            <a:extLst xmlns:a="http://schemas.openxmlformats.org/drawingml/2006/main">
              <a:ext uri="{FF2B5EF4-FFF2-40B4-BE49-F238E27FC236}">
                <a16:creationId xmlns:a16="http://schemas.microsoft.com/office/drawing/2014/main" id="{41DB3549-60FB-4C92-AE28-9D356A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1" name="slide3-input-title">
            <a:extLst xmlns:a="http://schemas.openxmlformats.org/drawingml/2006/main">
              <a:ext uri="{FF2B5EF4-FFF2-40B4-BE49-F238E27FC236}">
                <a16:creationId xmlns:a16="http://schemas.microsoft.com/office/drawing/2014/main" id="{12ABA827-F46B-495B-A45C-A2A56D1C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 이해</a:t>
            </a:r>
          </a:p>
        </p:txBody>
      </p:sp>
      <p:sp>
        <p:nvSpPr>
          <p:cNvPr id="12" name="slide3-input-step-1">
            <a:extLst xmlns:a="http://schemas.openxmlformats.org/drawingml/2006/main">
              <a:ext uri="{FF2B5EF4-FFF2-40B4-BE49-F238E27FC236}">
                <a16:creationId xmlns:a16="http://schemas.microsoft.com/office/drawing/2014/main" id="{7B8B8B1D-2729-4F44-B1B1-2513FEEE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slide3-input-step-1-text">
            <a:extLst xmlns:a="http://schemas.openxmlformats.org/drawingml/2006/main">
              <a:ext uri="{FF2B5EF4-FFF2-40B4-BE49-F238E27FC236}">
                <a16:creationId xmlns:a16="http://schemas.microsoft.com/office/drawing/2014/main" id="{5B4A4989-E857-45A5-8229-5701CE1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자연어 질문과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기간·대상·지표 접수</a:t>
            </a:r>
          </a:p>
        </p:txBody>
      </p:sp>
      <p:sp>
        <p:nvSpPr>
          <p:cNvPr id="14" name="slide3-input-step-2">
            <a:extLst xmlns:a="http://schemas.openxmlformats.org/drawingml/2006/main">
              <a:ext uri="{FF2B5EF4-FFF2-40B4-BE49-F238E27FC236}">
                <a16:creationId xmlns:a16="http://schemas.microsoft.com/office/drawing/2014/main" id="{2FA7A401-6DEE-4CCE-9215-0AFF11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slide3-input-step-2-text">
            <a:extLst xmlns:a="http://schemas.openxmlformats.org/drawingml/2006/main">
              <a:ext uri="{FF2B5EF4-FFF2-40B4-BE49-F238E27FC236}">
                <a16:creationId xmlns:a16="http://schemas.microsoft.com/office/drawing/2014/main" id="{1861444A-B36E-422F-9FBE-CB82F0A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 유형과 6개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업무영역 중 하나 선택</a:t>
            </a:r>
          </a:p>
        </p:txBody>
      </p:sp>
      <p:sp>
        <p:nvSpPr>
          <p:cNvPr id="16" name="slide3-input-step-↺">
            <a:extLst xmlns:a="http://schemas.openxmlformats.org/drawingml/2006/main">
              <a:ext uri="{FF2B5EF4-FFF2-40B4-BE49-F238E27FC236}">
                <a16:creationId xmlns:a16="http://schemas.microsoft.com/office/drawing/2014/main" id="{25FEAF9E-1B4D-4ABA-8721-ECFFD83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↺</a:t>
            </a:r>
          </a:p>
        </p:txBody>
      </p:sp>
      <p:sp>
        <p:nvSpPr>
          <p:cNvPr id="17" name="slide3-input-step-↺-text">
            <a:extLst xmlns:a="http://schemas.openxmlformats.org/drawingml/2006/main">
              <a:ext uri="{FF2B5EF4-FFF2-40B4-BE49-F238E27FC236}">
                <a16:creationId xmlns:a16="http://schemas.microsoft.com/office/drawing/2014/main" id="{F0A53498-9297-473A-B22F-D77F4DE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조건이 부족하면 추측하지 않고 추가 입력 요청</a:t>
            </a:r>
          </a:p>
        </p:txBody>
      </p:sp>
      <p:sp>
        <p:nvSpPr>
          <p:cNvPr id="18" name="slide3-process-card">
            <a:extLst xmlns:a="http://schemas.openxmlformats.org/drawingml/2006/main">
              <a:ext uri="{FF2B5EF4-FFF2-40B4-BE49-F238E27FC236}">
                <a16:creationId xmlns:a16="http://schemas.microsoft.com/office/drawing/2014/main" id="{E716831A-6EA6-4D96-A66B-00A736A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9" name="slide3-process-phase">
            <a:extLst xmlns:a="http://schemas.openxmlformats.org/drawingml/2006/main">
              <a:ext uri="{FF2B5EF4-FFF2-40B4-BE49-F238E27FC236}">
                <a16:creationId xmlns:a16="http://schemas.microsoft.com/office/drawing/2014/main" id="{A4497480-B700-4771-9986-187CD60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PROCESS</a:t>
            </a:r>
          </a:p>
        </p:txBody>
      </p:sp>
      <p:sp>
        <p:nvSpPr>
          <p:cNvPr id="20" name="slide3-process-title">
            <a:extLst xmlns:a="http://schemas.openxmlformats.org/drawingml/2006/main">
              <a:ext uri="{FF2B5EF4-FFF2-40B4-BE49-F238E27FC236}">
                <a16:creationId xmlns:a16="http://schemas.microsoft.com/office/drawing/2014/main" id="{3DE78CDF-9503-48B3-A212-D224436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안전한 조회</a:t>
            </a:r>
          </a:p>
        </p:txBody>
      </p:sp>
      <p:sp>
        <p:nvSpPr>
          <p:cNvPr id="21" name="slide3-process-step-3">
            <a:extLst xmlns:a="http://schemas.openxmlformats.org/drawingml/2006/main">
              <a:ext uri="{FF2B5EF4-FFF2-40B4-BE49-F238E27FC236}">
                <a16:creationId xmlns:a16="http://schemas.microsoft.com/office/drawing/2014/main" id="{18E473D2-AB9F-485E-BC5A-11BC07E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slide3-process-step-3-text">
            <a:extLst xmlns:a="http://schemas.openxmlformats.org/drawingml/2006/main">
              <a:ext uri="{FF2B5EF4-FFF2-40B4-BE49-F238E27FC236}">
                <a16:creationId xmlns:a16="http://schemas.microsoft.com/office/drawing/2014/main" id="{A89BE53E-60EA-4A8B-A049-4B85DA4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실행 경로 선택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검증 SQL · Tool · AI 생성</a:t>
            </a:r>
          </a:p>
        </p:txBody>
      </p:sp>
      <p:sp>
        <p:nvSpPr>
          <p:cNvPr id="23" name="slide3-process-step-4">
            <a:extLst xmlns:a="http://schemas.openxmlformats.org/drawingml/2006/main">
              <a:ext uri="{FF2B5EF4-FFF2-40B4-BE49-F238E27FC236}">
                <a16:creationId xmlns:a16="http://schemas.microsoft.com/office/drawing/2014/main" id="{14585AB2-1CD3-4935-B6BB-F434F99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slide3-process-step-4-text">
            <a:extLst xmlns:a="http://schemas.openxmlformats.org/drawingml/2006/main">
              <a:ext uri="{FF2B5EF4-FFF2-40B4-BE49-F238E27FC236}">
                <a16:creationId xmlns:a16="http://schemas.microsoft.com/office/drawing/2014/main" id="{B5185599-3FC9-40FF-BDD2-DD0196E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Semantic Layer로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테이블·지표·조인 적용</a:t>
            </a:r>
          </a:p>
        </p:txBody>
      </p:sp>
      <p:sp>
        <p:nvSpPr>
          <p:cNvPr id="25" name="slide3-process-step-5">
            <a:extLst xmlns:a="http://schemas.openxmlformats.org/drawingml/2006/main">
              <a:ext uri="{FF2B5EF4-FFF2-40B4-BE49-F238E27FC236}">
                <a16:creationId xmlns:a16="http://schemas.microsoft.com/office/drawing/2014/main" id="{F1F4881E-FC1E-4B70-8CB4-2B6F03B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6" name="slide3-process-step-5-text">
            <a:extLst xmlns:a="http://schemas.openxmlformats.org/drawingml/2006/main">
              <a:ext uri="{FF2B5EF4-FFF2-40B4-BE49-F238E27FC236}">
                <a16:creationId xmlns:a16="http://schemas.microsoft.com/office/drawing/2014/main" id="{D7DE0E4F-978C-4D7E-946F-56F0A35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24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SQL 검증 후 Athena 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PostgreSQL 읽기 전용 조회</a:t>
            </a:r>
          </a:p>
        </p:txBody>
      </p:sp>
      <p:sp>
        <p:nvSpPr>
          <p:cNvPr id="27" name="slide3-output-card">
            <a:extLst xmlns:a="http://schemas.openxmlformats.org/drawingml/2006/main">
              <a:ext uri="{FF2B5EF4-FFF2-40B4-BE49-F238E27FC236}">
                <a16:creationId xmlns:a16="http://schemas.microsoft.com/office/drawing/2014/main" id="{5B4D1657-8B21-416E-AD5B-6E59B7B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8" name="slide3-output-phase">
            <a:extLst xmlns:a="http://schemas.openxmlformats.org/drawingml/2006/main">
              <a:ext uri="{FF2B5EF4-FFF2-40B4-BE49-F238E27FC236}">
                <a16:creationId xmlns:a16="http://schemas.microsoft.com/office/drawing/2014/main" id="{457EF408-1247-469C-9122-14DE4E4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29" name="slide3-output-title">
            <a:extLst xmlns:a="http://schemas.openxmlformats.org/drawingml/2006/main">
              <a:ext uri="{FF2B5EF4-FFF2-40B4-BE49-F238E27FC236}">
                <a16:creationId xmlns:a16="http://schemas.microsoft.com/office/drawing/2014/main" id="{4A4E888D-DA5C-496A-B47A-68FCA3B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결과 활용</a:t>
            </a:r>
          </a:p>
        </p:txBody>
      </p:sp>
      <p:sp>
        <p:nvSpPr>
          <p:cNvPr id="30" name="slide3-output-step-6">
            <a:extLst xmlns:a="http://schemas.openxmlformats.org/drawingml/2006/main">
              <a:ext uri="{FF2B5EF4-FFF2-40B4-BE49-F238E27FC236}">
                <a16:creationId xmlns:a16="http://schemas.microsoft.com/office/drawing/2014/main" id="{734CF0F0-F0AF-408D-9B45-A715F55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1" name="slide3-output-step-6-text">
            <a:extLst xmlns:a="http://schemas.openxmlformats.org/drawingml/2006/main">
              <a:ext uri="{FF2B5EF4-FFF2-40B4-BE49-F238E27FC236}">
                <a16:creationId xmlns:a16="http://schemas.microsoft.com/office/drawing/2014/main" id="{2287FE6F-7AB2-4909-AF20-2F0C5DF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한국어 요약·결과 저장·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SSE 스트리밍 전달</a:t>
            </a:r>
          </a:p>
        </p:txBody>
      </p:sp>
      <p:sp>
        <p:nvSpPr>
          <p:cNvPr id="32" name="slide3-output-step-7">
            <a:extLst xmlns:a="http://schemas.openxmlformats.org/drawingml/2006/main">
              <a:ext uri="{FF2B5EF4-FFF2-40B4-BE49-F238E27FC236}">
                <a16:creationId xmlns:a16="http://schemas.microsoft.com/office/drawing/2014/main" id="{321F103E-B0E9-4112-B5A6-560EFAA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3" name="slide3-output-step-7-text">
            <a:extLst xmlns:a="http://schemas.openxmlformats.org/drawingml/2006/main">
              <a:ext uri="{FF2B5EF4-FFF2-40B4-BE49-F238E27FC236}">
                <a16:creationId xmlns:a16="http://schemas.microsoft.com/office/drawing/2014/main" id="{644D8262-E531-4FC5-8419-72146F7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표·실행 SQL·차트·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후속 분석·파일 다운로드</a:t>
            </a:r>
          </a:p>
        </p:txBody>
      </p:sp>
      <p:sp>
        <p:nvSpPr>
          <p:cNvPr id="34" name="slide3-output-step-+">
            <a:extLst xmlns:a="http://schemas.openxmlformats.org/drawingml/2006/main">
              <a:ext uri="{FF2B5EF4-FFF2-40B4-BE49-F238E27FC236}">
                <a16:creationId xmlns:a16="http://schemas.microsoft.com/office/drawing/2014/main" id="{E29505B2-2C10-4286-9810-48873B0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35" name="slide3-output-step-+-text">
            <a:extLst xmlns:a="http://schemas.openxmlformats.org/drawingml/2006/main">
              <a:ext uri="{FF2B5EF4-FFF2-40B4-BE49-F238E27FC236}">
                <a16:creationId xmlns:a16="http://schemas.microsoft.com/office/drawing/2014/main" id="{73891046-EF57-466A-985B-0ACDD19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정렬·필터·차트는 기존 결과를 먼저 재사용</a:t>
            </a:r>
          </a:p>
        </p:txBody>
      </p:sp>
      <p:sp>
        <p:nvSpPr>
          <p:cNvPr id="36" name="slide-3-bottom-band">
            <a:extLst xmlns:a="http://schemas.openxmlformats.org/drawingml/2006/main">
              <a:ext uri="{FF2B5EF4-FFF2-40B4-BE49-F238E27FC236}">
                <a16:creationId xmlns:a16="http://schemas.microsoft.com/office/drawing/2014/main" id="{62D7A03F-A773-4893-B87D-3B50586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lide-3-bottom-band-text">
            <a:extLst xmlns:a="http://schemas.openxmlformats.org/drawingml/2006/main">
              <a:ext uri="{FF2B5EF4-FFF2-40B4-BE49-F238E27FC236}">
                <a16:creationId xmlns:a16="http://schemas.microsoft.com/office/drawing/2014/main" id="{7478629F-D50A-4462-9A8C-2FBC29A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Output  |  요약 답변 · 결과표 · 실행 SQL · 차트 · Word / Excel / CSV / TXT</a:t>
            </a:r>
          </a:p>
        </p:txBody>
      </p:sp>
      <p:sp>
        <p:nvSpPr>
          <p:cNvPr id="38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5C900292-66D7-4B30-B98A-E0D94D3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As-Is</a:t>
            </a:r>
          </a:p>
        </p:txBody>
      </p:sp>
      <p:sp>
        <p:nvSpPr>
          <p:cNvPr id="39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D45278E-FDB5-4B48-BC40-9E54071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5623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2026-08-12T07:43:01.7160000Z</dcterms:created>
  <dcterms:modified xsi:type="dcterms:W3CDTF">2026-08-12T07:43:01.7160000Z</dcterms:modified>
</coreProperties>
</file>