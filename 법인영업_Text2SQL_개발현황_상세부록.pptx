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3bda8d4c48483f" /><Relationship Type="http://schemas.openxmlformats.org/officeDocument/2006/relationships/extended-properties" Target="/docProps/app.xml" Id="R74b13ad08d604f63" /><Relationship Type="http://schemas.openxmlformats.org/officeDocument/2006/relationships/officeDocument" Target="/ppt/presentation.xml" Id="R025e4e57c6f243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1cafbf8cff49f1"/>
  </p:sldMasterIdLst>
  <p:notesMasterIdLst>
    <p:notesMasterId xmlns:r="http://schemas.openxmlformats.org/officeDocument/2006/relationships" r:id="Rd6c57d02218449f1"/>
  </p:notesMasterIdLst>
  <p:sldIdLst>
    <p:sldId xmlns:r="http://schemas.openxmlformats.org/officeDocument/2006/relationships" id="256" r:id="R07daff094a1d44ef"/>
    <p:sldId xmlns:r="http://schemas.openxmlformats.org/officeDocument/2006/relationships" id="257" r:id="R37a47f573bbb4016"/>
    <p:sldId xmlns:r="http://schemas.openxmlformats.org/officeDocument/2006/relationships" id="258" r:id="R0ee420c4c8e148df"/>
    <p:sldId xmlns:r="http://schemas.openxmlformats.org/officeDocument/2006/relationships" id="259" r:id="R25951f4b4dce4caf"/>
    <p:sldId xmlns:r="http://schemas.openxmlformats.org/officeDocument/2006/relationships" id="260" r:id="Rd655ea499c4843dd"/>
    <p:sldId xmlns:r="http://schemas.openxmlformats.org/officeDocument/2006/relationships" id="261" r:id="R66347c5f563c422b"/>
    <p:sldId xmlns:r="http://schemas.openxmlformats.org/officeDocument/2006/relationships" id="262" r:id="Reb0b341184c34516"/>
    <p:sldId xmlns:r="http://schemas.openxmlformats.org/officeDocument/2006/relationships" id="263" r:id="Ra7f4b10b349846cf"/>
    <p:sldId xmlns:r="http://schemas.openxmlformats.org/officeDocument/2006/relationships" id="264" r:id="Rf6c0d118c10045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d22a1642a9431d" /><Relationship Type="http://schemas.openxmlformats.org/officeDocument/2006/relationships/slideMaster" Target="/ppt/slideMasters/slideMaster1.xml" Id="R761cafbf8cff49f1" /><Relationship Type="http://schemas.openxmlformats.org/officeDocument/2006/relationships/notesMaster" Target="/ppt/notesMasters/notesMaster1.xml" Id="Rd6c57d02218449f1" /><Relationship Type="http://schemas.openxmlformats.org/officeDocument/2006/relationships/presProps" Target="/ppt/presProps.xml" Id="R6e2dd3588bd34506" /><Relationship Type="http://schemas.openxmlformats.org/officeDocument/2006/relationships/tableStyles" Target="/ppt/tableStyles.xml" Id="R30e88838532e49be" /><Relationship Type="http://schemas.openxmlformats.org/officeDocument/2006/relationships/slide" Target="/ppt/slides/slide1.xml" Id="R07daff094a1d44ef" /><Relationship Type="http://schemas.openxmlformats.org/officeDocument/2006/relationships/slide" Target="/ppt/slides/slide2.xml" Id="R37a47f573bbb4016" /><Relationship Type="http://schemas.openxmlformats.org/officeDocument/2006/relationships/slide" Target="/ppt/slides/slide3.xml" Id="R0ee420c4c8e148df" /><Relationship Type="http://schemas.openxmlformats.org/officeDocument/2006/relationships/slide" Target="/ppt/slides/slide4.xml" Id="R25951f4b4dce4caf" /><Relationship Type="http://schemas.openxmlformats.org/officeDocument/2006/relationships/slide" Target="/ppt/slides/slide5.xml" Id="Rd655ea499c4843dd" /><Relationship Type="http://schemas.openxmlformats.org/officeDocument/2006/relationships/slide" Target="/ppt/slides/slide6.xml" Id="R66347c5f563c422b" /><Relationship Type="http://schemas.openxmlformats.org/officeDocument/2006/relationships/slide" Target="/ppt/slides/slide7.xml" Id="Reb0b341184c34516" /><Relationship Type="http://schemas.openxmlformats.org/officeDocument/2006/relationships/slide" Target="/ppt/slides/slide8.xml" Id="Ra7f4b10b349846cf" /><Relationship Type="http://schemas.openxmlformats.org/officeDocument/2006/relationships/slide" Target="/ppt/slides/slide9.xml" Id="Rf6c0d118c10045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b0cf60608047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1ece3fc777440b" /><Relationship Type="http://schemas.openxmlformats.org/officeDocument/2006/relationships/notesMaster" Target="/ppt/notesMasters/notesMaster1.xml" Id="Rc6d777d7bffc45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fffb0204914971" /><Relationship Type="http://schemas.openxmlformats.org/officeDocument/2006/relationships/notesMaster" Target="/ppt/notesMasters/notesMaster1.xml" Id="Rd8d1916459da4b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3564230fd74d0f" /><Relationship Type="http://schemas.openxmlformats.org/officeDocument/2006/relationships/notesMaster" Target="/ppt/notesMasters/notesMaster1.xml" Id="Rf02efe77243b45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c762d633cc4a97" /><Relationship Type="http://schemas.openxmlformats.org/officeDocument/2006/relationships/notesMaster" Target="/ppt/notesMasters/notesMaster1.xml" Id="R4cafd8409f9d4c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98d07ce16c46dc" /><Relationship Type="http://schemas.openxmlformats.org/officeDocument/2006/relationships/notesMaster" Target="/ppt/notesMasters/notesMaster1.xml" Id="R72139ab646b246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0a716035504db8" /><Relationship Type="http://schemas.openxmlformats.org/officeDocument/2006/relationships/notesMaster" Target="/ppt/notesMasters/notesMaster1.xml" Id="R6a5dede8bfa947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3ca4eb6d7a470e" /><Relationship Type="http://schemas.openxmlformats.org/officeDocument/2006/relationships/notesMaster" Target="/ppt/notesMasters/notesMaster1.xml" Id="Rf0b193c045c54e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08b2cffece4703" /><Relationship Type="http://schemas.openxmlformats.org/officeDocument/2006/relationships/notesMaster" Target="/ppt/notesMasters/notesMaster1.xml" Id="Rc2c0564c26104a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2c3b4cc96c4e1e" /><Relationship Type="http://schemas.openxmlformats.org/officeDocument/2006/relationships/notesMaster" Target="/ppt/notesMasters/notesMaster1.xml" Id="R5edbc74c26cf49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README.md:3-67 (서비스 목적, 전체 구조, 주요 모듈)</a:t>
            </a:r>
          </a:p>
          <a:p xmlns:a="http://schemas.openxmlformats.org/drawingml/2006/main">
            <a:r>
              <a:t>- semantic_layer.yaml: semantic_layer_metadata, canonical_domains, canonical_metrics (31 tables, 6 domains, 42 metrics)</a:t>
            </a:r>
          </a:p>
          <a:p xmlns:a="http://schemas.openxmlformats.org/drawingml/2006/main">
            <a:r>
              <a:t>- text2sql_agent/tools/sql_verified_queries.yaml (66 verified query definitions)</a:t>
            </a:r>
          </a:p>
          <a:p xmlns:a="http://schemas.openxmlformats.org/drawingml/2006/main">
            <a:r>
              <a:t>- V2_APPLIED.md:5-35 (v2 적용 범위와 안전 검증 보강)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README.md:15-38 (browser, FastAPI, agent, workflow, LLM, schema, tools, DB, export connections)</a:t>
            </a:r>
          </a:p>
          <a:p xmlns:a="http://schemas.openxmlformats.org/drawingml/2006/main">
            <a:r>
              <a:t>- web_service.py:95-103, 2734-2774, 3148-3168 (FastAPI, SSE endpoint, static UI serving)</a:t>
            </a:r>
          </a:p>
          <a:p xmlns:a="http://schemas.openxmlformats.org/drawingml/2006/main">
            <a:r>
              <a:t>- text2sql_agent/workflow.py:4715-4764 (LangGraph node and edge topology)</a:t>
            </a:r>
          </a:p>
          <a:p xmlns:a="http://schemas.openxmlformats.org/drawingml/2006/main">
            <a:r>
              <a:t>- text2sql_agent/llm.py:54-84 (LLM and embedding clients)</a:t>
            </a:r>
          </a:p>
          <a:p xmlns:a="http://schemas.openxmlformats.org/drawingml/2006/main">
            <a:r>
              <a:t>- text2sql_agent/db.py:284-309, 551-638 (read-only guard and Athena/PostgreSQL adapter)</a:t>
            </a:r>
          </a:p>
          <a:p xmlns:a="http://schemas.openxmlformats.org/drawingml/2006/main">
            <a:r>
              <a:t>- text2sql_agent/session_store.py:1088-1096 (PostgreSQL or in-memory session store)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text2sql_agent/workflow.py:375-433 (question classification)</a:t>
            </a:r>
          </a:p>
          <a:p xmlns:a="http://schemas.openxmlformats.org/drawingml/2006/main">
            <a:r>
              <a:t>- text2sql_agent/workflow.py:2250-2308, 2939-3079 (Tool/VQ/generated SQL routing and parameter continuation)</a:t>
            </a:r>
          </a:p>
          <a:p xmlns:a="http://schemas.openxmlformats.org/drawingml/2006/main">
            <a:r>
              <a:t>- text2sql_agent/workflow.py:4346-4475 (SQL validation and read-only query execution)</a:t>
            </a:r>
          </a:p>
          <a:p xmlns:a="http://schemas.openxmlformats.org/drawingml/2006/main">
            <a:r>
              <a:t>- text2sql_agent/workflow.py:4518-4589 (answer generation and deterministic fallback)</a:t>
            </a:r>
          </a:p>
          <a:p xmlns:a="http://schemas.openxmlformats.org/drawingml/2006/main">
            <a:r>
              <a:t>- web_service.py:2734-2774, 3086-3145 (SSE delivery and export/download endpoints)</a:t>
            </a:r>
          </a:p>
          <a:p xmlns:a="http://schemas.openxmlformats.org/drawingml/2006/main">
            <a:r>
              <a:t>- text2sql_agent/followup_ops.py:229-676 (local follow-up transforms and charts)</a:t>
            </a:r>
          </a:p>
          <a:p xmlns:a="http://schemas.openxmlformats.org/drawingml/2006/main">
            <a:r>
              <a:t>- text2sql_agent/exports.py:267-597 (Word, Excel, CSV and TXT export)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보조</a:t>
            </a:r>
          </a:p>
          <a:p xmlns:a="http://schemas.openxmlformats.org/drawingml/2006/main">
            <a:r>
              <a:t>- 자연어, 직접 SELECT/WITH, 추가 파라미터, 세션과 저장 질문을 지원합니다.</a:t>
            </a:r>
          </a:p>
          <a:p xmlns:a="http://schemas.openxmlformats.org/drawingml/2006/main">
            <a:r>
              <a:t>- 관리기업 파서/API는 TXT·CSV·XLSX·XLSM을 지원하지만 현재 화면은 붙여넣기 textarea만 연결되어 있습니다.</a:t>
            </a:r>
          </a:p>
          <a:p xmlns:a="http://schemas.openxmlformats.org/drawingml/2006/main">
            <a:r>
              <a:t>- 일반 조회는 최대 500행, 화면·세션 저장은 최대 100행, 답변 preview는 최대 20행입니다.</a:t>
            </a:r>
          </a:p>
          <a:p xmlns:a="http://schemas.openxmlformats.org/drawingml/2006/main">
            <a:r>
              <a:t>- 후속 분석은 result_id와 Query Frame을 기준으로 기존 결과의 설명·정렬·필터·집계·차트를 우선 처리합니다.</a:t>
            </a:r>
          </a:p>
          <a:p xmlns:a="http://schemas.openxmlformats.org/drawingml/2006/main">
            <a:r>
              <a:t>- Excel·CSV·TXT와 전체 다운로드는 저장 SQL을 확장 한도로 재조회합니다. 전체는 Word+Excel+TXT입니다.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web/static/index.html:831-885,2102-2150,2328-2484</a:t>
            </a:r>
          </a:p>
          <a:p xmlns:a="http://schemas.openxmlformats.org/drawingml/2006/main">
            <a:r>
              <a:t>- web_service.py:1451-1531,2473-2666,2864-2906,3086-3149</a:t>
            </a:r>
          </a:p>
          <a:p xmlns:a="http://schemas.openxmlformats.org/drawingml/2006/main">
            <a:r>
              <a:t>- text2sql_agent/workflow.py:375-433,2671-2729,5057-5197,5359-5486</a:t>
            </a:r>
          </a:p>
          <a:p xmlns:a="http://schemas.openxmlformats.org/drawingml/2006/main">
            <a:r>
              <a:t>- text2sql_agent/followup_ops.py:229-677</a:t>
            </a:r>
          </a:p>
          <a:p xmlns:a="http://schemas.openxmlformats.org/drawingml/2006/main">
            <a:r>
              <a:t>- text2sql_agent/exports.py:80-117,267-597</a:t>
            </a:r>
          </a:p>
          <a:p xmlns:a="http://schemas.openxmlformats.org/drawingml/2006/main">
            <a:r>
              <a:t>- text2sql_agent/managed_scope.py:19-23,277-305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보조</a:t>
            </a:r>
          </a:p>
          <a:p xmlns:a="http://schemas.openxmlformats.org/drawingml/2006/main">
            <a:r>
              <a:t>- Frontend는 Vanilla HTML/CSS/JavaScript, fetch 기반 SSE 파서와 Canvas 차트를 사용합니다.</a:t>
            </a:r>
          </a:p>
          <a:p xmlns:a="http://schemas.openxmlformats.org/drawingml/2006/main">
            <a:r>
              <a:t>- FastAPI/Pydantic/Uvicorn이 질의·스트리밍·세션·저장 쿼리·파일 API를 제공합니다.</a:t>
            </a:r>
          </a:p>
          <a:p xmlns:a="http://schemas.openxmlformats.org/drawingml/2006/main">
            <a:r>
              <a:t>- LangGraph 단일 상태 그래프가 질문 분류부터 요약까지 조정합니다.</a:t>
            </a:r>
          </a:p>
          <a:p xmlns:a="http://schemas.openxmlformats.org/drawingml/2006/main">
            <a:r>
              <a:t>- LLM은 kbcard-agent-common seam을 사용하며 저장소 기본 프로필은 vLLM gpt-oss:120b입니다.</a:t>
            </a:r>
          </a:p>
          <a:p xmlns:a="http://schemas.openxmlformats.org/drawingml/2006/main">
            <a:r>
              <a:t>- TEI bge-m3 임베딩 매칭은 구현되어 있으나 ENABLE_EMBEDDING_PRECOMPUTE 기본값이 false입니다.</a:t>
            </a:r>
          </a:p>
          <a:p xmlns:a="http://schemas.openxmlformats.org/drawingml/2006/main">
            <a:r>
              <a:t>- Semantic SSOT는 31개 테이블, 2,140개 원천 컬럼, 6개 도메인, 42개 지표, 37개 query contract, 39개 safe JOIN을 포함합니다.</a:t>
            </a:r>
          </a:p>
          <a:p xmlns:a="http://schemas.openxmlformats.org/drawingml/2006/main">
            <a:r>
              <a:t>- 운영 세션 SSOT는 PostgreSQL webapp_* 5개 테이블이며 Redis는 result/file TTL용 best-effort 옵션입니다.</a:t>
            </a:r>
          </a:p>
          <a:p xmlns:a="http://schemas.openxmlformats.org/drawingml/2006/main">
            <a:r>
              <a:t>- 저장소에는 Kubernetes/IaC/CI 구성과 외부 APM·분산 tracing backend가 포함되어 있지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web/static/index.html:1-43,831-885,2328-2484</a:t>
            </a:r>
          </a:p>
          <a:p xmlns:a="http://schemas.openxmlformats.org/drawingml/2006/main">
            <a:r>
              <a:t>- web_service.py:20-23,95-103,2711-2774,2909-3149</a:t>
            </a:r>
          </a:p>
          <a:p xmlns:a="http://schemas.openxmlformats.org/drawingml/2006/main">
            <a:r>
              <a:t>- text2sql_agent/workflow.py:2671-2729,3293-3334,5057-5184,5437-5486</a:t>
            </a:r>
          </a:p>
          <a:p xmlns:a="http://schemas.openxmlformats.org/drawingml/2006/main">
            <a:r>
              <a:t>- text2sql_agent/llm.py:15-17,54-85,115-141,211-234</a:t>
            </a:r>
          </a:p>
          <a:p xmlns:a="http://schemas.openxmlformats.org/drawingml/2006/main">
            <a:r>
              <a:t>- text2sql_agent/config.py:132-137</a:t>
            </a:r>
          </a:p>
          <a:p xmlns:a="http://schemas.openxmlformats.org/drawingml/2006/main">
            <a:r>
              <a:t>- semantic_layer.yaml:22-76,15044-15163</a:t>
            </a:r>
          </a:p>
          <a:p xmlns:a="http://schemas.openxmlformats.org/drawingml/2006/main">
            <a:r>
              <a:t>- text2sql_agent/db.py:284-309,455-485,494-638</a:t>
            </a:r>
          </a:p>
          <a:p xmlns:a="http://schemas.openxmlformats.org/drawingml/2006/main">
            <a:r>
              <a:t>- text2sql_agent/session_store.py:113-215,423-467,1083-1096</a:t>
            </a:r>
          </a:p>
          <a:p xmlns:a="http://schemas.openxmlformats.org/drawingml/2006/main">
            <a:r>
              <a:t>- text2sql_agent/exports.py:80-117,267-597</a:t>
            </a:r>
          </a:p>
          <a:p xmlns:a="http://schemas.openxmlformats.org/drawingml/2006/main">
            <a:r>
              <a:t>- Dockerfile:1-28</a:t>
            </a:r>
          </a:p>
          <a:p xmlns:a="http://schemas.openxmlformats.org/drawingml/2006/main">
            <a:r>
              <a:t>- aic-deploy.env:4-28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보조</a:t>
            </a:r>
          </a:p>
          <a:p xmlns:a="http://schemas.openxmlformats.org/drawingml/2006/main">
            <a:r>
              <a:t>- 질문은 direct_sql, direct, reject, need_sql로 분류한 뒤 도메인과 capability를 선택합니다.</a:t>
            </a:r>
          </a:p>
          <a:p xmlns:a="http://schemas.openxmlformats.org/drawingml/2006/main">
            <a:r>
              <a:t>- 명확한 업무 질문은 Tool 또는 Verified Query를 우선하고, 탐색 질문만 생성 SQL로 보냅니다.</a:t>
            </a:r>
          </a:p>
          <a:p xmlns:a="http://schemas.openxmlformats.org/drawingml/2006/main">
            <a:r>
              <a:t>- 생성 SQL은 검증·실행 오류를 반영해 최대 3회 재생성합니다. 직접 SQL과 Verified Query는 자동 대체하지 않습니다.</a:t>
            </a:r>
          </a:p>
          <a:p xmlns:a="http://schemas.openxmlformats.org/drawingml/2006/main">
            <a:r>
              <a:t>- 공통 검증은 등록 테이블/컬럼, 민감정보, 기간·행수, SELECT *, 안전 JOIN, 단일 SELECT/WITH를 확인합니다.</a:t>
            </a:r>
          </a:p>
          <a:p xmlns:a="http://schemas.openxmlformats.org/drawingml/2006/main">
            <a:r>
              <a:t>- DB_BACKEND로 PostgreSQL 또는 Athena를 선택합니다. PostgreSQL은 read-only와 statement_timeout을 적용하지만 Athena는 현재 timeout 인자를 실행 취소에 사용하지 않습니다.</a:t>
            </a:r>
          </a:p>
          <a:p xmlns:a="http://schemas.openxmlformats.org/drawingml/2006/main">
            <a:r>
              <a:t>- 필수값이 없으면 continuation을 저장하고 사용자의 후속 입력으로 새 실행을 이어갑니다.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text2sql_agent/workflow.py:375-433,2671-2729,5057-5197,5359-5486</a:t>
            </a:r>
          </a:p>
          <a:p xmlns:a="http://schemas.openxmlformats.org/drawingml/2006/main">
            <a:r>
              <a:t>- text2sql_agent/schema.py:1634-1677,1703-1748</a:t>
            </a:r>
          </a:p>
          <a:p xmlns:a="http://schemas.openxmlformats.org/drawingml/2006/main">
            <a:r>
              <a:t>- text2sql_agent/db.py:284-309,394-400,455-485,494-638</a:t>
            </a:r>
          </a:p>
          <a:p xmlns:a="http://schemas.openxmlformats.org/drawingml/2006/main">
            <a:r>
              <a:t>- web_service.py:1451-1531,269-428,2734-2800</a:t>
            </a:r>
          </a:p>
          <a:p xmlns:a="http://schemas.openxmlformats.org/drawingml/2006/main">
            <a:r>
              <a:t>- text2sql_agent/query_frame.py:107-164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테이블 상세</a:t>
            </a:r>
          </a:p>
          <a:p xmlns:a="http://schemas.openxmlformats.org/drawingml/2006/main">
            <a:r>
              <a:t>- tbdaaat01 고객기본 — 고객 식별과 개인/기업 분류 기준. grain: 고객식별자×고객관리번호.</a:t>
            </a:r>
          </a:p>
          <a:p xmlns:a="http://schemas.openxmlformats.org/drawingml/2006/main">
            <a:r>
              <a:t>- tmdaa1d01 고객월스냅샷 — 고객 속성의 월말 이력. grain: 기준년월×고객식별자×고객관리번호. monthly.</a:t>
            </a:r>
          </a:p>
          <a:p xmlns:a="http://schemas.openxmlformats.org/drawingml/2006/main">
            <a:r>
              <a:t>- tbdaa1d12 기업고객일별기본 — 기업 등급·한도·카드·연체 상태. grain: 기준년월일×고객식별자. previous_day, lag 1.</a:t>
            </a:r>
          </a:p>
          <a:p xmlns:a="http://schemas.openxmlformats.org/drawingml/2006/main">
            <a:r>
              <a:t>- tmdaa1d12 월기업고객기본 — 기업 월말 상태·이용실적. grain: 기준년월×기준년월일×고객식별자. monthly.</a:t>
            </a:r>
          </a:p>
          <a:p xmlns:a="http://schemas.openxmlformats.org/drawingml/2006/main">
            <a:r>
              <a:t>- tbdaaac67 부서사업장회원 — 법인 부서/사업장 회원과 상품·과제 연결. grain: 회원일련번호.</a:t>
            </a:r>
          </a:p>
          <a:p xmlns:a="http://schemas.openxmlformats.org/drawingml/2006/main">
            <a:r>
              <a:t>- tbdaaat03 회원기본 — 유효카드·정지·발급·해지·만료 상태. grain: 회원일련번호. daily.</a:t>
            </a:r>
          </a:p>
          <a:p xmlns:a="http://schemas.openxmlformats.org/drawingml/2006/main">
            <a:r>
              <a:t>- tbdaaat18 고객회원카드 — 암호화 고객명·연락처·주소·계좌. grain: 고객식별자×고객관리번호. daily, 민감정보 제한.</a:t>
            </a:r>
          </a:p>
          <a:p xmlns:a="http://schemas.openxmlformats.org/drawingml/2006/main">
            <a:r>
              <a:t>- tmdaaaa12 기타고객관계 — 대표자·지배인·가맹점대표 등 고객 관계. grain: 기준년월×주고객×부고객×관계구분. monthly.</a:t>
            </a:r>
          </a:p>
          <a:p xmlns:a="http://schemas.openxmlformats.org/drawingml/2006/main">
            <a:r>
              <a:t>- tsmagcca1 기업고객전담관리 — 관리부점·전담직원·발송방법. grain: 고객식별자×고객관리번호.</a:t>
            </a:r>
          </a:p>
          <a:p xmlns:a="http://schemas.openxmlformats.org/drawingml/2006/main">
            <a:r>
              <a:t>- tbdaacb02 부점 — 부점명·주소·유형·개폐점 이력. grain: 부점코드×적용시작년월일.</a:t>
            </a:r>
          </a:p>
          <a:p xmlns:a="http://schemas.openxmlformats.org/drawingml/2006/main">
            <a:r>
              <a:t>- tbdaaat53 거래정지 — 회원·여신·가맹점·카드 거래정지 건. grain: 고객식별자×고객관리번호×거래정지일련번호.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semantic_layer.yaml:77-81,676-690,1373-1416,2007-2011,3302-3308,3570-3574,4990-4994,9845-9849,10458-10461,13713-13822,14428-14432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테이블 상세</a:t>
            </a:r>
          </a:p>
          <a:p xmlns:a="http://schemas.openxmlformats.org/drawingml/2006/main">
            <a:r>
              <a:t>- tbdaaat05 회원카드기본 — 개별 카드의 상품·등급·브랜드·소유자 속성. grain: 회원일련번호×카드구분키번호.</a:t>
            </a:r>
          </a:p>
          <a:p xmlns:a="http://schemas.openxmlformats.org/drawingml/2006/main">
            <a:r>
              <a:t>- tbdaaat46 카드상세변경이력 — 발급·재발급·해제·수령 이벤트. grain: 카드식별자×카드상세일련번호×변경유형.</a:t>
            </a:r>
          </a:p>
          <a:p xmlns:a="http://schemas.openxmlformats.org/drawingml/2006/main">
            <a:r>
              <a:t>- tbdaada72 상품 — 카드 상품명·분류·등급·판매기간·상태. grain: 상품코드.</a:t>
            </a:r>
          </a:p>
          <a:p xmlns:a="http://schemas.openxmlformats.org/drawingml/2006/main">
            <a:r>
              <a:t>- tddaa3d01 카드일별기본 — 카드 보유·속성·상태의 일별 스냅샷. grain: 기준년월일×회원일련번호×카드구분키번호. daily.</a:t>
            </a:r>
          </a:p>
          <a:p xmlns:a="http://schemas.openxmlformats.org/drawingml/2006/main">
            <a:r>
              <a:t>- tddaa3e21 모집최초회원카드일별 — 신규 모집·최초 카드 상태. grain: 기준년월일×최종발급일×회원×카드. daily.</a:t>
            </a:r>
          </a:p>
          <a:p xmlns:a="http://schemas.openxmlformats.org/drawingml/2006/main">
            <a:r>
              <a:t>- tddaa3e23 기존회원카드일별 — 기존 회원 카드 상태. grain: 기준년월일×최종발급일×회원×카드. daily.</a:t>
            </a:r>
          </a:p>
          <a:p xmlns:a="http://schemas.openxmlformats.org/drawingml/2006/main">
            <a:r>
              <a:t>- tbdaabt30 매출전표 — 국내 이용금액·건수·회원·카드·가맹점 거래 팩트. grain: 기준년월×매출전표번호. monthly partition.</a:t>
            </a:r>
          </a:p>
          <a:p xmlns:a="http://schemas.openxmlformats.org/drawingml/2006/main">
            <a:r>
              <a:t>- tbdaabt08 해외매출전표 — 국가·통화·해외가맹점·원화/미화 금액. grain: 기준년월×해외매출전표번호. monthly partition.</a:t>
            </a:r>
          </a:p>
          <a:p xmlns:a="http://schemas.openxmlformats.org/drawingml/2006/main">
            <a:r>
              <a:t>- tmdaa3e16 카드월실적 — 카드별 이용·연체·한도·평점 월 통합 실적. grain: 기준년월×회원일련번호×카드구분키번호. monthly.</a:t>
            </a:r>
          </a:p>
          <a:p xmlns:a="http://schemas.openxmlformats.org/drawingml/2006/main">
            <a:r>
              <a:t>- tddaa3l01 카드연체일별 — 연체발생일·회차·일수·채권 상태. grain: 기준년월일×회원일련번호×카드구분키번호. daily.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semantic_layer.yaml:2632-2636,3455-3459,3833-4085,4086-5333,7796-9844,10462-11980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테이블 상세</a:t>
            </a:r>
          </a:p>
          <a:p xmlns:a="http://schemas.openxmlformats.org/drawingml/2006/main">
            <a:r>
              <a:t>- tbdaadt01 가맹점기본 — 식별·사업자·업종·상태·기업/대표고객 연결. grain: 가맹점번호. daily available 10 days, monthly history.</a:t>
            </a:r>
          </a:p>
          <a:p xmlns:a="http://schemas.openxmlformats.org/drawingml/2006/main">
            <a:r>
              <a:t>- tbdaaus01 가맹점일별요약 — 상태·과세유형·관리대상·유효 기업카드 수. grain: 기준년월일×가맹점번호. previous_day, lag 1.</a:t>
            </a:r>
          </a:p>
          <a:p xmlns:a="http://schemas.openxmlformats.org/drawingml/2006/main">
            <a:r>
              <a:t>- tmdaa5d01 가맹점월스냅샷 — 상태·업종·브랜드별 수수료율 월 이력. grain: 기준년월×가맹점번호. monthly.</a:t>
            </a:r>
          </a:p>
          <a:p xmlns:a="http://schemas.openxmlformats.org/drawingml/2006/main">
            <a:r>
              <a:t>- tmdaaus01 가맹점월말요약 — 일별 요약의 월말 버전. grain: 기준년월×기준년월일×가맹점번호. monthly.</a:t>
            </a:r>
          </a:p>
          <a:p xmlns:a="http://schemas.openxmlformats.org/drawingml/2006/main">
            <a:r>
              <a:t>- tmdaa5e11 가맹점월실적 — 매출금액·건수·수수료·온오프라인 성과. grain: 기준년월×가맹점번호. monthly.</a:t>
            </a:r>
          </a:p>
          <a:p xmlns:a="http://schemas.openxmlformats.org/drawingml/2006/main">
            <a:r>
              <a:t>- tbdaadb17 가맹점업종코드 — 업종명·대중분류와 MCC·표준산업분류 매핑. grain: 가맹점업종코드.</a:t>
            </a:r>
          </a:p>
          <a:p xmlns:a="http://schemas.openxmlformats.org/drawingml/2006/main">
            <a:r>
              <a:t>- tbdaabf07 MCC업종코드 — MCC 국/영문 업종명과 TCC·가맹점업종 매핑. grain: MCC업종코드.</a:t>
            </a:r>
          </a:p>
          <a:p xmlns:a="http://schemas.openxmlformats.org/drawingml/2006/main">
            <a:r>
              <a:t>- tbdccam02 회원거래정지월집계 — 거래정지 사유·연체 여부의 월 추이. grain: 기준년월×기준년월일×고객×정지일련번호. monthly.</a:t>
            </a:r>
          </a:p>
          <a:p xmlns:a="http://schemas.openxmlformats.org/drawingml/2006/main">
            <a:r>
              <a:t>- tbmaisd06 특수채권 — 부실채권 편입·연체·원금·수수료·이자·연체료. grain: 기준년×특수채권관리번호×고객. yearly.</a:t>
            </a:r>
          </a:p>
          <a:p xmlns:a="http://schemas.openxmlformats.org/drawingml/2006/main">
            <a:r>
              <a:t>- tbmewcm94 대손충당금 — 차주·상품·계정별 잔액과 PD·LGD·기대손실. grain: 기준년월×충당금식별번호×차주구분. monthly.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semantic_layer.yaml:3764-3768,5525-5529,6045-7795,11981-14427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b960abbc548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bfb89a8fe54f16" /><Relationship Type="http://schemas.openxmlformats.org/officeDocument/2006/relationships/slideLayout" Target="/ppt/slideLayouts/slideLayout1.xml" Id="Rc537d3ba15ec40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37d3ba15ec40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4c21ebcef4928" /><Relationship Type="http://schemas.openxmlformats.org/officeDocument/2006/relationships/image" Target="/ppt/media/image.png" Id="R463eaffbcdb34745" /><Relationship Type="http://schemas.openxmlformats.org/officeDocument/2006/relationships/notesSlide" Target="/ppt/notesSlides/notesSlide1.xml" Id="Rcd7be41569b545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f604397c643aa" /><Relationship Type="http://schemas.openxmlformats.org/officeDocument/2006/relationships/notesSlide" Target="/ppt/notesSlides/notesSlide2.xml" Id="R07612449616946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c8131450b4fe7" /><Relationship Type="http://schemas.openxmlformats.org/officeDocument/2006/relationships/notesSlide" Target="/ppt/notesSlides/notesSlide3.xml" Id="R7e916ad8a05d44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0ae408c2d4d3b" /><Relationship Type="http://schemas.openxmlformats.org/officeDocument/2006/relationships/notesSlide" Target="/ppt/notesSlides/notesSlide4.xml" Id="R4093c8a08d7e40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f1cf212f74a48" /><Relationship Type="http://schemas.openxmlformats.org/officeDocument/2006/relationships/notesSlide" Target="/ppt/notesSlides/notesSlide5.xml" Id="R92c5a0b80cb642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661efb05b4ec3" /><Relationship Type="http://schemas.openxmlformats.org/officeDocument/2006/relationships/notesSlide" Target="/ppt/notesSlides/notesSlide6.xml" Id="R82854ba255d44a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d6e7b714c4db3" /><Relationship Type="http://schemas.openxmlformats.org/officeDocument/2006/relationships/notesSlide" Target="/ppt/notesSlides/notesSlide7.xml" Id="R567705649e714b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b7683c46e4948" /><Relationship Type="http://schemas.openxmlformats.org/officeDocument/2006/relationships/notesSlide" Target="/ppt/notesSlides/notesSlide8.xml" Id="R4fca27fb588340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fccae159848ac" /><Relationship Type="http://schemas.openxmlformats.org/officeDocument/2006/relationships/notesSlide" Target="/ppt/notesSlides/notesSlide9.xml" Id="R5d1ec2537f6646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eaffbcdb34745"/>
          <a:stretch xmlns:a="http://schemas.openxmlformats.org/drawingml/2006/main"/>
        </p:blipFill>
        <p:spPr>
          <a:xfrm xmlns:a="http://schemas.openxmlformats.org/drawingml/2006/main">
            <a:off x="10895135" y="342900"/>
            <a:ext cx="726831" cy="590550"/>
          </a:xfrm>
          <a:prstGeom xmlns:a="http://schemas.openxmlformats.org/drawingml/2006/main" prst="rect">
            <a:avLst/>
          </a:prstGeom>
        </p:spPr>
      </p:pic>
      <p:sp>
        <p:nvSpPr>
          <p:cNvPr id="2" name="slide-1-eyebrow">
            <a:extLst xmlns:a="http://schemas.openxmlformats.org/drawingml/2006/main">
              <a:ext uri="{FF2B5EF4-FFF2-40B4-BE49-F238E27FC236}">
                <a16:creationId xmlns:a16="http://schemas.microsoft.com/office/drawing/2014/main" id="{284AB2A7-1950-4074-B612-2C0FB5F1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rPr>
              <a:t>CURRENT STATE · TEXT2SQL V4</a:t>
            </a:r>
          </a:p>
        </p:txBody>
      </p:sp>
      <p:sp>
        <p:nvSpPr>
          <p:cNvPr id="3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8F87B986-973A-488C-8E20-809A63E6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자연어 질문을 안전한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데이터 답변으로 연결합니다</a:t>
            </a:r>
          </a:p>
        </p:txBody>
      </p:sp>
      <p:sp>
        <p:nvSpPr>
          <p:cNvPr id="4" name="slide-1-subtitle">
            <a:extLst xmlns:a="http://schemas.openxmlformats.org/drawingml/2006/main">
              <a:ext uri="{FF2B5EF4-FFF2-40B4-BE49-F238E27FC236}">
                <a16:creationId xmlns:a16="http://schemas.microsoft.com/office/drawing/2014/main" id="{5A98B069-CBB5-4893-BB95-F0579CFA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업무 담당자가 기간·대상·지표를 묻고, 시스템은 검증된 경로로 기존 업무 데이터를 읽기 전용 조회합니다.</a:t>
            </a:r>
          </a:p>
        </p:txBody>
      </p:sp>
      <p:sp>
        <p:nvSpPr>
          <p:cNvPr id="5" name="slide1-card-1-anchor">
            <a:extLst xmlns:a="http://schemas.openxmlformats.org/drawingml/2006/main">
              <a:ext uri="{FF2B5EF4-FFF2-40B4-BE49-F238E27FC236}">
                <a16:creationId xmlns:a16="http://schemas.microsoft.com/office/drawing/2014/main" id="{85E3024E-FB13-4ED1-8176-C9D9D4FD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352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slide1-card-2-anchor">
            <a:extLst xmlns:a="http://schemas.openxmlformats.org/drawingml/2006/main">
              <a:ext uri="{FF2B5EF4-FFF2-40B4-BE49-F238E27FC236}">
                <a16:creationId xmlns:a16="http://schemas.microsoft.com/office/drawing/2014/main" id="{EA3D47F9-83FE-4CF6-9647-DD6A206B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352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slide1-card-3-anchor">
            <a:extLst xmlns:a="http://schemas.openxmlformats.org/drawingml/2006/main">
              <a:ext uri="{FF2B5EF4-FFF2-40B4-BE49-F238E27FC236}">
                <a16:creationId xmlns:a16="http://schemas.microsoft.com/office/drawing/2014/main" id="{02CEE3E4-6073-4598-BD56-85F67397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524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81450" y="376237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58125" y="376237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sp>
        <p:nvSpPr>
          <p:cNvPr id="10" name="slide-1-card-1-box">
            <a:extLst xmlns:a="http://schemas.openxmlformats.org/drawingml/2006/main">
              <a:ext uri="{FF2B5EF4-FFF2-40B4-BE49-F238E27FC236}">
                <a16:creationId xmlns:a16="http://schemas.microsoft.com/office/drawing/2014/main" id="{5557F286-9EDE-42F3-BC6E-920E0DB0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3524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1" name="slide-1-card-1-number">
            <a:extLst xmlns:a="http://schemas.openxmlformats.org/drawingml/2006/main">
              <a:ext uri="{FF2B5EF4-FFF2-40B4-BE49-F238E27FC236}">
                <a16:creationId xmlns:a16="http://schemas.microsoft.com/office/drawing/2014/main" id="{31446B5F-2E51-478B-8B66-59A32ED4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2" name="slide-1-card-1-title">
            <a:extLst xmlns:a="http://schemas.openxmlformats.org/drawingml/2006/main">
              <a:ext uri="{FF2B5EF4-FFF2-40B4-BE49-F238E27FC236}">
                <a16:creationId xmlns:a16="http://schemas.microsoft.com/office/drawing/2014/main" id="{95F95457-DD17-450C-8070-181FFAC5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76575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질문 입력</a:t>
            </a:r>
          </a:p>
        </p:txBody>
      </p:sp>
      <p:sp>
        <p:nvSpPr>
          <p:cNvPr id="13" name="slide-1-card-1-body">
            <a:extLst xmlns:a="http://schemas.openxmlformats.org/drawingml/2006/main">
              <a:ext uri="{FF2B5EF4-FFF2-40B4-BE49-F238E27FC236}">
                <a16:creationId xmlns:a16="http://schemas.microsoft.com/office/drawing/2014/main" id="{E8198757-52AE-4690-92C2-5A855FE4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한국어로 기간·대상·지표를 입력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필요하면 추가 조건을 이어서 보완</a:t>
            </a:r>
          </a:p>
        </p:txBody>
      </p:sp>
      <p:sp>
        <p:nvSpPr>
          <p:cNvPr id="14" name="slide-1-card-2-box">
            <a:extLst xmlns:a="http://schemas.openxmlformats.org/drawingml/2006/main">
              <a:ext uri="{FF2B5EF4-FFF2-40B4-BE49-F238E27FC236}">
                <a16:creationId xmlns:a16="http://schemas.microsoft.com/office/drawing/2014/main" id="{0E80EE1A-692D-418F-853E-B615728B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3524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23813">
            <a:solidFill>
              <a:srgbClr val="FFCC00"/>
            </a:solidFill>
            <a:prstDash val="solid"/>
          </a:ln>
        </p:spPr>
      </p:sp>
      <p:sp>
        <p:nvSpPr>
          <p:cNvPr id="15" name="slide-1-card-2-number">
            <a:extLst xmlns:a="http://schemas.openxmlformats.org/drawingml/2006/main">
              <a:ext uri="{FF2B5EF4-FFF2-40B4-BE49-F238E27FC236}">
                <a16:creationId xmlns:a16="http://schemas.microsoft.com/office/drawing/2014/main" id="{51B9B711-0D73-4851-9F30-CEBCF28E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6" name="slide-1-card-2-title">
            <a:extLst xmlns:a="http://schemas.openxmlformats.org/drawingml/2006/main">
              <a:ext uri="{FF2B5EF4-FFF2-40B4-BE49-F238E27FC236}">
                <a16:creationId xmlns:a16="http://schemas.microsoft.com/office/drawing/2014/main" id="{B50ED534-6384-4909-A774-F1824F37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076575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업무 규칙 기반 처리</a:t>
            </a:r>
          </a:p>
        </p:txBody>
      </p:sp>
      <p:sp>
        <p:nvSpPr>
          <p:cNvPr id="17" name="slide-1-card-2-body">
            <a:extLst xmlns:a="http://schemas.openxmlformats.org/drawingml/2006/main">
              <a:ext uri="{FF2B5EF4-FFF2-40B4-BE49-F238E27FC236}">
                <a16:creationId xmlns:a16="http://schemas.microsoft.com/office/drawing/2014/main" id="{511359B9-E937-4298-A926-C89509F6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7528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검증 쿼리·전용 Tool을 우선 적용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새 질문만 Semantic 기반 SQL 생성</a:t>
            </a:r>
          </a:p>
        </p:txBody>
      </p:sp>
      <p:sp>
        <p:nvSpPr>
          <p:cNvPr id="18" name="slide-1-card-3-box">
            <a:extLst xmlns:a="http://schemas.openxmlformats.org/drawingml/2006/main">
              <a:ext uri="{FF2B5EF4-FFF2-40B4-BE49-F238E27FC236}">
                <a16:creationId xmlns:a16="http://schemas.microsoft.com/office/drawing/2014/main" id="{3183BFD1-ECFE-4B46-9820-268418BB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524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9" name="slide-1-card-3-number">
            <a:extLst xmlns:a="http://schemas.openxmlformats.org/drawingml/2006/main">
              <a:ext uri="{FF2B5EF4-FFF2-40B4-BE49-F238E27FC236}">
                <a16:creationId xmlns:a16="http://schemas.microsoft.com/office/drawing/2014/main" id="{BEE1C98C-24F4-45B3-8EB1-72CF9B0D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86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0" name="slide-1-card-3-title">
            <a:extLst xmlns:a="http://schemas.openxmlformats.org/drawingml/2006/main">
              <a:ext uri="{FF2B5EF4-FFF2-40B4-BE49-F238E27FC236}">
                <a16:creationId xmlns:a16="http://schemas.microsoft.com/office/drawing/2014/main" id="{8B358E84-704C-410D-ADDD-92548BFE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76575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결과 활용</a:t>
            </a:r>
          </a:p>
        </p:txBody>
      </p:sp>
      <p:sp>
        <p:nvSpPr>
          <p:cNvPr id="21" name="slide-1-card-3-body">
            <a:extLst xmlns:a="http://schemas.openxmlformats.org/drawingml/2006/main">
              <a:ext uri="{FF2B5EF4-FFF2-40B4-BE49-F238E27FC236}">
                <a16:creationId xmlns:a16="http://schemas.microsoft.com/office/drawing/2014/main" id="{CCC358B4-1ACD-4996-95F9-7249FABA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528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요약·표·실행 SQL을 함께 확인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후속 분석·차트·파일로 재사용</a:t>
            </a:r>
          </a:p>
        </p:txBody>
      </p:sp>
      <p:sp>
        <p:nvSpPr>
          <p:cNvPr id="22" name="slide-1-key-message">
            <a:extLst xmlns:a="http://schemas.openxmlformats.org/drawingml/2006/main">
              <a:ext uri="{FF2B5EF4-FFF2-40B4-BE49-F238E27FC236}">
                <a16:creationId xmlns:a16="http://schemas.microsoft.com/office/drawing/2014/main" id="{33D573F6-5B83-444C-815A-AAC381A4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10150"/>
            <a:ext cx="112776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lide-1-key-message-text">
            <a:extLst xmlns:a="http://schemas.openxmlformats.org/drawingml/2006/main">
              <a:ext uri="{FF2B5EF4-FFF2-40B4-BE49-F238E27FC236}">
                <a16:creationId xmlns:a16="http://schemas.microsoft.com/office/drawing/2014/main" id="{59623BF8-E218-4262-AA4C-911FE4B1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 원칙  |  미리 정의된 업무지식과 검증된 조회 경로를 우선 사용하고, AI 생성 SQL도 안전 검증 후 실행합니다.</a:t>
            </a:r>
          </a:p>
        </p:txBody>
      </p:sp>
      <p:sp>
        <p:nvSpPr>
          <p:cNvPr id="24" name="slide-1-scope">
            <a:extLst xmlns:a="http://schemas.openxmlformats.org/drawingml/2006/main">
              <a:ext uri="{FF2B5EF4-FFF2-40B4-BE49-F238E27FC236}">
                <a16:creationId xmlns:a16="http://schemas.microsoft.com/office/drawing/2014/main" id="{EC9A4A9E-FE0D-4521-A945-0960C76B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현재 지식 기반  ·  6개 업무영역  ·  31개 업무 테이블  ·  42개 표준지표  ·  66개 검증 쿼리</a:t>
            </a:r>
          </a:p>
        </p:txBody>
      </p:sp>
      <p:sp>
        <p:nvSpPr>
          <p:cNvPr id="25" name="slide-1-footer-label">
            <a:extLst xmlns:a="http://schemas.openxmlformats.org/drawingml/2006/main">
              <a:ext uri="{FF2B5EF4-FFF2-40B4-BE49-F238E27FC236}">
                <a16:creationId xmlns:a16="http://schemas.microsoft.com/office/drawing/2014/main" id="{67B4CDD1-1706-46DC-B06B-AA647962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KB Card Corporate Sales · Text2SQL V4 · As-Is</a:t>
            </a:r>
          </a:p>
        </p:txBody>
      </p:sp>
      <p:sp>
        <p:nvSpPr>
          <p:cNvPr id="26" name="slide-1-footer-number">
            <a:extLst xmlns:a="http://schemas.openxmlformats.org/drawingml/2006/main">
              <a:ext uri="{FF2B5EF4-FFF2-40B4-BE49-F238E27FC236}">
                <a16:creationId xmlns:a16="http://schemas.microsoft.com/office/drawing/2014/main" id="{D6FCE017-3355-4D92-9288-297C3B32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11102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3F5ED36-BAB0-4A79-9613-88A157CD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하나의 웹서비스가 업무지식·AI·DB를 연결합니다</a:t>
            </a:r>
          </a:p>
        </p:txBody>
      </p:sp>
      <p:sp>
        <p:nvSpPr>
          <p:cNvPr id="2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3BB11E49-A220-4814-9F33-2096AD76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브라우저 UI와 API는 함께 배포되고, 업무 조회 데이터와 대화 이력은 역할이 분리되어 있습니다.</a:t>
            </a:r>
          </a:p>
        </p:txBody>
      </p:sp>
      <p:sp>
        <p:nvSpPr>
          <p:cNvPr id="3" name="slide-2-accent-line">
            <a:extLst xmlns:a="http://schemas.openxmlformats.org/drawingml/2006/main">
              <a:ext uri="{FF2B5EF4-FFF2-40B4-BE49-F238E27FC236}">
                <a16:creationId xmlns:a16="http://schemas.microsoft.com/office/drawing/2014/main" id="{CEA2D9CA-9734-460B-B89B-2495D84D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2-deploy-label">
            <a:extLst xmlns:a="http://schemas.openxmlformats.org/drawingml/2006/main">
              <a:ext uri="{FF2B5EF4-FFF2-40B4-BE49-F238E27FC236}">
                <a16:creationId xmlns:a16="http://schemas.microsoft.com/office/drawing/2014/main" id="{4BB542A1-9C75-4EC7-952F-3EFA6B2B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동일 Docker / Uvicorn 서비스</a:t>
            </a:r>
          </a:p>
        </p:txBody>
      </p:sp>
      <p:sp>
        <p:nvSpPr>
          <p:cNvPr id="5" name="rule-48-248">
            <a:extLst xmlns:a="http://schemas.openxmlformats.org/drawingml/2006/main">
              <a:ext uri="{FF2B5EF4-FFF2-40B4-BE49-F238E27FC236}">
                <a16:creationId xmlns:a16="http://schemas.microsoft.com/office/drawing/2014/main" id="{43B065F2-8F4E-47BA-8B45-E72B8A6E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6" name="slide2-browser-anchor">
            <a:extLst xmlns:a="http://schemas.openxmlformats.org/drawingml/2006/main">
              <a:ext uri="{FF2B5EF4-FFF2-40B4-BE49-F238E27FC236}">
                <a16:creationId xmlns:a16="http://schemas.microsoft.com/office/drawing/2014/main" id="{C8562527-9777-4758-BAB1-C3A7B3A1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714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slide2-api-anchor">
            <a:extLst xmlns:a="http://schemas.openxmlformats.org/drawingml/2006/main">
              <a:ext uri="{FF2B5EF4-FFF2-40B4-BE49-F238E27FC236}">
                <a16:creationId xmlns:a16="http://schemas.microsoft.com/office/drawing/2014/main" id="{F1AD71C3-9070-4E41-962B-826C1D36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76500"/>
            <a:ext cx="1714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slide2-agent-anchor">
            <a:extLst xmlns:a="http://schemas.openxmlformats.org/drawingml/2006/main">
              <a:ext uri="{FF2B5EF4-FFF2-40B4-BE49-F238E27FC236}">
                <a16:creationId xmlns:a16="http://schemas.microsoft.com/office/drawing/2014/main" id="{7A0E1827-308F-4258-9BF5-A2EC8609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2190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slide2-db-anchor">
            <a:extLst xmlns:a="http://schemas.openxmlformats.org/drawingml/2006/main">
              <a:ext uri="{FF2B5EF4-FFF2-40B4-BE49-F238E27FC236}">
                <a16:creationId xmlns:a16="http://schemas.microsoft.com/office/drawing/2014/main" id="{FA3CBDB4-0661-411F-9277-01919CAF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76500"/>
            <a:ext cx="1809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slide2-output-anchor">
            <a:extLst xmlns:a="http://schemas.openxmlformats.org/drawingml/2006/main">
              <a:ext uri="{FF2B5EF4-FFF2-40B4-BE49-F238E27FC236}">
                <a16:creationId xmlns:a16="http://schemas.microsoft.com/office/drawing/2014/main" id="{982EFB8B-0E11-4CA9-90CC-63443AE6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76500"/>
            <a:ext cx="19431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slide2-knowledge-anchor">
            <a:extLst xmlns:a="http://schemas.openxmlformats.org/drawingml/2006/main">
              <a:ext uri="{FF2B5EF4-FFF2-40B4-BE49-F238E27FC236}">
                <a16:creationId xmlns:a16="http://schemas.microsoft.com/office/drawing/2014/main" id="{FCA0344B-35C9-4353-B2B3-87D3D78D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00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slide2-model-anchor">
            <a:extLst xmlns:a="http://schemas.openxmlformats.org/drawingml/2006/main">
              <a:ext uri="{FF2B5EF4-FFF2-40B4-BE49-F238E27FC236}">
                <a16:creationId xmlns:a16="http://schemas.microsoft.com/office/drawing/2014/main" id="{2F004928-4F97-415E-8F9B-4DFDF28A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2435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slide2-session-anchor">
            <a:extLst xmlns:a="http://schemas.openxmlformats.org/drawingml/2006/main">
              <a:ext uri="{FF2B5EF4-FFF2-40B4-BE49-F238E27FC236}">
                <a16:creationId xmlns:a16="http://schemas.microsoft.com/office/drawing/2014/main" id="{7A17D8DE-6D2A-40A4-A0BC-8CFA8245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24350"/>
            <a:ext cx="1714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17170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624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294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11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154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113" name=""/>
          <p:cNvCxnSpPr>
            <a:stCxn xmlns:a="http://schemas.openxmlformats.org/drawingml/2006/main" id="11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5934075" y="21526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8F94"/>
            </a:solidFill>
            <a:prstDash val="solid"/>
            <a:tailEnd type="triangle" w="sm" len="sm"/>
          </a:ln>
        </p:spPr>
      </p:cxnSp>
      <p:cxnSp>
        <p:nvCxnSpPr>
          <p:cNvPr id="114" name=""/>
          <p:cNvCxnSpPr>
            <a:stCxn xmlns:a="http://schemas.openxmlformats.org/drawingml/2006/main" id="12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5934075" y="40767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8F94"/>
            </a:solidFill>
            <a:prstDash val="solid"/>
            <a:tailEnd type="triangle" w="sm" len="sm"/>
          </a:ln>
        </p:spPr>
      </p:cxnSp>
      <p:cxnSp>
        <p:nvCxnSpPr>
          <p:cNvPr id="115" name=""/>
          <p:cNvCxnSpPr>
            <a:stCxn xmlns:a="http://schemas.openxmlformats.org/drawingml/2006/main" id="13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505200" y="39433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8F94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21" name="slide2-browser-box">
            <a:extLst xmlns:a="http://schemas.openxmlformats.org/drawingml/2006/main">
              <a:ext uri="{FF2B5EF4-FFF2-40B4-BE49-F238E27FC236}">
                <a16:creationId xmlns:a16="http://schemas.microsoft.com/office/drawing/2014/main" id="{0247218F-3AEE-4609-A128-F7EBDF2D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714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C9C9C9"/>
            </a:solidFill>
            <a:prstDash val="solid"/>
          </a:ln>
        </p:spPr>
      </p:sp>
      <p:sp>
        <p:nvSpPr>
          <p:cNvPr id="22" name="slide2-browser-label">
            <a:extLst xmlns:a="http://schemas.openxmlformats.org/drawingml/2006/main">
              <a:ext uri="{FF2B5EF4-FFF2-40B4-BE49-F238E27FC236}">
                <a16:creationId xmlns:a16="http://schemas.microsoft.com/office/drawing/2014/main" id="{53D3AB8C-8E11-4695-8767-8E9FD439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23" name="slide2-browser-title">
            <a:extLst xmlns:a="http://schemas.openxmlformats.org/drawingml/2006/main">
              <a:ext uri="{FF2B5EF4-FFF2-40B4-BE49-F238E27FC236}">
                <a16:creationId xmlns:a16="http://schemas.microsoft.com/office/drawing/2014/main" id="{322611E2-450A-42D9-9CF9-924F0836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브라우저 UI</a:t>
            </a:r>
          </a:p>
        </p:txBody>
      </p:sp>
      <p:sp>
        <p:nvSpPr>
          <p:cNvPr id="24" name="slide2-browser-body">
            <a:extLst xmlns:a="http://schemas.openxmlformats.org/drawingml/2006/main">
              <a:ext uri="{FF2B5EF4-FFF2-40B4-BE49-F238E27FC236}">
                <a16:creationId xmlns:a16="http://schemas.microsoft.com/office/drawing/2014/main" id="{B44C943F-E19D-4714-80F5-3EBB1FA6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질문·추가조건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후속 분석 요청</a:t>
            </a:r>
          </a:p>
        </p:txBody>
      </p:sp>
      <p:sp>
        <p:nvSpPr>
          <p:cNvPr id="25" name="slide2-api-box">
            <a:extLst xmlns:a="http://schemas.openxmlformats.org/drawingml/2006/main">
              <a:ext uri="{FF2B5EF4-FFF2-40B4-BE49-F238E27FC236}">
                <a16:creationId xmlns:a16="http://schemas.microsoft.com/office/drawing/2014/main" id="{58D15EAA-1D95-49F9-BE84-2A432296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76500"/>
            <a:ext cx="1714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C9C9C9"/>
            </a:solidFill>
            <a:prstDash val="solid"/>
          </a:ln>
        </p:spPr>
      </p:sp>
      <p:sp>
        <p:nvSpPr>
          <p:cNvPr id="26" name="slide2-api-label">
            <a:extLst xmlns:a="http://schemas.openxmlformats.org/drawingml/2006/main">
              <a:ext uri="{FF2B5EF4-FFF2-40B4-BE49-F238E27FC236}">
                <a16:creationId xmlns:a16="http://schemas.microsoft.com/office/drawing/2014/main" id="{180E09F9-8E17-4601-94FE-56EEB9B6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098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WEB / API</a:t>
            </a:r>
          </a:p>
        </p:txBody>
      </p:sp>
      <p:sp>
        <p:nvSpPr>
          <p:cNvPr id="27" name="slide2-api-title">
            <a:extLst xmlns:a="http://schemas.openxmlformats.org/drawingml/2006/main">
              <a:ext uri="{FF2B5EF4-FFF2-40B4-BE49-F238E27FC236}">
                <a16:creationId xmlns:a16="http://schemas.microsoft.com/office/drawing/2014/main" id="{1F3D7EDB-37F5-4C3A-B1F8-DC88E1EA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FastAPI</a:t>
            </a:r>
          </a:p>
        </p:txBody>
      </p:sp>
      <p:sp>
        <p:nvSpPr>
          <p:cNvPr id="28" name="slide2-api-body">
            <a:extLst xmlns:a="http://schemas.openxmlformats.org/drawingml/2006/main">
              <a:ext uri="{FF2B5EF4-FFF2-40B4-BE49-F238E27FC236}">
                <a16:creationId xmlns:a16="http://schemas.microsoft.com/office/drawing/2014/main" id="{680D63DC-5B73-4109-85CC-785B6E01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7660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세션·진행상태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SSE·파일 다운로드</a:t>
            </a:r>
          </a:p>
        </p:txBody>
      </p:sp>
      <p:sp>
        <p:nvSpPr>
          <p:cNvPr id="29" name="slide2-agent-box">
            <a:extLst xmlns:a="http://schemas.openxmlformats.org/drawingml/2006/main">
              <a:ext uri="{FF2B5EF4-FFF2-40B4-BE49-F238E27FC236}">
                <a16:creationId xmlns:a16="http://schemas.microsoft.com/office/drawing/2014/main" id="{96109EA4-5233-4CDD-B507-29CE0696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2190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28575">
            <a:solidFill>
              <a:srgbClr val="FFCC00"/>
            </a:solidFill>
            <a:prstDash val="solid"/>
          </a:ln>
        </p:spPr>
      </p:sp>
      <p:sp>
        <p:nvSpPr>
          <p:cNvPr id="30" name="slide2-agent-label">
            <a:extLst xmlns:a="http://schemas.openxmlformats.org/drawingml/2006/main">
              <a:ext uri="{FF2B5EF4-FFF2-40B4-BE49-F238E27FC236}">
                <a16:creationId xmlns:a16="http://schemas.microsoft.com/office/drawing/2014/main" id="{EDD1FAFB-BD1B-4884-9719-4E49B766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7650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rPr>
              <a:t>ORCHESTRATOR</a:t>
            </a:r>
          </a:p>
        </p:txBody>
      </p:sp>
      <p:sp>
        <p:nvSpPr>
          <p:cNvPr id="31" name="slide2-agent-title">
            <a:extLst xmlns:a="http://schemas.openxmlformats.org/drawingml/2006/main">
              <a:ext uri="{FF2B5EF4-FFF2-40B4-BE49-F238E27FC236}">
                <a16:creationId xmlns:a16="http://schemas.microsoft.com/office/drawing/2014/main" id="{AE910CD8-1446-4ED5-83B0-37594E6F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Text2SQL Agent</a:t>
            </a:r>
          </a:p>
        </p:txBody>
      </p:sp>
      <p:sp>
        <p:nvSpPr>
          <p:cNvPr id="32" name="slide2-agent-body">
            <a:extLst xmlns:a="http://schemas.openxmlformats.org/drawingml/2006/main">
              <a:ext uri="{FF2B5EF4-FFF2-40B4-BE49-F238E27FC236}">
                <a16:creationId xmlns:a16="http://schemas.microsoft.com/office/drawing/2014/main" id="{DBD561FD-5038-4609-A4BC-FF328112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질문 분류·도메인 선택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Tool / 검증 SQL / 생성 SQL</a:t>
            </a:r>
          </a:p>
        </p:txBody>
      </p:sp>
      <p:sp>
        <p:nvSpPr>
          <p:cNvPr id="33" name="slide2-db-box">
            <a:extLst xmlns:a="http://schemas.openxmlformats.org/drawingml/2006/main">
              <a:ext uri="{FF2B5EF4-FFF2-40B4-BE49-F238E27FC236}">
                <a16:creationId xmlns:a16="http://schemas.microsoft.com/office/drawing/2014/main" id="{5D012F7B-85DB-4E4E-AE4E-FFD72CCC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76500"/>
            <a:ext cx="1809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C9C9"/>
            </a:solidFill>
            <a:prstDash val="solid"/>
          </a:ln>
        </p:spPr>
      </p:sp>
      <p:sp>
        <p:nvSpPr>
          <p:cNvPr id="34" name="slide2-db-label">
            <a:extLst xmlns:a="http://schemas.openxmlformats.org/drawingml/2006/main">
              <a:ext uri="{FF2B5EF4-FFF2-40B4-BE49-F238E27FC236}">
                <a16:creationId xmlns:a16="http://schemas.microsoft.com/office/drawing/2014/main" id="{00BF1C59-126E-4B56-9F9A-C4653C6D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098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READ ONLY</a:t>
            </a:r>
          </a:p>
        </p:txBody>
      </p:sp>
      <p:sp>
        <p:nvSpPr>
          <p:cNvPr id="35" name="slide2-db-title">
            <a:extLst xmlns:a="http://schemas.openxmlformats.org/drawingml/2006/main">
              <a:ext uri="{FF2B5EF4-FFF2-40B4-BE49-F238E27FC236}">
                <a16:creationId xmlns:a16="http://schemas.microsoft.com/office/drawing/2014/main" id="{1F5EBFC5-676E-47B7-A258-E05C781F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765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업무 데이터</a:t>
            </a:r>
          </a:p>
        </p:txBody>
      </p:sp>
      <p:sp>
        <p:nvSpPr>
          <p:cNvPr id="36" name="slide2-db-body">
            <a:extLst xmlns:a="http://schemas.openxmlformats.org/drawingml/2006/main">
              <a:ext uri="{FF2B5EF4-FFF2-40B4-BE49-F238E27FC236}">
                <a16:creationId xmlns:a16="http://schemas.microsoft.com/office/drawing/2014/main" id="{2FBDD166-B4BC-4B26-9268-8EC7F52B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766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Athena 또는 PostgreSQL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SELECT · WITH만 허용</a:t>
            </a:r>
          </a:p>
        </p:txBody>
      </p:sp>
      <p:sp>
        <p:nvSpPr>
          <p:cNvPr id="37" name="slide2-output-box">
            <a:extLst xmlns:a="http://schemas.openxmlformats.org/drawingml/2006/main">
              <a:ext uri="{FF2B5EF4-FFF2-40B4-BE49-F238E27FC236}">
                <a16:creationId xmlns:a16="http://schemas.microsoft.com/office/drawing/2014/main" id="{B8931529-8C16-4339-A00C-C459E72B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76500"/>
            <a:ext cx="19431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C9C9C9"/>
            </a:solidFill>
            <a:prstDash val="solid"/>
          </a:ln>
        </p:spPr>
      </p:sp>
      <p:sp>
        <p:nvSpPr>
          <p:cNvPr id="38" name="slide2-output-label">
            <a:extLst xmlns:a="http://schemas.openxmlformats.org/drawingml/2006/main">
              <a:ext uri="{FF2B5EF4-FFF2-40B4-BE49-F238E27FC236}">
                <a16:creationId xmlns:a16="http://schemas.microsoft.com/office/drawing/2014/main" id="{ACD84465-93AE-4621-BB49-B1352032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0985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OUTPUT</a:t>
            </a:r>
          </a:p>
        </p:txBody>
      </p:sp>
      <p:sp>
        <p:nvSpPr>
          <p:cNvPr id="39" name="slide2-output-title">
            <a:extLst xmlns:a="http://schemas.openxmlformats.org/drawingml/2006/main">
              <a:ext uri="{FF2B5EF4-FFF2-40B4-BE49-F238E27FC236}">
                <a16:creationId xmlns:a16="http://schemas.microsoft.com/office/drawing/2014/main" id="{BA3942CA-5F26-4AA9-9576-9FB7AEDF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765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결과 화면</a:t>
            </a:r>
          </a:p>
        </p:txBody>
      </p:sp>
      <p:sp>
        <p:nvSpPr>
          <p:cNvPr id="40" name="slide2-output-body">
            <a:extLst xmlns:a="http://schemas.openxmlformats.org/drawingml/2006/main">
              <a:ext uri="{FF2B5EF4-FFF2-40B4-BE49-F238E27FC236}">
                <a16:creationId xmlns:a16="http://schemas.microsoft.com/office/drawing/2014/main" id="{8B2E51B0-1BE8-4997-BF80-49350C19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766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요약·표·실행 SQL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차트·후속 질문</a:t>
            </a:r>
          </a:p>
        </p:txBody>
      </p:sp>
      <p:sp>
        <p:nvSpPr>
          <p:cNvPr id="41" name="slide2-knowledge-box">
            <a:extLst xmlns:a="http://schemas.openxmlformats.org/drawingml/2006/main">
              <a:ext uri="{FF2B5EF4-FFF2-40B4-BE49-F238E27FC236}">
                <a16:creationId xmlns:a16="http://schemas.microsoft.com/office/drawing/2014/main" id="{165A11EE-68A0-4C97-8D39-B6EFCEA0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00200"/>
            <a:ext cx="2190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lide2-knowledge-text">
            <a:extLst xmlns:a="http://schemas.openxmlformats.org/drawingml/2006/main">
              <a:ext uri="{FF2B5EF4-FFF2-40B4-BE49-F238E27FC236}">
                <a16:creationId xmlns:a16="http://schemas.microsoft.com/office/drawing/2014/main" id="{8B3187CE-F73A-4320-B580-FEE9ECD8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335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업무지식  |  Semantic Layer · 검증 쿼리 · 전용 Tool</a:t>
            </a:r>
          </a:p>
        </p:txBody>
      </p:sp>
      <p:sp>
        <p:nvSpPr>
          <p:cNvPr id="43" name="slide2-model-box">
            <a:extLst xmlns:a="http://schemas.openxmlformats.org/drawingml/2006/main">
              <a:ext uri="{FF2B5EF4-FFF2-40B4-BE49-F238E27FC236}">
                <a16:creationId xmlns:a16="http://schemas.microsoft.com/office/drawing/2014/main" id="{D12DFEB4-8868-428D-9BC6-390E4DAF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24350"/>
            <a:ext cx="2190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C9C9C9"/>
            </a:solidFill>
            <a:prstDash val="solid"/>
          </a:ln>
        </p:spPr>
      </p:sp>
      <p:sp>
        <p:nvSpPr>
          <p:cNvPr id="44" name="slide2-model-label">
            <a:extLst xmlns:a="http://schemas.openxmlformats.org/drawingml/2006/main">
              <a:ext uri="{FF2B5EF4-FFF2-40B4-BE49-F238E27FC236}">
                <a16:creationId xmlns:a16="http://schemas.microsoft.com/office/drawing/2014/main" id="{88CC2E52-91AA-4D12-AA9B-8633A7A4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19600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SUPPORT</a:t>
            </a:r>
          </a:p>
        </p:txBody>
      </p:sp>
      <p:sp>
        <p:nvSpPr>
          <p:cNvPr id="45" name="slide2-model-title">
            <a:extLst xmlns:a="http://schemas.openxmlformats.org/drawingml/2006/main">
              <a:ext uri="{FF2B5EF4-FFF2-40B4-BE49-F238E27FC236}">
                <a16:creationId xmlns:a16="http://schemas.microsoft.com/office/drawing/2014/main" id="{81AA2431-64E9-4853-BFFF-B1AF1C22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101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사내 AI 모델</a:t>
            </a:r>
          </a:p>
        </p:txBody>
      </p:sp>
      <p:sp>
        <p:nvSpPr>
          <p:cNvPr id="46" name="slide2-model-body">
            <a:extLst xmlns:a="http://schemas.openxmlformats.org/drawingml/2006/main">
              <a:ext uri="{FF2B5EF4-FFF2-40B4-BE49-F238E27FC236}">
                <a16:creationId xmlns:a16="http://schemas.microsoft.com/office/drawing/2014/main" id="{D621053E-15EE-436B-A19A-C87EE3BC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43475"/>
            <a:ext cx="1885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LLM: 판단·SQL·요약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Embedding: 후보 탐색</a:t>
            </a:r>
          </a:p>
        </p:txBody>
      </p:sp>
      <p:sp>
        <p:nvSpPr>
          <p:cNvPr id="47" name="slide2-session-box">
            <a:extLst xmlns:a="http://schemas.openxmlformats.org/drawingml/2006/main">
              <a:ext uri="{FF2B5EF4-FFF2-40B4-BE49-F238E27FC236}">
                <a16:creationId xmlns:a16="http://schemas.microsoft.com/office/drawing/2014/main" id="{FA467D2E-7A20-4EA6-A594-D82EAE8A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24350"/>
            <a:ext cx="1714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C9C9C9"/>
            </a:solidFill>
            <a:prstDash val="solid"/>
          </a:ln>
        </p:spPr>
      </p:sp>
      <p:sp>
        <p:nvSpPr>
          <p:cNvPr id="48" name="slide2-session-label">
            <a:extLst xmlns:a="http://schemas.openxmlformats.org/drawingml/2006/main">
              <a:ext uri="{FF2B5EF4-FFF2-40B4-BE49-F238E27FC236}">
                <a16:creationId xmlns:a16="http://schemas.microsoft.com/office/drawing/2014/main" id="{6C315556-F6C0-419A-B5C6-8A70E67D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1960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49" name="slide2-session-title">
            <a:extLst xmlns:a="http://schemas.openxmlformats.org/drawingml/2006/main">
              <a:ext uri="{FF2B5EF4-FFF2-40B4-BE49-F238E27FC236}">
                <a16:creationId xmlns:a16="http://schemas.microsoft.com/office/drawing/2014/main" id="{F993E860-4C78-4FB4-B044-D8354296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101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세션 저장소</a:t>
            </a:r>
          </a:p>
        </p:txBody>
      </p:sp>
      <p:sp>
        <p:nvSpPr>
          <p:cNvPr id="50" name="slide2-session-body">
            <a:extLst xmlns:a="http://schemas.openxmlformats.org/drawingml/2006/main">
              <a:ext uri="{FF2B5EF4-FFF2-40B4-BE49-F238E27FC236}">
                <a16:creationId xmlns:a16="http://schemas.microsoft.com/office/drawing/2014/main" id="{58AC5396-BAF5-4B77-9C7C-0023D71E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43475"/>
            <a:ext cx="1409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대화·결과·파일 token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PostgreSQL / Memory</a:t>
            </a:r>
          </a:p>
        </p:txBody>
      </p:sp>
      <p:sp>
        <p:nvSpPr>
          <p:cNvPr id="51" name="slide-2-legend-main">
            <a:extLst xmlns:a="http://schemas.openxmlformats.org/drawingml/2006/main">
              <a:ext uri="{FF2B5EF4-FFF2-40B4-BE49-F238E27FC236}">
                <a16:creationId xmlns:a16="http://schemas.microsoft.com/office/drawing/2014/main" id="{57EBC367-1F19-4305-978B-B338C445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9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rPr>
              <a:t>●  질문 → 조회 → 결과의 주 흐름</a:t>
            </a:r>
          </a:p>
        </p:txBody>
      </p:sp>
      <p:sp>
        <p:nvSpPr>
          <p:cNvPr id="52" name="slide-2-legend-support">
            <a:extLst xmlns:a="http://schemas.openxmlformats.org/drawingml/2006/main">
              <a:ext uri="{FF2B5EF4-FFF2-40B4-BE49-F238E27FC236}">
                <a16:creationId xmlns:a16="http://schemas.microsoft.com/office/drawing/2014/main" id="{9EA8B0EE-2DF1-4305-96F1-21FFD7D4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905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—  업무지식·모델·세션의 보조 연결</a:t>
            </a:r>
          </a:p>
        </p:txBody>
      </p:sp>
      <p:sp>
        <p:nvSpPr>
          <p:cNvPr id="53" name="slide-2-note">
            <a:extLst xmlns:a="http://schemas.openxmlformats.org/drawingml/2006/main">
              <a:ext uri="{FF2B5EF4-FFF2-40B4-BE49-F238E27FC236}">
                <a16:creationId xmlns:a16="http://schemas.microsoft.com/office/drawing/2014/main" id="{C636BD94-F058-4C80-8301-5011311D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업무 DB는 조회 전용  /  세션 DB는 대화·결과 보관용  /  Redis는 선택적 캐시</a:t>
            </a:r>
          </a:p>
        </p:txBody>
      </p:sp>
      <p:sp>
        <p:nvSpPr>
          <p:cNvPr id="54" name="slide-2-footer-label">
            <a:extLst xmlns:a="http://schemas.openxmlformats.org/drawingml/2006/main">
              <a:ext uri="{FF2B5EF4-FFF2-40B4-BE49-F238E27FC236}">
                <a16:creationId xmlns:a16="http://schemas.microsoft.com/office/drawing/2014/main" id="{8AD196EB-7F89-4AB6-B1EE-08B532BE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KB Card Corporate Sales · Text2SQL V4 · As-Is</a:t>
            </a:r>
          </a:p>
        </p:txBody>
      </p:sp>
      <p:sp>
        <p:nvSpPr>
          <p:cNvPr id="55" name="slide-2-footer-number">
            <a:extLst xmlns:a="http://schemas.openxmlformats.org/drawingml/2006/main">
              <a:ext uri="{FF2B5EF4-FFF2-40B4-BE49-F238E27FC236}">
                <a16:creationId xmlns:a16="http://schemas.microsoft.com/office/drawing/2014/main" id="{9E3085E1-8EA3-4571-926F-249A23C2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49902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EB609BB-43B4-4288-8C2A-2B72584C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질문은 7단계를 거쳐 답변이 됩니다</a:t>
            </a:r>
          </a:p>
        </p:txBody>
      </p:sp>
      <p:sp>
        <p:nvSpPr>
          <p:cNvPr id="2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0B0FB8BD-2CB2-49F4-9820-5A67DBC7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표준 업무는 검증된 경로를 우선 사용하고, 새로운 질문만 AI 생성 SQL 경로로 보냅니다.</a:t>
            </a:r>
          </a:p>
        </p:txBody>
      </p:sp>
      <p:sp>
        <p:nvSpPr>
          <p:cNvPr id="3" name="slide-3-accent-line">
            <a:extLst xmlns:a="http://schemas.openxmlformats.org/drawingml/2006/main">
              <a:ext uri="{FF2B5EF4-FFF2-40B4-BE49-F238E27FC236}">
                <a16:creationId xmlns:a16="http://schemas.microsoft.com/office/drawing/2014/main" id="{4A1E001B-B752-44A9-AA03-72C82D1B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3-input-anchor">
            <a:extLst xmlns:a="http://schemas.openxmlformats.org/drawingml/2006/main">
              <a:ext uri="{FF2B5EF4-FFF2-40B4-BE49-F238E27FC236}">
                <a16:creationId xmlns:a16="http://schemas.microsoft.com/office/drawing/2014/main" id="{3C1EF3D8-F43B-41A4-8AAA-4B9CB439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slide3-process-anchor">
            <a:extLst xmlns:a="http://schemas.openxmlformats.org/drawingml/2006/main">
              <a:ext uri="{FF2B5EF4-FFF2-40B4-BE49-F238E27FC236}">
                <a16:creationId xmlns:a16="http://schemas.microsoft.com/office/drawing/2014/main" id="{73A15B7B-8D67-4ABF-8D5C-B49E8D2D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slide3-output-anchor">
            <a:extLst xmlns:a="http://schemas.openxmlformats.org/drawingml/2006/main">
              <a:ext uri="{FF2B5EF4-FFF2-40B4-BE49-F238E27FC236}">
                <a16:creationId xmlns:a16="http://schemas.microsoft.com/office/drawing/2014/main" id="{C23B42C3-02A9-4DBA-81D5-5E8D0796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90950" y="35337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762875" y="35337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sp>
        <p:nvSpPr>
          <p:cNvPr id="9" name="slide3-input-card">
            <a:extLst xmlns:a="http://schemas.openxmlformats.org/drawingml/2006/main">
              <a:ext uri="{FF2B5EF4-FFF2-40B4-BE49-F238E27FC236}">
                <a16:creationId xmlns:a16="http://schemas.microsoft.com/office/drawing/2014/main" id="{094FA9D4-5B2B-4F19-B25C-6BBD0AE8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0" name="slide3-input-phase">
            <a:extLst xmlns:a="http://schemas.openxmlformats.org/drawingml/2006/main">
              <a:ext uri="{FF2B5EF4-FFF2-40B4-BE49-F238E27FC236}">
                <a16:creationId xmlns:a16="http://schemas.microsoft.com/office/drawing/2014/main" id="{41DB3549-60FB-4C92-AE28-9D356A82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1" name="slide3-input-title">
            <a:extLst xmlns:a="http://schemas.openxmlformats.org/drawingml/2006/main">
              <a:ext uri="{FF2B5EF4-FFF2-40B4-BE49-F238E27FC236}">
                <a16:creationId xmlns:a16="http://schemas.microsoft.com/office/drawing/2014/main" id="{12ABA827-F46B-495B-A45C-A2A56D1C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질문 이해</a:t>
            </a:r>
          </a:p>
        </p:txBody>
      </p:sp>
      <p:sp>
        <p:nvSpPr>
          <p:cNvPr id="12" name="slide3-input-step-1">
            <a:extLst xmlns:a="http://schemas.openxmlformats.org/drawingml/2006/main">
              <a:ext uri="{FF2B5EF4-FFF2-40B4-BE49-F238E27FC236}">
                <a16:creationId xmlns:a16="http://schemas.microsoft.com/office/drawing/2014/main" id="{7B8B8B1D-2729-4F44-B1B1-2513FEEE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3" name="slide3-input-step-1-text">
            <a:extLst xmlns:a="http://schemas.openxmlformats.org/drawingml/2006/main">
              <a:ext uri="{FF2B5EF4-FFF2-40B4-BE49-F238E27FC236}">
                <a16:creationId xmlns:a16="http://schemas.microsoft.com/office/drawing/2014/main" id="{5B4A4989-E857-45A5-8229-5701CE13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2417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자연어 질문과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기간·대상·지표 접수</a:t>
            </a:r>
          </a:p>
        </p:txBody>
      </p:sp>
      <p:sp>
        <p:nvSpPr>
          <p:cNvPr id="14" name="slide3-input-step-2">
            <a:extLst xmlns:a="http://schemas.openxmlformats.org/drawingml/2006/main">
              <a:ext uri="{FF2B5EF4-FFF2-40B4-BE49-F238E27FC236}">
                <a16:creationId xmlns:a16="http://schemas.microsoft.com/office/drawing/2014/main" id="{2FA7A401-6DEE-4CCE-9215-0AFF114C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slide3-input-step-2-text">
            <a:extLst xmlns:a="http://schemas.openxmlformats.org/drawingml/2006/main">
              <a:ext uri="{FF2B5EF4-FFF2-40B4-BE49-F238E27FC236}">
                <a16:creationId xmlns:a16="http://schemas.microsoft.com/office/drawing/2014/main" id="{1861444A-B36E-422F-9FBE-CB82F0A4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8142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질문 유형과 6개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업무영역 중 하나 선택</a:t>
            </a:r>
          </a:p>
        </p:txBody>
      </p:sp>
      <p:sp>
        <p:nvSpPr>
          <p:cNvPr id="16" name="slide3-input-step-↺">
            <a:extLst xmlns:a="http://schemas.openxmlformats.org/drawingml/2006/main">
              <a:ext uri="{FF2B5EF4-FFF2-40B4-BE49-F238E27FC236}">
                <a16:creationId xmlns:a16="http://schemas.microsoft.com/office/drawing/2014/main" id="{25FEAF9E-1B4D-4ABA-8721-ECFFD839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↺</a:t>
            </a:r>
          </a:p>
        </p:txBody>
      </p:sp>
      <p:sp>
        <p:nvSpPr>
          <p:cNvPr id="17" name="slide3-input-step-↺-text">
            <a:extLst xmlns:a="http://schemas.openxmlformats.org/drawingml/2006/main">
              <a:ext uri="{FF2B5EF4-FFF2-40B4-BE49-F238E27FC236}">
                <a16:creationId xmlns:a16="http://schemas.microsoft.com/office/drawing/2014/main" id="{F0A53498-9297-473A-B22F-D77F4DE6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386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조건이 부족하면 추측하지 않고 추가 입력 요청</a:t>
            </a:r>
          </a:p>
        </p:txBody>
      </p:sp>
      <p:sp>
        <p:nvSpPr>
          <p:cNvPr id="18" name="slide3-process-card">
            <a:extLst xmlns:a="http://schemas.openxmlformats.org/drawingml/2006/main">
              <a:ext uri="{FF2B5EF4-FFF2-40B4-BE49-F238E27FC236}">
                <a16:creationId xmlns:a16="http://schemas.microsoft.com/office/drawing/2014/main" id="{E716831A-6EA6-4D96-A66B-00A736A9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23813">
            <a:solidFill>
              <a:srgbClr val="FFCC00"/>
            </a:solidFill>
            <a:prstDash val="solid"/>
          </a:ln>
        </p:spPr>
      </p:sp>
      <p:sp>
        <p:nvSpPr>
          <p:cNvPr id="19" name="slide3-process-phase">
            <a:extLst xmlns:a="http://schemas.openxmlformats.org/drawingml/2006/main">
              <a:ext uri="{FF2B5EF4-FFF2-40B4-BE49-F238E27FC236}">
                <a16:creationId xmlns:a16="http://schemas.microsoft.com/office/drawing/2014/main" id="{A4497480-B700-4771-9986-187CD605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rPr>
              <a:t>PROCESS</a:t>
            </a:r>
          </a:p>
        </p:txBody>
      </p:sp>
      <p:sp>
        <p:nvSpPr>
          <p:cNvPr id="20" name="slide3-process-title">
            <a:extLst xmlns:a="http://schemas.openxmlformats.org/drawingml/2006/main">
              <a:ext uri="{FF2B5EF4-FFF2-40B4-BE49-F238E27FC236}">
                <a16:creationId xmlns:a16="http://schemas.microsoft.com/office/drawing/2014/main" id="{3DE78CDF-9503-48B3-A212-D2244360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안전한 조회</a:t>
            </a:r>
          </a:p>
        </p:txBody>
      </p:sp>
      <p:sp>
        <p:nvSpPr>
          <p:cNvPr id="21" name="slide3-process-step-3">
            <a:extLst xmlns:a="http://schemas.openxmlformats.org/drawingml/2006/main">
              <a:ext uri="{FF2B5EF4-FFF2-40B4-BE49-F238E27FC236}">
                <a16:creationId xmlns:a16="http://schemas.microsoft.com/office/drawing/2014/main" id="{18E473D2-AB9F-485E-BC5A-11BC07E7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slide3-process-step-3-text">
            <a:extLst xmlns:a="http://schemas.openxmlformats.org/drawingml/2006/main">
              <a:ext uri="{FF2B5EF4-FFF2-40B4-BE49-F238E27FC236}">
                <a16:creationId xmlns:a16="http://schemas.microsoft.com/office/drawing/2014/main" id="{A89BE53E-60EA-4A8B-A049-4B85DA4F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241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실행 경로 선택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검증 SQL · Tool · AI 생성</a:t>
            </a:r>
          </a:p>
        </p:txBody>
      </p:sp>
      <p:sp>
        <p:nvSpPr>
          <p:cNvPr id="23" name="slide3-process-step-4">
            <a:extLst xmlns:a="http://schemas.openxmlformats.org/drawingml/2006/main">
              <a:ext uri="{FF2B5EF4-FFF2-40B4-BE49-F238E27FC236}">
                <a16:creationId xmlns:a16="http://schemas.microsoft.com/office/drawing/2014/main" id="{14585AB2-1CD3-4935-B6BB-F434F99E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33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4" name="slide3-process-step-4-text">
            <a:extLst xmlns:a="http://schemas.openxmlformats.org/drawingml/2006/main">
              <a:ext uri="{FF2B5EF4-FFF2-40B4-BE49-F238E27FC236}">
                <a16:creationId xmlns:a16="http://schemas.microsoft.com/office/drawing/2014/main" id="{B5185599-3FC9-40FF-BDD2-DD0196E0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242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Semantic Layer로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테이블·지표·조인 적용</a:t>
            </a:r>
          </a:p>
        </p:txBody>
      </p:sp>
      <p:sp>
        <p:nvSpPr>
          <p:cNvPr id="25" name="slide3-process-step-5">
            <a:extLst xmlns:a="http://schemas.openxmlformats.org/drawingml/2006/main">
              <a:ext uri="{FF2B5EF4-FFF2-40B4-BE49-F238E27FC236}">
                <a16:creationId xmlns:a16="http://schemas.microsoft.com/office/drawing/2014/main" id="{F1F4881E-FC1E-4B70-8CB4-2B6F03B5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33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6" name="slide3-process-step-5-text">
            <a:extLst xmlns:a="http://schemas.openxmlformats.org/drawingml/2006/main">
              <a:ext uri="{FF2B5EF4-FFF2-40B4-BE49-F238E27FC236}">
                <a16:creationId xmlns:a16="http://schemas.microsoft.com/office/drawing/2014/main" id="{D7DE0E4F-978C-4D7E-946F-56F0A357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243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SQL 검증 후 Athena /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PostgreSQL 읽기 전용 조회</a:t>
            </a:r>
          </a:p>
        </p:txBody>
      </p:sp>
      <p:sp>
        <p:nvSpPr>
          <p:cNvPr id="27" name="slide3-output-card">
            <a:extLst xmlns:a="http://schemas.openxmlformats.org/drawingml/2006/main">
              <a:ext uri="{FF2B5EF4-FFF2-40B4-BE49-F238E27FC236}">
                <a16:creationId xmlns:a16="http://schemas.microsoft.com/office/drawing/2014/main" id="{5B4D1657-8B21-416E-AD5B-6E59B7BD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28" name="slide3-output-phase">
            <a:extLst xmlns:a="http://schemas.openxmlformats.org/drawingml/2006/main">
              <a:ext uri="{FF2B5EF4-FFF2-40B4-BE49-F238E27FC236}">
                <a16:creationId xmlns:a16="http://schemas.microsoft.com/office/drawing/2014/main" id="{457EF408-1247-469C-9122-14DE4E41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OUTPUT</a:t>
            </a:r>
          </a:p>
        </p:txBody>
      </p:sp>
      <p:sp>
        <p:nvSpPr>
          <p:cNvPr id="29" name="slide3-output-title">
            <a:extLst xmlns:a="http://schemas.openxmlformats.org/drawingml/2006/main">
              <a:ext uri="{FF2B5EF4-FFF2-40B4-BE49-F238E27FC236}">
                <a16:creationId xmlns:a16="http://schemas.microsoft.com/office/drawing/2014/main" id="{4A4E888D-DA5C-496A-B47A-68FCA3B5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결과 활용</a:t>
            </a:r>
          </a:p>
        </p:txBody>
      </p:sp>
      <p:sp>
        <p:nvSpPr>
          <p:cNvPr id="30" name="slide3-output-step-6">
            <a:extLst xmlns:a="http://schemas.openxmlformats.org/drawingml/2006/main">
              <a:ext uri="{FF2B5EF4-FFF2-40B4-BE49-F238E27FC236}">
                <a16:creationId xmlns:a16="http://schemas.microsoft.com/office/drawing/2014/main" id="{734CF0F0-F0AF-408D-9B45-A715F55B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31" name="slide3-output-step-6-text">
            <a:extLst xmlns:a="http://schemas.openxmlformats.org/drawingml/2006/main">
              <a:ext uri="{FF2B5EF4-FFF2-40B4-BE49-F238E27FC236}">
                <a16:creationId xmlns:a16="http://schemas.microsoft.com/office/drawing/2014/main" id="{2287FE6F-7AB2-4909-AF20-2F0C5DF8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241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한국어 요약·결과 저장·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SSE 스트리밍 전달</a:t>
            </a:r>
          </a:p>
        </p:txBody>
      </p:sp>
      <p:sp>
        <p:nvSpPr>
          <p:cNvPr id="32" name="slide3-output-step-7">
            <a:extLst xmlns:a="http://schemas.openxmlformats.org/drawingml/2006/main">
              <a:ext uri="{FF2B5EF4-FFF2-40B4-BE49-F238E27FC236}">
                <a16:creationId xmlns:a16="http://schemas.microsoft.com/office/drawing/2014/main" id="{321F103E-B0E9-4112-B5A6-560EFAA0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90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33" name="slide3-output-step-7-text">
            <a:extLst xmlns:a="http://schemas.openxmlformats.org/drawingml/2006/main">
              <a:ext uri="{FF2B5EF4-FFF2-40B4-BE49-F238E27FC236}">
                <a16:creationId xmlns:a16="http://schemas.microsoft.com/office/drawing/2014/main" id="{644D8262-E531-4FC5-8419-72146F7F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8142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표·실행 SQL·차트·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후속 분석·파일 다운로드</a:t>
            </a:r>
          </a:p>
        </p:txBody>
      </p:sp>
      <p:sp>
        <p:nvSpPr>
          <p:cNvPr id="34" name="slide3-output-step-+">
            <a:extLst xmlns:a="http://schemas.openxmlformats.org/drawingml/2006/main">
              <a:ext uri="{FF2B5EF4-FFF2-40B4-BE49-F238E27FC236}">
                <a16:creationId xmlns:a16="http://schemas.microsoft.com/office/drawing/2014/main" id="{E29505B2-2C10-4286-9810-48873B0E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48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35" name="slide3-output-step-+-text">
            <a:extLst xmlns:a="http://schemas.openxmlformats.org/drawingml/2006/main">
              <a:ext uri="{FF2B5EF4-FFF2-40B4-BE49-F238E27FC236}">
                <a16:creationId xmlns:a16="http://schemas.microsoft.com/office/drawing/2014/main" id="{73891046-EF57-466A-985B-0ACDD191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386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정렬·필터·차트는 기존 결과를 먼저 재사용</a:t>
            </a:r>
          </a:p>
        </p:txBody>
      </p:sp>
      <p:sp>
        <p:nvSpPr>
          <p:cNvPr id="36" name="slide-3-bottom-band">
            <a:extLst xmlns:a="http://schemas.openxmlformats.org/drawingml/2006/main">
              <a:ext uri="{FF2B5EF4-FFF2-40B4-BE49-F238E27FC236}">
                <a16:creationId xmlns:a16="http://schemas.microsoft.com/office/drawing/2014/main" id="{62D7A03F-A773-4893-B87D-3B50586F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2776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lide-3-bottom-band-text">
            <a:extLst xmlns:a="http://schemas.openxmlformats.org/drawingml/2006/main">
              <a:ext uri="{FF2B5EF4-FFF2-40B4-BE49-F238E27FC236}">
                <a16:creationId xmlns:a16="http://schemas.microsoft.com/office/drawing/2014/main" id="{7478629F-D50A-4462-9A8C-2FBC29AD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최종 Output  |  요약 답변 · 결과표 · 실행 SQL · 차트 · Word / Excel / CSV / TXT</a:t>
            </a:r>
          </a:p>
        </p:txBody>
      </p:sp>
      <p:sp>
        <p:nvSpPr>
          <p:cNvPr id="38" name="slide-3-footer-label">
            <a:extLst xmlns:a="http://schemas.openxmlformats.org/drawingml/2006/main">
              <a:ext uri="{FF2B5EF4-FFF2-40B4-BE49-F238E27FC236}">
                <a16:creationId xmlns:a16="http://schemas.microsoft.com/office/drawing/2014/main" id="{5C900292-66D7-4B30-B98A-E0D94D38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KB Card Corporate Sales · Text2SQL V4 · As-Is</a:t>
            </a:r>
          </a:p>
        </p:txBody>
      </p:sp>
      <p:sp>
        <p:nvSpPr>
          <p:cNvPr id="39" name="slide-3-footer-number">
            <a:extLst xmlns:a="http://schemas.openxmlformats.org/drawingml/2006/main">
              <a:ext uri="{FF2B5EF4-FFF2-40B4-BE49-F238E27FC236}">
                <a16:creationId xmlns:a16="http://schemas.microsoft.com/office/drawing/2014/main" id="{CD45278E-FDB5-4B48-BC40-9E540717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45623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EB609BB-43B4-4288-8C2A-2B72584C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현재 구현된 기능은 질문에서 재활용까지 이어집니다</a:t>
            </a:r>
          </a:p>
        </p:txBody>
      </p:sp>
      <p:sp>
        <p:nvSpPr>
          <p:cNvPr id="2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0B0FB8BD-2CB2-49F4-9820-5A67DBC7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사용자 여정 기준으로 입력·조회·출력·후속 분석 기능을 정리했습니다.</a:t>
            </a:r>
          </a:p>
        </p:txBody>
      </p:sp>
      <p:sp>
        <p:nvSpPr>
          <p:cNvPr id="3" name="slide-3-accent-line">
            <a:extLst xmlns:a="http://schemas.openxmlformats.org/drawingml/2006/main">
              <a:ext uri="{FF2B5EF4-FFF2-40B4-BE49-F238E27FC236}">
                <a16:creationId xmlns:a16="http://schemas.microsoft.com/office/drawing/2014/main" id="{4A1E001B-B752-44A9-AA03-72C82D1B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3-input-anchor">
            <a:extLst xmlns:a="http://schemas.openxmlformats.org/drawingml/2006/main">
              <a:ext uri="{FF2B5EF4-FFF2-40B4-BE49-F238E27FC236}">
                <a16:creationId xmlns:a16="http://schemas.microsoft.com/office/drawing/2014/main" id="{3C1EF3D8-F43B-41A4-8AAA-4B9CB439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slide3-process-anchor">
            <a:extLst xmlns:a="http://schemas.openxmlformats.org/drawingml/2006/main">
              <a:ext uri="{FF2B5EF4-FFF2-40B4-BE49-F238E27FC236}">
                <a16:creationId xmlns:a16="http://schemas.microsoft.com/office/drawing/2014/main" id="{73A15B7B-8D67-4ABF-8D5C-B49E8D2D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slide3-output-anchor">
            <a:extLst xmlns:a="http://schemas.openxmlformats.org/drawingml/2006/main">
              <a:ext uri="{FF2B5EF4-FFF2-40B4-BE49-F238E27FC236}">
                <a16:creationId xmlns:a16="http://schemas.microsoft.com/office/drawing/2014/main" id="{C23B42C3-02A9-4DBA-81D5-5E8D0796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90950" y="35337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762875" y="35337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sp>
        <p:nvSpPr>
          <p:cNvPr id="9" name="slide3-input-card">
            <a:extLst xmlns:a="http://schemas.openxmlformats.org/drawingml/2006/main">
              <a:ext uri="{FF2B5EF4-FFF2-40B4-BE49-F238E27FC236}">
                <a16:creationId xmlns:a16="http://schemas.microsoft.com/office/drawing/2014/main" id="{094FA9D4-5B2B-4F19-B25C-6BBD0AE8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0" name="slide3-input-phase">
            <a:extLst xmlns:a="http://schemas.openxmlformats.org/drawingml/2006/main">
              <a:ext uri="{FF2B5EF4-FFF2-40B4-BE49-F238E27FC236}">
                <a16:creationId xmlns:a16="http://schemas.microsoft.com/office/drawing/2014/main" id="{41DB3549-60FB-4C92-AE28-9D356A82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INPUT</a:t>
            </a:r>
          </a:p>
        </p:txBody>
      </p:sp>
      <p:sp>
        <p:nvSpPr>
          <p:cNvPr id="11" name="slide3-input-title">
            <a:extLst xmlns:a="http://schemas.openxmlformats.org/drawingml/2006/main">
              <a:ext uri="{FF2B5EF4-FFF2-40B4-BE49-F238E27FC236}">
                <a16:creationId xmlns:a16="http://schemas.microsoft.com/office/drawing/2014/main" id="{12ABA827-F46B-495B-A45C-A2A56D1C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질문과 세션</a:t>
            </a:r>
          </a:p>
        </p:txBody>
      </p:sp>
      <p:sp>
        <p:nvSpPr>
          <p:cNvPr id="12" name="slide3-input-step-1">
            <a:extLst xmlns:a="http://schemas.openxmlformats.org/drawingml/2006/main">
              <a:ext uri="{FF2B5EF4-FFF2-40B4-BE49-F238E27FC236}">
                <a16:creationId xmlns:a16="http://schemas.microsoft.com/office/drawing/2014/main" id="{7B8B8B1D-2729-4F44-B1B1-2513FEEE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3" name="slide3-input-step-1-text">
            <a:extLst xmlns:a="http://schemas.openxmlformats.org/drawingml/2006/main">
              <a:ext uri="{FF2B5EF4-FFF2-40B4-BE49-F238E27FC236}">
                <a16:creationId xmlns:a16="http://schemas.microsoft.com/office/drawing/2014/main" id="{5B4A4989-E857-45A5-8229-5701CE13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2417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예시 질문·가이드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자연어·직접 SQL 입력</a:t>
            </a:r>
          </a:p>
        </p:txBody>
      </p:sp>
      <p:sp>
        <p:nvSpPr>
          <p:cNvPr id="14" name="slide3-input-step-2">
            <a:extLst xmlns:a="http://schemas.openxmlformats.org/drawingml/2006/main">
              <a:ext uri="{FF2B5EF4-FFF2-40B4-BE49-F238E27FC236}">
                <a16:creationId xmlns:a16="http://schemas.microsoft.com/office/drawing/2014/main" id="{2FA7A401-6DEE-4CCE-9215-0AFF114C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slide3-input-step-2-text">
            <a:extLst xmlns:a="http://schemas.openxmlformats.org/drawingml/2006/main">
              <a:ext uri="{FF2B5EF4-FFF2-40B4-BE49-F238E27FC236}">
                <a16:creationId xmlns:a16="http://schemas.microsoft.com/office/drawing/2014/main" id="{1861444A-B36E-422F-9FBE-CB82F0A4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8142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기간·대상 추가조건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관리기업 목록 적용</a:t>
            </a:r>
          </a:p>
        </p:txBody>
      </p:sp>
      <p:sp>
        <p:nvSpPr>
          <p:cNvPr id="16" name="slide3-input-step-↺">
            <a:extLst xmlns:a="http://schemas.openxmlformats.org/drawingml/2006/main">
              <a:ext uri="{FF2B5EF4-FFF2-40B4-BE49-F238E27FC236}">
                <a16:creationId xmlns:a16="http://schemas.microsoft.com/office/drawing/2014/main" id="{25FEAF9E-1B4D-4ABA-8721-ECFFD839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slide3-input-step-↺-text">
            <a:extLst xmlns:a="http://schemas.openxmlformats.org/drawingml/2006/main">
              <a:ext uri="{FF2B5EF4-FFF2-40B4-BE49-F238E27FC236}">
                <a16:creationId xmlns:a16="http://schemas.microsoft.com/office/drawing/2014/main" id="{F0A53498-9297-473A-B22F-D77F4DE6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386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세션·저장 질문
필수값 continuation</a:t>
            </a:r>
          </a:p>
        </p:txBody>
      </p:sp>
      <p:sp>
        <p:nvSpPr>
          <p:cNvPr id="18" name="slide3-process-card">
            <a:extLst xmlns:a="http://schemas.openxmlformats.org/drawingml/2006/main">
              <a:ext uri="{FF2B5EF4-FFF2-40B4-BE49-F238E27FC236}">
                <a16:creationId xmlns:a16="http://schemas.microsoft.com/office/drawing/2014/main" id="{E716831A-6EA6-4D96-A66B-00A736A9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23813">
            <a:solidFill>
              <a:srgbClr val="FFCC00"/>
            </a:solidFill>
            <a:prstDash val="solid"/>
          </a:ln>
        </p:spPr>
      </p:sp>
      <p:sp>
        <p:nvSpPr>
          <p:cNvPr id="19" name="slide3-process-phase">
            <a:extLst xmlns:a="http://schemas.openxmlformats.org/drawingml/2006/main">
              <a:ext uri="{FF2B5EF4-FFF2-40B4-BE49-F238E27FC236}">
                <a16:creationId xmlns:a16="http://schemas.microsoft.com/office/drawing/2014/main" id="{A4497480-B700-4771-9986-187CD605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rPr>
              <a:t>PROCESS</a:t>
            </a:r>
          </a:p>
        </p:txBody>
      </p:sp>
      <p:sp>
        <p:nvSpPr>
          <p:cNvPr id="20" name="slide3-process-title">
            <a:extLst xmlns:a="http://schemas.openxmlformats.org/drawingml/2006/main">
              <a:ext uri="{FF2B5EF4-FFF2-40B4-BE49-F238E27FC236}">
                <a16:creationId xmlns:a16="http://schemas.microsoft.com/office/drawing/2014/main" id="{3DE78CDF-9503-48B3-A212-D2244360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조회와 검증</a:t>
            </a:r>
          </a:p>
        </p:txBody>
      </p:sp>
      <p:sp>
        <p:nvSpPr>
          <p:cNvPr id="21" name="slide3-process-step-3">
            <a:extLst xmlns:a="http://schemas.openxmlformats.org/drawingml/2006/main">
              <a:ext uri="{FF2B5EF4-FFF2-40B4-BE49-F238E27FC236}">
                <a16:creationId xmlns:a16="http://schemas.microsoft.com/office/drawing/2014/main" id="{18E473D2-AB9F-485E-BC5A-11BC07E7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2" name="slide3-process-step-3-text">
            <a:extLst xmlns:a="http://schemas.openxmlformats.org/drawingml/2006/main">
              <a:ext uri="{FF2B5EF4-FFF2-40B4-BE49-F238E27FC236}">
                <a16:creationId xmlns:a16="http://schemas.microsoft.com/office/drawing/2014/main" id="{A89BE53E-60EA-4A8B-A049-4B85DA4F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241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질문 분류·도메인 선택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Tool · Verified Query</a:t>
            </a:r>
          </a:p>
        </p:txBody>
      </p:sp>
      <p:sp>
        <p:nvSpPr>
          <p:cNvPr id="23" name="slide3-process-step-4">
            <a:extLst xmlns:a="http://schemas.openxmlformats.org/drawingml/2006/main">
              <a:ext uri="{FF2B5EF4-FFF2-40B4-BE49-F238E27FC236}">
                <a16:creationId xmlns:a16="http://schemas.microsoft.com/office/drawing/2014/main" id="{14585AB2-1CD3-4935-B6BB-F434F99E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33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4" name="slide3-process-step-4-text">
            <a:extLst xmlns:a="http://schemas.openxmlformats.org/drawingml/2006/main">
              <a:ext uri="{FF2B5EF4-FFF2-40B4-BE49-F238E27FC236}">
                <a16:creationId xmlns:a16="http://schemas.microsoft.com/office/drawing/2014/main" id="{B5185599-3FC9-40FF-BDD2-DD0196E0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242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Semantic Layer 기반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테이블·지표·JOIN 적용</a:t>
            </a:r>
          </a:p>
        </p:txBody>
      </p:sp>
      <p:sp>
        <p:nvSpPr>
          <p:cNvPr id="25" name="slide3-process-step-5">
            <a:extLst xmlns:a="http://schemas.openxmlformats.org/drawingml/2006/main">
              <a:ext uri="{FF2B5EF4-FFF2-40B4-BE49-F238E27FC236}">
                <a16:creationId xmlns:a16="http://schemas.microsoft.com/office/drawing/2014/main" id="{F1F4881E-FC1E-4B70-8CB4-2B6F03B5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33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26" name="slide3-process-step-5-text">
            <a:extLst xmlns:a="http://schemas.openxmlformats.org/drawingml/2006/main">
              <a:ext uri="{FF2B5EF4-FFF2-40B4-BE49-F238E27FC236}">
                <a16:creationId xmlns:a16="http://schemas.microsoft.com/office/drawing/2014/main" id="{D7DE0E4F-978C-4D7E-946F-56F0A357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243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SQL 검증·읽기 전용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PostgreSQL / Athena</a:t>
            </a:r>
          </a:p>
        </p:txBody>
      </p:sp>
      <p:sp>
        <p:nvSpPr>
          <p:cNvPr id="27" name="slide3-output-card">
            <a:extLst xmlns:a="http://schemas.openxmlformats.org/drawingml/2006/main">
              <a:ext uri="{FF2B5EF4-FFF2-40B4-BE49-F238E27FC236}">
                <a16:creationId xmlns:a16="http://schemas.microsoft.com/office/drawing/2014/main" id="{5B4D1657-8B21-416E-AD5B-6E59B7BD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28" name="slide3-output-phase">
            <a:extLst xmlns:a="http://schemas.openxmlformats.org/drawingml/2006/main">
              <a:ext uri="{FF2B5EF4-FFF2-40B4-BE49-F238E27FC236}">
                <a16:creationId xmlns:a16="http://schemas.microsoft.com/office/drawing/2014/main" id="{457EF408-1247-469C-9122-14DE4E41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OUTPUT</a:t>
            </a:r>
          </a:p>
        </p:txBody>
      </p:sp>
      <p:sp>
        <p:nvSpPr>
          <p:cNvPr id="29" name="slide3-output-title">
            <a:extLst xmlns:a="http://schemas.openxmlformats.org/drawingml/2006/main">
              <a:ext uri="{FF2B5EF4-FFF2-40B4-BE49-F238E27FC236}">
                <a16:creationId xmlns:a16="http://schemas.microsoft.com/office/drawing/2014/main" id="{4A4E888D-DA5C-496A-B47A-68FCA3B5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결과와 재사용</a:t>
            </a:r>
          </a:p>
        </p:txBody>
      </p:sp>
      <p:sp>
        <p:nvSpPr>
          <p:cNvPr id="30" name="slide3-output-step-6">
            <a:extLst xmlns:a="http://schemas.openxmlformats.org/drawingml/2006/main">
              <a:ext uri="{FF2B5EF4-FFF2-40B4-BE49-F238E27FC236}">
                <a16:creationId xmlns:a16="http://schemas.microsoft.com/office/drawing/2014/main" id="{734CF0F0-F0AF-408D-9B45-A715F55B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31" name="slide3-output-step-6-text">
            <a:extLst xmlns:a="http://schemas.openxmlformats.org/drawingml/2006/main">
              <a:ext uri="{FF2B5EF4-FFF2-40B4-BE49-F238E27FC236}">
                <a16:creationId xmlns:a16="http://schemas.microsoft.com/office/drawing/2014/main" id="{2287FE6F-7AB2-4909-AF20-2F0C5DF8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241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SSE 진행상태·요약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표·실행 SQL·조건</a:t>
            </a:r>
          </a:p>
        </p:txBody>
      </p:sp>
      <p:sp>
        <p:nvSpPr>
          <p:cNvPr id="32" name="slide3-output-step-7">
            <a:extLst xmlns:a="http://schemas.openxmlformats.org/drawingml/2006/main">
              <a:ext uri="{FF2B5EF4-FFF2-40B4-BE49-F238E27FC236}">
                <a16:creationId xmlns:a16="http://schemas.microsoft.com/office/drawing/2014/main" id="{321F103E-B0E9-4112-B5A6-560EFAA0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90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33" name="slide3-output-step-7-text">
            <a:extLst xmlns:a="http://schemas.openxmlformats.org/drawingml/2006/main">
              <a:ext uri="{FF2B5EF4-FFF2-40B4-BE49-F238E27FC236}">
                <a16:creationId xmlns:a16="http://schemas.microsoft.com/office/drawing/2014/main" id="{644D8262-E531-4FC5-8419-72146F7F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8142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후속 필터·정렬·집계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막대·선·원형 차트</a:t>
            </a:r>
          </a:p>
        </p:txBody>
      </p:sp>
      <p:sp>
        <p:nvSpPr>
          <p:cNvPr id="34" name="slide3-output-step-+">
            <a:extLst xmlns:a="http://schemas.openxmlformats.org/drawingml/2006/main">
              <a:ext uri="{FF2B5EF4-FFF2-40B4-BE49-F238E27FC236}">
                <a16:creationId xmlns:a16="http://schemas.microsoft.com/office/drawing/2014/main" id="{E29505B2-2C10-4286-9810-48873B0E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48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  <p:sp>
        <p:nvSpPr>
          <p:cNvPr id="35" name="slide3-output-step-+-text">
            <a:extLst xmlns:a="http://schemas.openxmlformats.org/drawingml/2006/main">
              <a:ext uri="{FF2B5EF4-FFF2-40B4-BE49-F238E27FC236}">
                <a16:creationId xmlns:a16="http://schemas.microsoft.com/office/drawing/2014/main" id="{73891046-EF57-466A-985B-0ACDD191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386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Word · Excel · CSV · TXT
결과 저장·다운로드</a:t>
            </a:r>
          </a:p>
        </p:txBody>
      </p:sp>
      <p:sp>
        <p:nvSpPr>
          <p:cNvPr id="36" name="slide-3-bottom-band">
            <a:extLst xmlns:a="http://schemas.openxmlformats.org/drawingml/2006/main">
              <a:ext uri="{FF2B5EF4-FFF2-40B4-BE49-F238E27FC236}">
                <a16:creationId xmlns:a16="http://schemas.microsoft.com/office/drawing/2014/main" id="{62D7A03F-A773-4893-B87D-3B50586F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2776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lide-3-bottom-band-text">
            <a:extLst xmlns:a="http://schemas.openxmlformats.org/drawingml/2006/main">
              <a:ext uri="{FF2B5EF4-FFF2-40B4-BE49-F238E27FC236}">
                <a16:creationId xmlns:a16="http://schemas.microsoft.com/office/drawing/2014/main" id="{7478629F-D50A-4462-9A8C-2FBC29AD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활용 Output  |  답변 · 결과표 · SQL · 근거 · 후속 분석 · 다운로드</a:t>
            </a:r>
          </a:p>
        </p:txBody>
      </p:sp>
      <p:sp>
        <p:nvSpPr>
          <p:cNvPr id="38" name="slide-3-footer-label">
            <a:extLst xmlns:a="http://schemas.openxmlformats.org/drawingml/2006/main">
              <a:ext uri="{FF2B5EF4-FFF2-40B4-BE49-F238E27FC236}">
                <a16:creationId xmlns:a16="http://schemas.microsoft.com/office/drawing/2014/main" id="{5C900292-66D7-4B30-B98A-E0D94D38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KB Card Corporate Sales · Text2SQL V4 · Appendix</a:t>
            </a:r>
          </a:p>
        </p:txBody>
      </p:sp>
      <p:sp>
        <p:nvSpPr>
          <p:cNvPr id="39" name="slide-3-footer-number">
            <a:extLst xmlns:a="http://schemas.openxmlformats.org/drawingml/2006/main">
              <a:ext uri="{FF2B5EF4-FFF2-40B4-BE49-F238E27FC236}">
                <a16:creationId xmlns:a16="http://schemas.microsoft.com/office/drawing/2014/main" id="{CD45278E-FDB5-4B48-BC40-9E540717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45623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3F5ED36-BAB0-4A79-9613-88A157CD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기술 스택은 한 서비스 안에서 역할별로 나뉩니다</a:t>
            </a:r>
          </a:p>
        </p:txBody>
      </p:sp>
      <p:sp>
        <p:nvSpPr>
          <p:cNvPr id="2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3BB11E49-A220-4814-9F33-2096AD76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브라우저부터 SQL 실행·세션·파일 변환까지 현재 저장소 구현을 기준으로 정리했습니다.</a:t>
            </a:r>
          </a:p>
        </p:txBody>
      </p:sp>
      <p:sp>
        <p:nvSpPr>
          <p:cNvPr id="3" name="slide-2-accent-line">
            <a:extLst xmlns:a="http://schemas.openxmlformats.org/drawingml/2006/main">
              <a:ext uri="{FF2B5EF4-FFF2-40B4-BE49-F238E27FC236}">
                <a16:creationId xmlns:a16="http://schemas.microsoft.com/office/drawing/2014/main" id="{CEA2D9CA-9734-460B-B89B-2495D84D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2-deploy-label">
            <a:extLst xmlns:a="http://schemas.openxmlformats.org/drawingml/2006/main">
              <a:ext uri="{FF2B5EF4-FFF2-40B4-BE49-F238E27FC236}">
                <a16:creationId xmlns:a16="http://schemas.microsoft.com/office/drawing/2014/main" id="{4BB542A1-9C75-4EC7-952F-3EFA6B2B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단일 Docker / Uvicorn 8080 서비스</a:t>
            </a:r>
          </a:p>
        </p:txBody>
      </p:sp>
      <p:sp>
        <p:nvSpPr>
          <p:cNvPr id="5" name="rule-48-248">
            <a:extLst xmlns:a="http://schemas.openxmlformats.org/drawingml/2006/main">
              <a:ext uri="{FF2B5EF4-FFF2-40B4-BE49-F238E27FC236}">
                <a16:creationId xmlns:a16="http://schemas.microsoft.com/office/drawing/2014/main" id="{43B065F2-8F4E-47BA-8B45-E72B8A6E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6" name="slide2-browser-anchor">
            <a:extLst xmlns:a="http://schemas.openxmlformats.org/drawingml/2006/main">
              <a:ext uri="{FF2B5EF4-FFF2-40B4-BE49-F238E27FC236}">
                <a16:creationId xmlns:a16="http://schemas.microsoft.com/office/drawing/2014/main" id="{C8562527-9777-4758-BAB1-C3A7B3A1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714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slide2-api-anchor">
            <a:extLst xmlns:a="http://schemas.openxmlformats.org/drawingml/2006/main">
              <a:ext uri="{FF2B5EF4-FFF2-40B4-BE49-F238E27FC236}">
                <a16:creationId xmlns:a16="http://schemas.microsoft.com/office/drawing/2014/main" id="{F1AD71C3-9070-4E41-962B-826C1D36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76500"/>
            <a:ext cx="1714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slide2-agent-anchor">
            <a:extLst xmlns:a="http://schemas.openxmlformats.org/drawingml/2006/main">
              <a:ext uri="{FF2B5EF4-FFF2-40B4-BE49-F238E27FC236}">
                <a16:creationId xmlns:a16="http://schemas.microsoft.com/office/drawing/2014/main" id="{7A0E1827-308F-4258-9BF5-A2EC8609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21907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slide2-db-anchor">
            <a:extLst xmlns:a="http://schemas.openxmlformats.org/drawingml/2006/main">
              <a:ext uri="{FF2B5EF4-FFF2-40B4-BE49-F238E27FC236}">
                <a16:creationId xmlns:a16="http://schemas.microsoft.com/office/drawing/2014/main" id="{FA3CBDB4-0661-411F-9277-01919CAF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76500"/>
            <a:ext cx="1809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slide2-output-anchor">
            <a:extLst xmlns:a="http://schemas.openxmlformats.org/drawingml/2006/main">
              <a:ext uri="{FF2B5EF4-FFF2-40B4-BE49-F238E27FC236}">
                <a16:creationId xmlns:a16="http://schemas.microsoft.com/office/drawing/2014/main" id="{982EFB8B-0E11-4CA9-90CC-63443AE6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76500"/>
            <a:ext cx="19431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slide2-knowledge-anchor">
            <a:extLst xmlns:a="http://schemas.openxmlformats.org/drawingml/2006/main">
              <a:ext uri="{FF2B5EF4-FFF2-40B4-BE49-F238E27FC236}">
                <a16:creationId xmlns:a16="http://schemas.microsoft.com/office/drawing/2014/main" id="{FCA0344B-35C9-4353-B2B3-87D3D78D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00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slide2-model-anchor">
            <a:extLst xmlns:a="http://schemas.openxmlformats.org/drawingml/2006/main">
              <a:ext uri="{FF2B5EF4-FFF2-40B4-BE49-F238E27FC236}">
                <a16:creationId xmlns:a16="http://schemas.microsoft.com/office/drawing/2014/main" id="{2F004928-4F97-415E-8F9B-4DFDF28A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2435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slide2-session-anchor">
            <a:extLst xmlns:a="http://schemas.openxmlformats.org/drawingml/2006/main">
              <a:ext uri="{FF2B5EF4-FFF2-40B4-BE49-F238E27FC236}">
                <a16:creationId xmlns:a16="http://schemas.microsoft.com/office/drawing/2014/main" id="{7A17D8DE-6D2A-40A4-A0BC-8CFA8245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24350"/>
            <a:ext cx="1714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17170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624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294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11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154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113" name=""/>
          <p:cNvCxnSpPr>
            <a:stCxn xmlns:a="http://schemas.openxmlformats.org/drawingml/2006/main" id="11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5934075" y="21526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8F94"/>
            </a:solidFill>
            <a:prstDash val="solid"/>
            <a:tailEnd type="triangle" w="sm" len="sm"/>
          </a:ln>
        </p:spPr>
      </p:cxnSp>
      <p:cxnSp>
        <p:nvCxnSpPr>
          <p:cNvPr id="114" name=""/>
          <p:cNvCxnSpPr>
            <a:stCxn xmlns:a="http://schemas.openxmlformats.org/drawingml/2006/main" id="12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5934075" y="40767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8F94"/>
            </a:solidFill>
            <a:prstDash val="solid"/>
            <a:tailEnd type="triangle" w="sm" len="sm"/>
          </a:ln>
        </p:spPr>
      </p:cxnSp>
      <p:cxnSp>
        <p:nvCxnSpPr>
          <p:cNvPr id="115" name=""/>
          <p:cNvCxnSpPr>
            <a:stCxn xmlns:a="http://schemas.openxmlformats.org/drawingml/2006/main" id="13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505200" y="39433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8F94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21" name="slide2-browser-box">
            <a:extLst xmlns:a="http://schemas.openxmlformats.org/drawingml/2006/main">
              <a:ext uri="{FF2B5EF4-FFF2-40B4-BE49-F238E27FC236}">
                <a16:creationId xmlns:a16="http://schemas.microsoft.com/office/drawing/2014/main" id="{0247218F-3AEE-4609-A128-F7EBDF2D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714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C9C9C9"/>
            </a:solidFill>
            <a:prstDash val="solid"/>
          </a:ln>
        </p:spPr>
      </p:sp>
      <p:sp>
        <p:nvSpPr>
          <p:cNvPr id="22" name="slide2-browser-label">
            <a:extLst xmlns:a="http://schemas.openxmlformats.org/drawingml/2006/main">
              <a:ext uri="{FF2B5EF4-FFF2-40B4-BE49-F238E27FC236}">
                <a16:creationId xmlns:a16="http://schemas.microsoft.com/office/drawing/2014/main" id="{53D3AB8C-8E11-4695-8767-8E9FD439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FRONTEND</a:t>
            </a:r>
          </a:p>
        </p:txBody>
      </p:sp>
      <p:sp>
        <p:nvSpPr>
          <p:cNvPr id="23" name="slide2-browser-title">
            <a:extLst xmlns:a="http://schemas.openxmlformats.org/drawingml/2006/main">
              <a:ext uri="{FF2B5EF4-FFF2-40B4-BE49-F238E27FC236}">
                <a16:creationId xmlns:a16="http://schemas.microsoft.com/office/drawing/2014/main" id="{322611E2-450A-42D9-9CF9-924F0836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Vanilla Web</a:t>
            </a:r>
          </a:p>
        </p:txBody>
      </p:sp>
      <p:sp>
        <p:nvSpPr>
          <p:cNvPr id="24" name="slide2-browser-body">
            <a:extLst xmlns:a="http://schemas.openxmlformats.org/drawingml/2006/main">
              <a:ext uri="{FF2B5EF4-FFF2-40B4-BE49-F238E27FC236}">
                <a16:creationId xmlns:a16="http://schemas.microsoft.com/office/drawing/2014/main" id="{B44C943F-E19D-4714-80F5-3EBB1FA6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HTML · CSS · JS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Fetch/SSE · Canvas</a:t>
            </a:r>
          </a:p>
        </p:txBody>
      </p:sp>
      <p:sp>
        <p:nvSpPr>
          <p:cNvPr id="25" name="slide2-api-box">
            <a:extLst xmlns:a="http://schemas.openxmlformats.org/drawingml/2006/main">
              <a:ext uri="{FF2B5EF4-FFF2-40B4-BE49-F238E27FC236}">
                <a16:creationId xmlns:a16="http://schemas.microsoft.com/office/drawing/2014/main" id="{58D15EAA-1D95-49F9-BE84-2A432296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76500"/>
            <a:ext cx="17145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C9C9C9"/>
            </a:solidFill>
            <a:prstDash val="solid"/>
          </a:ln>
        </p:spPr>
      </p:sp>
      <p:sp>
        <p:nvSpPr>
          <p:cNvPr id="26" name="slide2-api-label">
            <a:extLst xmlns:a="http://schemas.openxmlformats.org/drawingml/2006/main">
              <a:ext uri="{FF2B5EF4-FFF2-40B4-BE49-F238E27FC236}">
                <a16:creationId xmlns:a16="http://schemas.microsoft.com/office/drawing/2014/main" id="{180E09F9-8E17-4601-94FE-56EEB9B6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098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API</a:t>
            </a:r>
          </a:p>
        </p:txBody>
      </p:sp>
      <p:sp>
        <p:nvSpPr>
          <p:cNvPr id="27" name="slide2-api-title">
            <a:extLst xmlns:a="http://schemas.openxmlformats.org/drawingml/2006/main">
              <a:ext uri="{FF2B5EF4-FFF2-40B4-BE49-F238E27FC236}">
                <a16:creationId xmlns:a16="http://schemas.microsoft.com/office/drawing/2014/main" id="{1F3D7EDB-37F5-4C3A-B1F8-DC88E1EA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7655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FastAPI</a:t>
            </a:r>
          </a:p>
        </p:txBody>
      </p:sp>
      <p:sp>
        <p:nvSpPr>
          <p:cNvPr id="28" name="slide2-api-body">
            <a:extLst xmlns:a="http://schemas.openxmlformats.org/drawingml/2006/main">
              <a:ext uri="{FF2B5EF4-FFF2-40B4-BE49-F238E27FC236}">
                <a16:creationId xmlns:a16="http://schemas.microsoft.com/office/drawing/2014/main" id="{680D63DC-5B73-4109-85CC-785B6E01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7660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Pydantic · Uvicorn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질의·세션·파일 API</a:t>
            </a:r>
          </a:p>
        </p:txBody>
      </p:sp>
      <p:sp>
        <p:nvSpPr>
          <p:cNvPr id="29" name="slide2-agent-box">
            <a:extLst xmlns:a="http://schemas.openxmlformats.org/drawingml/2006/main">
              <a:ext uri="{FF2B5EF4-FFF2-40B4-BE49-F238E27FC236}">
                <a16:creationId xmlns:a16="http://schemas.microsoft.com/office/drawing/2014/main" id="{96109EA4-5233-4CDD-B507-29CE0696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2190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28575">
            <a:solidFill>
              <a:srgbClr val="FFCC00"/>
            </a:solidFill>
            <a:prstDash val="solid"/>
          </a:ln>
        </p:spPr>
      </p:sp>
      <p:sp>
        <p:nvSpPr>
          <p:cNvPr id="30" name="slide2-agent-label">
            <a:extLst xmlns:a="http://schemas.openxmlformats.org/drawingml/2006/main">
              <a:ext uri="{FF2B5EF4-FFF2-40B4-BE49-F238E27FC236}">
                <a16:creationId xmlns:a16="http://schemas.microsoft.com/office/drawing/2014/main" id="{EDD1FAFB-BD1B-4884-9719-4E49B766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7650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rPr>
              <a:t>ORCHESTRATOR</a:t>
            </a:r>
          </a:p>
        </p:txBody>
      </p:sp>
      <p:sp>
        <p:nvSpPr>
          <p:cNvPr id="31" name="slide2-agent-title">
            <a:extLst xmlns:a="http://schemas.openxmlformats.org/drawingml/2006/main">
              <a:ext uri="{FF2B5EF4-FFF2-40B4-BE49-F238E27FC236}">
                <a16:creationId xmlns:a16="http://schemas.microsoft.com/office/drawing/2014/main" id="{AE910CD8-1446-4ED5-83B0-37594E6F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4320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LangGraph</a:t>
            </a:r>
          </a:p>
        </p:txBody>
      </p:sp>
      <p:sp>
        <p:nvSpPr>
          <p:cNvPr id="32" name="slide2-agent-body">
            <a:extLst xmlns:a="http://schemas.openxmlformats.org/drawingml/2006/main">
              <a:ext uri="{FF2B5EF4-FFF2-40B4-BE49-F238E27FC236}">
                <a16:creationId xmlns:a16="http://schemas.microsoft.com/office/drawing/2014/main" id="{DBD561FD-5038-4609-A4BC-FF328112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분류 → Tool / VQ / 생성 SQL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검증 → 실행 → 요약</a:t>
            </a:r>
          </a:p>
        </p:txBody>
      </p:sp>
      <p:sp>
        <p:nvSpPr>
          <p:cNvPr id="33" name="slide2-db-box">
            <a:extLst xmlns:a="http://schemas.openxmlformats.org/drawingml/2006/main">
              <a:ext uri="{FF2B5EF4-FFF2-40B4-BE49-F238E27FC236}">
                <a16:creationId xmlns:a16="http://schemas.microsoft.com/office/drawing/2014/main" id="{5D012F7B-85DB-4E4E-AE4E-FFD72CCC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76500"/>
            <a:ext cx="1809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C9C9"/>
            </a:solidFill>
            <a:prstDash val="solid"/>
          </a:ln>
        </p:spPr>
      </p:sp>
      <p:sp>
        <p:nvSpPr>
          <p:cNvPr id="34" name="slide2-db-label">
            <a:extLst xmlns:a="http://schemas.openxmlformats.org/drawingml/2006/main">
              <a:ext uri="{FF2B5EF4-FFF2-40B4-BE49-F238E27FC236}">
                <a16:creationId xmlns:a16="http://schemas.microsoft.com/office/drawing/2014/main" id="{00BF1C59-126E-4B56-9F9A-C4653C6D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098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35" name="slide2-db-title">
            <a:extLst xmlns:a="http://schemas.openxmlformats.org/drawingml/2006/main">
              <a:ext uri="{FF2B5EF4-FFF2-40B4-BE49-F238E27FC236}">
                <a16:creationId xmlns:a16="http://schemas.microsoft.com/office/drawing/2014/main" id="{1F5EBFC5-676E-47B7-A258-E05C781F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765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DB Adapter</a:t>
            </a:r>
          </a:p>
        </p:txBody>
      </p:sp>
      <p:sp>
        <p:nvSpPr>
          <p:cNvPr id="36" name="slide2-db-body">
            <a:extLst xmlns:a="http://schemas.openxmlformats.org/drawingml/2006/main">
              <a:ext uri="{FF2B5EF4-FFF2-40B4-BE49-F238E27FC236}">
                <a16:creationId xmlns:a16="http://schemas.microsoft.com/office/drawing/2014/main" id="{2FBDD166-B4BC-4B26-9268-8EC7F52B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76600"/>
            <a:ext cx="1504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PyAthena · psycopg2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SELECT / WITH only</a:t>
            </a:r>
          </a:p>
        </p:txBody>
      </p:sp>
      <p:sp>
        <p:nvSpPr>
          <p:cNvPr id="37" name="slide2-output-box">
            <a:extLst xmlns:a="http://schemas.openxmlformats.org/drawingml/2006/main">
              <a:ext uri="{FF2B5EF4-FFF2-40B4-BE49-F238E27FC236}">
                <a16:creationId xmlns:a16="http://schemas.microsoft.com/office/drawing/2014/main" id="{B8931529-8C16-4339-A00C-C459E72B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76500"/>
            <a:ext cx="19431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C9C9C9"/>
            </a:solidFill>
            <a:prstDash val="solid"/>
          </a:ln>
        </p:spPr>
      </p:sp>
      <p:sp>
        <p:nvSpPr>
          <p:cNvPr id="38" name="slide2-output-label">
            <a:extLst xmlns:a="http://schemas.openxmlformats.org/drawingml/2006/main">
              <a:ext uri="{FF2B5EF4-FFF2-40B4-BE49-F238E27FC236}">
                <a16:creationId xmlns:a16="http://schemas.microsoft.com/office/drawing/2014/main" id="{ACD84465-93AE-4621-BB49-B1352032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0985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EXPORT</a:t>
            </a:r>
          </a:p>
        </p:txBody>
      </p:sp>
      <p:sp>
        <p:nvSpPr>
          <p:cNvPr id="39" name="slide2-output-title">
            <a:extLst xmlns:a="http://schemas.openxmlformats.org/drawingml/2006/main">
              <a:ext uri="{FF2B5EF4-FFF2-40B4-BE49-F238E27FC236}">
                <a16:creationId xmlns:a16="http://schemas.microsoft.com/office/drawing/2014/main" id="{BA3942CA-5F26-4AA9-9576-9FB7AEDF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765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파일·결과</a:t>
            </a:r>
          </a:p>
        </p:txBody>
      </p:sp>
      <p:sp>
        <p:nvSpPr>
          <p:cNvPr id="40" name="slide2-output-body">
            <a:extLst xmlns:a="http://schemas.openxmlformats.org/drawingml/2006/main">
              <a:ext uri="{FF2B5EF4-FFF2-40B4-BE49-F238E27FC236}">
                <a16:creationId xmlns:a16="http://schemas.microsoft.com/office/drawing/2014/main" id="{8B2E51B0-1BE8-4997-BF80-49350C19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766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openpyxl · python-docx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CSV · TXT</a:t>
            </a:r>
          </a:p>
        </p:txBody>
      </p:sp>
      <p:sp>
        <p:nvSpPr>
          <p:cNvPr id="41" name="slide2-knowledge-box">
            <a:extLst xmlns:a="http://schemas.openxmlformats.org/drawingml/2006/main">
              <a:ext uri="{FF2B5EF4-FFF2-40B4-BE49-F238E27FC236}">
                <a16:creationId xmlns:a16="http://schemas.microsoft.com/office/drawing/2014/main" id="{165A11EE-68A0-4C97-8D39-B6EFCEA0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00200"/>
            <a:ext cx="2190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lide2-knowledge-text">
            <a:extLst xmlns:a="http://schemas.openxmlformats.org/drawingml/2006/main">
              <a:ext uri="{FF2B5EF4-FFF2-40B4-BE49-F238E27FC236}">
                <a16:creationId xmlns:a16="http://schemas.microsoft.com/office/drawing/2014/main" id="{8B3187CE-F73A-4320-B580-FEE9ECD8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335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Semantic SSOT  |  31 tables · 42 metrics</a:t>
            </a:r>
          </a:p>
        </p:txBody>
      </p:sp>
      <p:sp>
        <p:nvSpPr>
          <p:cNvPr id="43" name="slide2-model-box">
            <a:extLst xmlns:a="http://schemas.openxmlformats.org/drawingml/2006/main">
              <a:ext uri="{FF2B5EF4-FFF2-40B4-BE49-F238E27FC236}">
                <a16:creationId xmlns:a16="http://schemas.microsoft.com/office/drawing/2014/main" id="{D12DFEB4-8868-428D-9BC6-390E4DAF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24350"/>
            <a:ext cx="2190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C9C9C9"/>
            </a:solidFill>
            <a:prstDash val="solid"/>
          </a:ln>
        </p:spPr>
      </p:sp>
      <p:sp>
        <p:nvSpPr>
          <p:cNvPr id="44" name="slide2-model-label">
            <a:extLst xmlns:a="http://schemas.openxmlformats.org/drawingml/2006/main">
              <a:ext uri="{FF2B5EF4-FFF2-40B4-BE49-F238E27FC236}">
                <a16:creationId xmlns:a16="http://schemas.microsoft.com/office/drawing/2014/main" id="{88CC2E52-91AA-4D12-AA9B-8633A7A4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19600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AI</a:t>
            </a:r>
          </a:p>
        </p:txBody>
      </p:sp>
      <p:sp>
        <p:nvSpPr>
          <p:cNvPr id="45" name="slide2-model-title">
            <a:extLst xmlns:a="http://schemas.openxmlformats.org/drawingml/2006/main">
              <a:ext uri="{FF2B5EF4-FFF2-40B4-BE49-F238E27FC236}">
                <a16:creationId xmlns:a16="http://schemas.microsoft.com/office/drawing/2014/main" id="{81AA2431-64E9-4853-BFFF-B1AF1C22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101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LLM / Embed</a:t>
            </a:r>
          </a:p>
        </p:txBody>
      </p:sp>
      <p:sp>
        <p:nvSpPr>
          <p:cNvPr id="46" name="slide2-model-body">
            <a:extLst xmlns:a="http://schemas.openxmlformats.org/drawingml/2006/main">
              <a:ext uri="{FF2B5EF4-FFF2-40B4-BE49-F238E27FC236}">
                <a16:creationId xmlns:a16="http://schemas.microsoft.com/office/drawing/2014/main" id="{D621053E-15EE-436B-A19A-C87EE3BC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43475"/>
            <a:ext cx="1885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vLLM gpt-oss:120b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TEI bge-m3 (옵션)</a:t>
            </a:r>
          </a:p>
        </p:txBody>
      </p:sp>
      <p:sp>
        <p:nvSpPr>
          <p:cNvPr id="47" name="slide2-session-box">
            <a:extLst xmlns:a="http://schemas.openxmlformats.org/drawingml/2006/main">
              <a:ext uri="{FF2B5EF4-FFF2-40B4-BE49-F238E27FC236}">
                <a16:creationId xmlns:a16="http://schemas.microsoft.com/office/drawing/2014/main" id="{FA467D2E-7A20-4EA6-A594-D82EAE8A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24350"/>
            <a:ext cx="1714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C9C9C9"/>
            </a:solidFill>
            <a:prstDash val="solid"/>
          </a:ln>
        </p:spPr>
      </p:sp>
      <p:sp>
        <p:nvSpPr>
          <p:cNvPr id="48" name="slide2-session-label">
            <a:extLst xmlns:a="http://schemas.openxmlformats.org/drawingml/2006/main">
              <a:ext uri="{FF2B5EF4-FFF2-40B4-BE49-F238E27FC236}">
                <a16:creationId xmlns:a16="http://schemas.microsoft.com/office/drawing/2014/main" id="{6C315556-F6C0-419A-B5C6-8A70E67D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19600"/>
            <a:ext cx="140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STATE</a:t>
            </a:r>
          </a:p>
        </p:txBody>
      </p:sp>
      <p:sp>
        <p:nvSpPr>
          <p:cNvPr id="49" name="slide2-session-title">
            <a:extLst xmlns:a="http://schemas.openxmlformats.org/drawingml/2006/main">
              <a:ext uri="{FF2B5EF4-FFF2-40B4-BE49-F238E27FC236}">
                <a16:creationId xmlns:a16="http://schemas.microsoft.com/office/drawing/2014/main" id="{F993E860-4C78-4FB4-B044-D8354296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101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PostgreSQL</a:t>
            </a:r>
          </a:p>
        </p:txBody>
      </p:sp>
      <p:sp>
        <p:nvSpPr>
          <p:cNvPr id="50" name="slide2-session-body">
            <a:extLst xmlns:a="http://schemas.openxmlformats.org/drawingml/2006/main">
              <a:ext uri="{FF2B5EF4-FFF2-40B4-BE49-F238E27FC236}">
                <a16:creationId xmlns:a16="http://schemas.microsoft.com/office/drawing/2014/main" id="{58AC5396-BAF5-4B77-9C7C-0023D71E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43475"/>
            <a:ext cx="1409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webapp_* 5개 테이블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Memory / Redis(옵션)</a:t>
            </a:r>
          </a:p>
        </p:txBody>
      </p:sp>
      <p:sp>
        <p:nvSpPr>
          <p:cNvPr id="51" name="slide-2-legend-main">
            <a:extLst xmlns:a="http://schemas.openxmlformats.org/drawingml/2006/main">
              <a:ext uri="{FF2B5EF4-FFF2-40B4-BE49-F238E27FC236}">
                <a16:creationId xmlns:a16="http://schemas.microsoft.com/office/drawing/2014/main" id="{57EBC367-1F19-4305-978B-B338C445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9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rPr>
              <a:t>●  질문 → 조회 → 결과의 주 흐름</a:t>
            </a:r>
          </a:p>
        </p:txBody>
      </p:sp>
      <p:sp>
        <p:nvSpPr>
          <p:cNvPr id="52" name="slide-2-legend-support">
            <a:extLst xmlns:a="http://schemas.openxmlformats.org/drawingml/2006/main">
              <a:ext uri="{FF2B5EF4-FFF2-40B4-BE49-F238E27FC236}">
                <a16:creationId xmlns:a16="http://schemas.microsoft.com/office/drawing/2014/main" id="{9EA8B0EE-2DF1-4305-96F1-21FFD7D4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905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—  업무지식·모델·세션의 보조 연결</a:t>
            </a:r>
          </a:p>
        </p:txBody>
      </p:sp>
      <p:sp>
        <p:nvSpPr>
          <p:cNvPr id="53" name="slide-2-note">
            <a:extLst xmlns:a="http://schemas.openxmlformats.org/drawingml/2006/main">
              <a:ext uri="{FF2B5EF4-FFF2-40B4-BE49-F238E27FC236}">
                <a16:creationId xmlns:a16="http://schemas.microsoft.com/office/drawing/2014/main" id="{C636BD94-F058-4C80-8301-5011311D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Docker offline wheel · ECS 설정 · /health · stdout JSONL · SSE heartbeat 2.5초</a:t>
            </a:r>
          </a:p>
        </p:txBody>
      </p:sp>
      <p:sp>
        <p:nvSpPr>
          <p:cNvPr id="54" name="slide-2-footer-label">
            <a:extLst xmlns:a="http://schemas.openxmlformats.org/drawingml/2006/main">
              <a:ext uri="{FF2B5EF4-FFF2-40B4-BE49-F238E27FC236}">
                <a16:creationId xmlns:a16="http://schemas.microsoft.com/office/drawing/2014/main" id="{8AD196EB-7F89-4AB6-B1EE-08B532BE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KB Card Corporate Sales · Text2SQL V4 · Appendix</a:t>
            </a:r>
          </a:p>
        </p:txBody>
      </p:sp>
      <p:sp>
        <p:nvSpPr>
          <p:cNvPr id="55" name="slide-2-footer-number">
            <a:extLst xmlns:a="http://schemas.openxmlformats.org/drawingml/2006/main">
              <a:ext uri="{FF2B5EF4-FFF2-40B4-BE49-F238E27FC236}">
                <a16:creationId xmlns:a16="http://schemas.microsoft.com/office/drawing/2014/main" id="{9E3085E1-8EA3-4571-926F-249A23C2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499025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EB609BB-43B4-4288-8C2A-2B72584C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정형 질문은 검증 자산으로, 탐색 질문은 제한된 생성 SQL로 처리합니다</a:t>
            </a:r>
          </a:p>
        </p:txBody>
      </p:sp>
      <p:sp>
        <p:nvSpPr>
          <p:cNvPr id="2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0B0FB8BD-2CB2-49F4-9820-5A67DBC7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세 경로 모두 Semantic Layer 검증과 읽기 전용 DB 실행을 공통으로 거칩니다.</a:t>
            </a:r>
          </a:p>
        </p:txBody>
      </p:sp>
      <p:sp>
        <p:nvSpPr>
          <p:cNvPr id="3" name="slide-3-accent-line">
            <a:extLst xmlns:a="http://schemas.openxmlformats.org/drawingml/2006/main">
              <a:ext uri="{FF2B5EF4-FFF2-40B4-BE49-F238E27FC236}">
                <a16:creationId xmlns:a16="http://schemas.microsoft.com/office/drawing/2014/main" id="{4A1E001B-B752-44A9-AA03-72C82D1B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3-input-anchor">
            <a:extLst xmlns:a="http://schemas.openxmlformats.org/drawingml/2006/main">
              <a:ext uri="{FF2B5EF4-FFF2-40B4-BE49-F238E27FC236}">
                <a16:creationId xmlns:a16="http://schemas.microsoft.com/office/drawing/2014/main" id="{3C1EF3D8-F43B-41A4-8AAA-4B9CB439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slide3-process-anchor">
            <a:extLst xmlns:a="http://schemas.openxmlformats.org/drawingml/2006/main">
              <a:ext uri="{FF2B5EF4-FFF2-40B4-BE49-F238E27FC236}">
                <a16:creationId xmlns:a16="http://schemas.microsoft.com/office/drawing/2014/main" id="{73A15B7B-8D67-4ABF-8D5C-B49E8D2D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slide3-output-anchor">
            <a:extLst xmlns:a="http://schemas.openxmlformats.org/drawingml/2006/main">
              <a:ext uri="{FF2B5EF4-FFF2-40B4-BE49-F238E27FC236}">
                <a16:creationId xmlns:a16="http://schemas.microsoft.com/office/drawing/2014/main" id="{C23B42C3-02A9-4DBA-81D5-5E8D0796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90950" y="35337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762875" y="35337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sp>
        <p:nvSpPr>
          <p:cNvPr id="9" name="slide3-input-card">
            <a:extLst xmlns:a="http://schemas.openxmlformats.org/drawingml/2006/main">
              <a:ext uri="{FF2B5EF4-FFF2-40B4-BE49-F238E27FC236}">
                <a16:creationId xmlns:a16="http://schemas.microsoft.com/office/drawing/2014/main" id="{094FA9D4-5B2B-4F19-B25C-6BBD0AE8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0" name="slide3-input-phase">
            <a:extLst xmlns:a="http://schemas.openxmlformats.org/drawingml/2006/main">
              <a:ext uri="{FF2B5EF4-FFF2-40B4-BE49-F238E27FC236}">
                <a16:creationId xmlns:a16="http://schemas.microsoft.com/office/drawing/2014/main" id="{41DB3549-60FB-4C92-AE28-9D356A82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PATH</a:t>
            </a:r>
          </a:p>
        </p:txBody>
      </p:sp>
      <p:sp>
        <p:nvSpPr>
          <p:cNvPr id="11" name="slide3-input-title">
            <a:extLst xmlns:a="http://schemas.openxmlformats.org/drawingml/2006/main">
              <a:ext uri="{FF2B5EF4-FFF2-40B4-BE49-F238E27FC236}">
                <a16:creationId xmlns:a16="http://schemas.microsoft.com/office/drawing/2014/main" id="{12ABA827-F46B-495B-A45C-A2A56D1C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실행 경로</a:t>
            </a:r>
          </a:p>
        </p:txBody>
      </p:sp>
      <p:sp>
        <p:nvSpPr>
          <p:cNvPr id="12" name="slide3-input-step-1">
            <a:extLst xmlns:a="http://schemas.openxmlformats.org/drawingml/2006/main">
              <a:ext uri="{FF2B5EF4-FFF2-40B4-BE49-F238E27FC236}">
                <a16:creationId xmlns:a16="http://schemas.microsoft.com/office/drawing/2014/main" id="{7B8B8B1D-2729-4F44-B1B1-2513FEEE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3" name="slide3-input-step-1-text">
            <a:extLst xmlns:a="http://schemas.openxmlformats.org/drawingml/2006/main">
              <a:ext uri="{FF2B5EF4-FFF2-40B4-BE49-F238E27FC236}">
                <a16:creationId xmlns:a16="http://schemas.microsoft.com/office/drawing/2014/main" id="{5B4A4989-E857-45A5-8229-5701CE13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2417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Verified Query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표준 질문·고정 SQL</a:t>
            </a:r>
          </a:p>
        </p:txBody>
      </p:sp>
      <p:sp>
        <p:nvSpPr>
          <p:cNvPr id="14" name="slide3-input-step-2">
            <a:extLst xmlns:a="http://schemas.openxmlformats.org/drawingml/2006/main">
              <a:ext uri="{FF2B5EF4-FFF2-40B4-BE49-F238E27FC236}">
                <a16:creationId xmlns:a16="http://schemas.microsoft.com/office/drawing/2014/main" id="{2FA7A401-6DEE-4CCE-9215-0AFF114C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slide3-input-step-2-text">
            <a:extLst xmlns:a="http://schemas.openxmlformats.org/drawingml/2006/main">
              <a:ext uri="{FF2B5EF4-FFF2-40B4-BE49-F238E27FC236}">
                <a16:creationId xmlns:a16="http://schemas.microsoft.com/office/drawing/2014/main" id="{1861444A-B36E-422F-9FBE-CB82F0A4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8142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Python Tool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계산·규칙 기반 처리</a:t>
            </a:r>
          </a:p>
        </p:txBody>
      </p:sp>
      <p:sp>
        <p:nvSpPr>
          <p:cNvPr id="16" name="slide3-input-step-↺">
            <a:extLst xmlns:a="http://schemas.openxmlformats.org/drawingml/2006/main">
              <a:ext uri="{FF2B5EF4-FFF2-40B4-BE49-F238E27FC236}">
                <a16:creationId xmlns:a16="http://schemas.microsoft.com/office/drawing/2014/main" id="{25FEAF9E-1B4D-4ABA-8721-ECFFD839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slide3-input-step-↺-text">
            <a:extLst xmlns:a="http://schemas.openxmlformats.org/drawingml/2006/main">
              <a:ext uri="{FF2B5EF4-FFF2-40B4-BE49-F238E27FC236}">
                <a16:creationId xmlns:a16="http://schemas.microsoft.com/office/drawing/2014/main" id="{F0A53498-9297-473A-B22F-D77F4DE6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386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Generated SQL
새로운 탐색 질문</a:t>
            </a:r>
          </a:p>
        </p:txBody>
      </p:sp>
      <p:sp>
        <p:nvSpPr>
          <p:cNvPr id="18" name="slide3-process-card">
            <a:extLst xmlns:a="http://schemas.openxmlformats.org/drawingml/2006/main">
              <a:ext uri="{FF2B5EF4-FFF2-40B4-BE49-F238E27FC236}">
                <a16:creationId xmlns:a16="http://schemas.microsoft.com/office/drawing/2014/main" id="{E716831A-6EA6-4D96-A66B-00A736A9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23813">
            <a:solidFill>
              <a:srgbClr val="FFCC00"/>
            </a:solidFill>
            <a:prstDash val="solid"/>
          </a:ln>
        </p:spPr>
      </p:sp>
      <p:sp>
        <p:nvSpPr>
          <p:cNvPr id="19" name="slide3-process-phase">
            <a:extLst xmlns:a="http://schemas.openxmlformats.org/drawingml/2006/main">
              <a:ext uri="{FF2B5EF4-FFF2-40B4-BE49-F238E27FC236}">
                <a16:creationId xmlns:a16="http://schemas.microsoft.com/office/drawing/2014/main" id="{A4497480-B700-4771-9986-187CD605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rPr>
              <a:t>GUARD</a:t>
            </a:r>
          </a:p>
        </p:txBody>
      </p:sp>
      <p:sp>
        <p:nvSpPr>
          <p:cNvPr id="20" name="slide3-process-title">
            <a:extLst xmlns:a="http://schemas.openxmlformats.org/drawingml/2006/main">
              <a:ext uri="{FF2B5EF4-FFF2-40B4-BE49-F238E27FC236}">
                <a16:creationId xmlns:a16="http://schemas.microsoft.com/office/drawing/2014/main" id="{3DE78CDF-9503-48B3-A212-D2244360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공통 안전장치</a:t>
            </a:r>
          </a:p>
        </p:txBody>
      </p:sp>
      <p:sp>
        <p:nvSpPr>
          <p:cNvPr id="21" name="slide3-process-step-3">
            <a:extLst xmlns:a="http://schemas.openxmlformats.org/drawingml/2006/main">
              <a:ext uri="{FF2B5EF4-FFF2-40B4-BE49-F238E27FC236}">
                <a16:creationId xmlns:a16="http://schemas.microsoft.com/office/drawing/2014/main" id="{18E473D2-AB9F-485E-BC5A-11BC07E7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2" name="slide3-process-step-3-text">
            <a:extLst xmlns:a="http://schemas.openxmlformats.org/drawingml/2006/main">
              <a:ext uri="{FF2B5EF4-FFF2-40B4-BE49-F238E27FC236}">
                <a16:creationId xmlns:a16="http://schemas.microsoft.com/office/drawing/2014/main" id="{A89BE53E-60EA-4A8B-A049-4B85DA4F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241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등록 테이블·컬럼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민감정보·SELECT * 검사</a:t>
            </a:r>
          </a:p>
        </p:txBody>
      </p:sp>
      <p:sp>
        <p:nvSpPr>
          <p:cNvPr id="23" name="slide3-process-step-4">
            <a:extLst xmlns:a="http://schemas.openxmlformats.org/drawingml/2006/main">
              <a:ext uri="{FF2B5EF4-FFF2-40B4-BE49-F238E27FC236}">
                <a16:creationId xmlns:a16="http://schemas.microsoft.com/office/drawing/2014/main" id="{14585AB2-1CD3-4935-B6BB-F434F99E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33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4" name="slide3-process-step-4-text">
            <a:extLst xmlns:a="http://schemas.openxmlformats.org/drawingml/2006/main">
              <a:ext uri="{FF2B5EF4-FFF2-40B4-BE49-F238E27FC236}">
                <a16:creationId xmlns:a16="http://schemas.microsoft.com/office/drawing/2014/main" id="{B5185599-3FC9-40FF-BDD2-DD0196E0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242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기간·grain·안전 JOIN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Semantic 계약 적용</a:t>
            </a:r>
          </a:p>
        </p:txBody>
      </p:sp>
      <p:sp>
        <p:nvSpPr>
          <p:cNvPr id="25" name="slide3-process-step-5">
            <a:extLst xmlns:a="http://schemas.openxmlformats.org/drawingml/2006/main">
              <a:ext uri="{FF2B5EF4-FFF2-40B4-BE49-F238E27FC236}">
                <a16:creationId xmlns:a16="http://schemas.microsoft.com/office/drawing/2014/main" id="{F1F4881E-FC1E-4B70-8CB4-2B6F03B5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33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26" name="slide3-process-step-5-text">
            <a:extLst xmlns:a="http://schemas.openxmlformats.org/drawingml/2006/main">
              <a:ext uri="{FF2B5EF4-FFF2-40B4-BE49-F238E27FC236}">
                <a16:creationId xmlns:a16="http://schemas.microsoft.com/office/drawing/2014/main" id="{D7DE0E4F-978C-4D7E-946F-56F0A357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243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SELECT / WITH only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행수 제한·PG timeout</a:t>
            </a:r>
          </a:p>
        </p:txBody>
      </p:sp>
      <p:sp>
        <p:nvSpPr>
          <p:cNvPr id="27" name="slide3-output-card">
            <a:extLst xmlns:a="http://schemas.openxmlformats.org/drawingml/2006/main">
              <a:ext uri="{FF2B5EF4-FFF2-40B4-BE49-F238E27FC236}">
                <a16:creationId xmlns:a16="http://schemas.microsoft.com/office/drawing/2014/main" id="{5B4D1657-8B21-416E-AD5B-6E59B7BD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28" name="slide3-output-phase">
            <a:extLst xmlns:a="http://schemas.openxmlformats.org/drawingml/2006/main">
              <a:ext uri="{FF2B5EF4-FFF2-40B4-BE49-F238E27FC236}">
                <a16:creationId xmlns:a16="http://schemas.microsoft.com/office/drawing/2014/main" id="{457EF408-1247-469C-9122-14DE4E41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OPERATE</a:t>
            </a:r>
          </a:p>
        </p:txBody>
      </p:sp>
      <p:sp>
        <p:nvSpPr>
          <p:cNvPr id="29" name="slide3-output-title">
            <a:extLst xmlns:a="http://schemas.openxmlformats.org/drawingml/2006/main">
              <a:ext uri="{FF2B5EF4-FFF2-40B4-BE49-F238E27FC236}">
                <a16:creationId xmlns:a16="http://schemas.microsoft.com/office/drawing/2014/main" id="{4A4E888D-DA5C-496A-B47A-68FCA3B5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실행과 운영</a:t>
            </a:r>
          </a:p>
        </p:txBody>
      </p:sp>
      <p:sp>
        <p:nvSpPr>
          <p:cNvPr id="30" name="slide3-output-step-6">
            <a:extLst xmlns:a="http://schemas.openxmlformats.org/drawingml/2006/main">
              <a:ext uri="{FF2B5EF4-FFF2-40B4-BE49-F238E27FC236}">
                <a16:creationId xmlns:a16="http://schemas.microsoft.com/office/drawing/2014/main" id="{734CF0F0-F0AF-408D-9B45-A715F55B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31" name="slide3-output-step-6-text">
            <a:extLst xmlns:a="http://schemas.openxmlformats.org/drawingml/2006/main">
              <a:ext uri="{FF2B5EF4-FFF2-40B4-BE49-F238E27FC236}">
                <a16:creationId xmlns:a16="http://schemas.microsoft.com/office/drawing/2014/main" id="{2287FE6F-7AB2-4909-AF20-2F0C5DF8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241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SSE 진행상태·heartbeat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request / trace ID</a:t>
            </a:r>
          </a:p>
        </p:txBody>
      </p:sp>
      <p:sp>
        <p:nvSpPr>
          <p:cNvPr id="32" name="slide3-output-step-7">
            <a:extLst xmlns:a="http://schemas.openxmlformats.org/drawingml/2006/main">
              <a:ext uri="{FF2B5EF4-FFF2-40B4-BE49-F238E27FC236}">
                <a16:creationId xmlns:a16="http://schemas.microsoft.com/office/drawing/2014/main" id="{321F103E-B0E9-4112-B5A6-560EFAA0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90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33" name="slide3-output-step-7-text">
            <a:extLst xmlns:a="http://schemas.openxmlformats.org/drawingml/2006/main">
              <a:ext uri="{FF2B5EF4-FFF2-40B4-BE49-F238E27FC236}">
                <a16:creationId xmlns:a16="http://schemas.microsoft.com/office/drawing/2014/main" id="{644D8262-E531-4FC5-8419-72146F7F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8142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생성 SQL만 최대 3회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오류 기반 재시도</a:t>
            </a:r>
          </a:p>
        </p:txBody>
      </p:sp>
      <p:sp>
        <p:nvSpPr>
          <p:cNvPr id="34" name="slide3-output-step-+">
            <a:extLst xmlns:a="http://schemas.openxmlformats.org/drawingml/2006/main">
              <a:ext uri="{FF2B5EF4-FFF2-40B4-BE49-F238E27FC236}">
                <a16:creationId xmlns:a16="http://schemas.microsoft.com/office/drawing/2014/main" id="{E29505B2-2C10-4286-9810-48873B0E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48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  <p:sp>
        <p:nvSpPr>
          <p:cNvPr id="35" name="slide3-output-step-+-text">
            <a:extLst xmlns:a="http://schemas.openxmlformats.org/drawingml/2006/main">
              <a:ext uri="{FF2B5EF4-FFF2-40B4-BE49-F238E27FC236}">
                <a16:creationId xmlns:a16="http://schemas.microsoft.com/office/drawing/2014/main" id="{73891046-EF57-466A-985B-0ACDD191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386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result_id · Query Frame
후속 분석·export</a:t>
            </a:r>
          </a:p>
        </p:txBody>
      </p:sp>
      <p:sp>
        <p:nvSpPr>
          <p:cNvPr id="36" name="slide-3-bottom-band">
            <a:extLst xmlns:a="http://schemas.openxmlformats.org/drawingml/2006/main">
              <a:ext uri="{FF2B5EF4-FFF2-40B4-BE49-F238E27FC236}">
                <a16:creationId xmlns:a16="http://schemas.microsoft.com/office/drawing/2014/main" id="{62D7A03F-A773-4893-B87D-3B50586F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2776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lide-3-bottom-band-text">
            <a:extLst xmlns:a="http://schemas.openxmlformats.org/drawingml/2006/main">
              <a:ext uri="{FF2B5EF4-FFF2-40B4-BE49-F238E27FC236}">
                <a16:creationId xmlns:a16="http://schemas.microsoft.com/office/drawing/2014/main" id="{7478629F-D50A-4462-9A8C-2FBC29AD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공통 원칙  |  직접 SQL·Verified Query는 자동 대체 없이 의미 보존</a:t>
            </a:r>
          </a:p>
        </p:txBody>
      </p:sp>
      <p:sp>
        <p:nvSpPr>
          <p:cNvPr id="38" name="slide-3-footer-label">
            <a:extLst xmlns:a="http://schemas.openxmlformats.org/drawingml/2006/main">
              <a:ext uri="{FF2B5EF4-FFF2-40B4-BE49-F238E27FC236}">
                <a16:creationId xmlns:a16="http://schemas.microsoft.com/office/drawing/2014/main" id="{5C900292-66D7-4B30-B98A-E0D94D38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KB Card Corporate Sales · Text2SQL V4 · Appendix</a:t>
            </a:r>
          </a:p>
        </p:txBody>
      </p:sp>
      <p:sp>
        <p:nvSpPr>
          <p:cNvPr id="39" name="slide-3-footer-number">
            <a:extLst xmlns:a="http://schemas.openxmlformats.org/drawingml/2006/main">
              <a:ext uri="{FF2B5EF4-FFF2-40B4-BE49-F238E27FC236}">
                <a16:creationId xmlns:a16="http://schemas.microsoft.com/office/drawing/2014/main" id="{CD45278E-FDB5-4B48-BC40-9E540717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45623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EB609BB-43B4-4288-8C2A-2B72584C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사용 테이블 ① 고객·회원·관계·영업관리 (11개)</a:t>
            </a:r>
          </a:p>
        </p:txBody>
      </p:sp>
      <p:sp>
        <p:nvSpPr>
          <p:cNvPr id="2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0B0FB8BD-2CB2-49F4-9820-5A67DBC7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기업고객·회원·관계·담당정보를 연결해 대상을 정의하고 상태를 확인합니다.</a:t>
            </a:r>
          </a:p>
        </p:txBody>
      </p:sp>
      <p:sp>
        <p:nvSpPr>
          <p:cNvPr id="3" name="slide-3-accent-line">
            <a:extLst xmlns:a="http://schemas.openxmlformats.org/drawingml/2006/main">
              <a:ext uri="{FF2B5EF4-FFF2-40B4-BE49-F238E27FC236}">
                <a16:creationId xmlns:a16="http://schemas.microsoft.com/office/drawing/2014/main" id="{4A1E001B-B752-44A9-AA03-72C82D1B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3-input-anchor">
            <a:extLst xmlns:a="http://schemas.openxmlformats.org/drawingml/2006/main">
              <a:ext uri="{FF2B5EF4-FFF2-40B4-BE49-F238E27FC236}">
                <a16:creationId xmlns:a16="http://schemas.microsoft.com/office/drawing/2014/main" id="{3C1EF3D8-F43B-41A4-8AAA-4B9CB439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slide3-process-anchor">
            <a:extLst xmlns:a="http://schemas.openxmlformats.org/drawingml/2006/main">
              <a:ext uri="{FF2B5EF4-FFF2-40B4-BE49-F238E27FC236}">
                <a16:creationId xmlns:a16="http://schemas.microsoft.com/office/drawing/2014/main" id="{73A15B7B-8D67-4ABF-8D5C-B49E8D2D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slide3-output-anchor">
            <a:extLst xmlns:a="http://schemas.openxmlformats.org/drawingml/2006/main">
              <a:ext uri="{FF2B5EF4-FFF2-40B4-BE49-F238E27FC236}">
                <a16:creationId xmlns:a16="http://schemas.microsoft.com/office/drawing/2014/main" id="{C23B42C3-02A9-4DBA-81D5-5E8D0796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90950" y="35337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762875" y="35337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sp>
        <p:nvSpPr>
          <p:cNvPr id="9" name="slide3-input-card">
            <a:extLst xmlns:a="http://schemas.openxmlformats.org/drawingml/2006/main">
              <a:ext uri="{FF2B5EF4-FFF2-40B4-BE49-F238E27FC236}">
                <a16:creationId xmlns:a16="http://schemas.microsoft.com/office/drawing/2014/main" id="{094FA9D4-5B2B-4F19-B25C-6BBD0AE8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0" name="slide3-input-phase">
            <a:extLst xmlns:a="http://schemas.openxmlformats.org/drawingml/2006/main">
              <a:ext uri="{FF2B5EF4-FFF2-40B4-BE49-F238E27FC236}">
                <a16:creationId xmlns:a16="http://schemas.microsoft.com/office/drawing/2014/main" id="{41DB3549-60FB-4C92-AE28-9D356A82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5 TABLES</a:t>
            </a:r>
          </a:p>
        </p:txBody>
      </p:sp>
      <p:sp>
        <p:nvSpPr>
          <p:cNvPr id="11" name="slide3-input-title">
            <a:extLst xmlns:a="http://schemas.openxmlformats.org/drawingml/2006/main">
              <a:ext uri="{FF2B5EF4-FFF2-40B4-BE49-F238E27FC236}">
                <a16:creationId xmlns:a16="http://schemas.microsoft.com/office/drawing/2014/main" id="{12ABA827-F46B-495B-A45C-A2A56D1C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고객·기업</a:t>
            </a:r>
          </a:p>
        </p:txBody>
      </p:sp>
      <p:sp>
        <p:nvSpPr>
          <p:cNvPr id="12" name="slide3-input-step-1">
            <a:extLst xmlns:a="http://schemas.openxmlformats.org/drawingml/2006/main">
              <a:ext uri="{FF2B5EF4-FFF2-40B4-BE49-F238E27FC236}">
                <a16:creationId xmlns:a16="http://schemas.microsoft.com/office/drawing/2014/main" id="{7B8B8B1D-2729-4F44-B1B1-2513FEEE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3" name="slide3-input-step-1-text">
            <a:extLst xmlns:a="http://schemas.openxmlformats.org/drawingml/2006/main">
              <a:ext uri="{FF2B5EF4-FFF2-40B4-BE49-F238E27FC236}">
                <a16:creationId xmlns:a16="http://schemas.microsoft.com/office/drawing/2014/main" id="{5B4A4989-E857-45A5-8229-5701CE13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2417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tbdaaat01  고객기본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tmdaa1d01  고객월스냅샷</a:t>
            </a:r>
          </a:p>
        </p:txBody>
      </p:sp>
      <p:sp>
        <p:nvSpPr>
          <p:cNvPr id="14" name="slide3-input-step-2">
            <a:extLst xmlns:a="http://schemas.openxmlformats.org/drawingml/2006/main">
              <a:ext uri="{FF2B5EF4-FFF2-40B4-BE49-F238E27FC236}">
                <a16:creationId xmlns:a16="http://schemas.microsoft.com/office/drawing/2014/main" id="{2FA7A401-6DEE-4CCE-9215-0AFF114C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slide3-input-step-2-text">
            <a:extLst xmlns:a="http://schemas.openxmlformats.org/drawingml/2006/main">
              <a:ext uri="{FF2B5EF4-FFF2-40B4-BE49-F238E27FC236}">
                <a16:creationId xmlns:a16="http://schemas.microsoft.com/office/drawing/2014/main" id="{1861444A-B36E-422F-9FBE-CB82F0A4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8142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tbdaa1d12  기업고객일별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tmdaa1d12  기업고객월말</a:t>
            </a:r>
          </a:p>
        </p:txBody>
      </p:sp>
      <p:sp>
        <p:nvSpPr>
          <p:cNvPr id="16" name="slide3-input-step-↺">
            <a:extLst xmlns:a="http://schemas.openxmlformats.org/drawingml/2006/main">
              <a:ext uri="{FF2B5EF4-FFF2-40B4-BE49-F238E27FC236}">
                <a16:creationId xmlns:a16="http://schemas.microsoft.com/office/drawing/2014/main" id="{25FEAF9E-1B4D-4ABA-8721-ECFFD839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slide3-input-step-↺-text">
            <a:extLst xmlns:a="http://schemas.openxmlformats.org/drawingml/2006/main">
              <a:ext uri="{FF2B5EF4-FFF2-40B4-BE49-F238E27FC236}">
                <a16:creationId xmlns:a16="http://schemas.microsoft.com/office/drawing/2014/main" id="{F0A53498-9297-473A-B22F-D77F4DE6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386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tbdaaac67  부서사업장회원</a:t>
            </a:r>
          </a:p>
        </p:txBody>
      </p:sp>
      <p:sp>
        <p:nvSpPr>
          <p:cNvPr id="18" name="slide3-process-card">
            <a:extLst xmlns:a="http://schemas.openxmlformats.org/drawingml/2006/main">
              <a:ext uri="{FF2B5EF4-FFF2-40B4-BE49-F238E27FC236}">
                <a16:creationId xmlns:a16="http://schemas.microsoft.com/office/drawing/2014/main" id="{E716831A-6EA6-4D96-A66B-00A736A9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23813">
            <a:solidFill>
              <a:srgbClr val="FFCC00"/>
            </a:solidFill>
            <a:prstDash val="solid"/>
          </a:ln>
        </p:spPr>
      </p:sp>
      <p:sp>
        <p:nvSpPr>
          <p:cNvPr id="19" name="slide3-process-phase">
            <a:extLst xmlns:a="http://schemas.openxmlformats.org/drawingml/2006/main">
              <a:ext uri="{FF2B5EF4-FFF2-40B4-BE49-F238E27FC236}">
                <a16:creationId xmlns:a16="http://schemas.microsoft.com/office/drawing/2014/main" id="{A4497480-B700-4771-9986-187CD605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rPr>
              <a:t>3 TABLES</a:t>
            </a:r>
          </a:p>
        </p:txBody>
      </p:sp>
      <p:sp>
        <p:nvSpPr>
          <p:cNvPr id="20" name="slide3-process-title">
            <a:extLst xmlns:a="http://schemas.openxmlformats.org/drawingml/2006/main">
              <a:ext uri="{FF2B5EF4-FFF2-40B4-BE49-F238E27FC236}">
                <a16:creationId xmlns:a16="http://schemas.microsoft.com/office/drawing/2014/main" id="{3DE78CDF-9503-48B3-A212-D2244360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회원·민감정보</a:t>
            </a:r>
          </a:p>
        </p:txBody>
      </p:sp>
      <p:sp>
        <p:nvSpPr>
          <p:cNvPr id="21" name="slide3-process-step-3">
            <a:extLst xmlns:a="http://schemas.openxmlformats.org/drawingml/2006/main">
              <a:ext uri="{FF2B5EF4-FFF2-40B4-BE49-F238E27FC236}">
                <a16:creationId xmlns:a16="http://schemas.microsoft.com/office/drawing/2014/main" id="{18E473D2-AB9F-485E-BC5A-11BC07E7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2" name="slide3-process-step-3-text">
            <a:extLst xmlns:a="http://schemas.openxmlformats.org/drawingml/2006/main">
              <a:ext uri="{FF2B5EF4-FFF2-40B4-BE49-F238E27FC236}">
                <a16:creationId xmlns:a16="http://schemas.microsoft.com/office/drawing/2014/main" id="{A89BE53E-60EA-4A8B-A049-4B85DA4F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241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tbdaaat03  회원기본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</p:txBody>
      </p:sp>
      <p:sp>
        <p:nvSpPr>
          <p:cNvPr id="23" name="slide3-process-step-4">
            <a:extLst xmlns:a="http://schemas.openxmlformats.org/drawingml/2006/main">
              <a:ext uri="{FF2B5EF4-FFF2-40B4-BE49-F238E27FC236}">
                <a16:creationId xmlns:a16="http://schemas.microsoft.com/office/drawing/2014/main" id="{14585AB2-1CD3-4935-B6BB-F434F99E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33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4" name="slide3-process-step-4-text">
            <a:extLst xmlns:a="http://schemas.openxmlformats.org/drawingml/2006/main">
              <a:ext uri="{FF2B5EF4-FFF2-40B4-BE49-F238E27FC236}">
                <a16:creationId xmlns:a16="http://schemas.microsoft.com/office/drawing/2014/main" id="{B5185599-3FC9-40FF-BDD2-DD0196E0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242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tbdaaat18  고객회원카드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암호화 정보 · 제한</a:t>
            </a:r>
          </a:p>
        </p:txBody>
      </p:sp>
      <p:sp>
        <p:nvSpPr>
          <p:cNvPr id="25" name="slide3-process-step-5">
            <a:extLst xmlns:a="http://schemas.openxmlformats.org/drawingml/2006/main">
              <a:ext uri="{FF2B5EF4-FFF2-40B4-BE49-F238E27FC236}">
                <a16:creationId xmlns:a16="http://schemas.microsoft.com/office/drawing/2014/main" id="{F1F4881E-FC1E-4B70-8CB4-2B6F03B5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33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26" name="slide3-process-step-5-text">
            <a:extLst xmlns:a="http://schemas.openxmlformats.org/drawingml/2006/main">
              <a:ext uri="{FF2B5EF4-FFF2-40B4-BE49-F238E27FC236}">
                <a16:creationId xmlns:a16="http://schemas.microsoft.com/office/drawing/2014/main" id="{D7DE0E4F-978C-4D7E-946F-56F0A357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243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tmdaaaa12  기타고객관계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</p:txBody>
      </p:sp>
      <p:sp>
        <p:nvSpPr>
          <p:cNvPr id="27" name="slide3-output-card">
            <a:extLst xmlns:a="http://schemas.openxmlformats.org/drawingml/2006/main">
              <a:ext uri="{FF2B5EF4-FFF2-40B4-BE49-F238E27FC236}">
                <a16:creationId xmlns:a16="http://schemas.microsoft.com/office/drawing/2014/main" id="{5B4D1657-8B21-416E-AD5B-6E59B7BD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28" name="slide3-output-phase">
            <a:extLst xmlns:a="http://schemas.openxmlformats.org/drawingml/2006/main">
              <a:ext uri="{FF2B5EF4-FFF2-40B4-BE49-F238E27FC236}">
                <a16:creationId xmlns:a16="http://schemas.microsoft.com/office/drawing/2014/main" id="{457EF408-1247-469C-9122-14DE4E41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3 TABLES</a:t>
            </a:r>
          </a:p>
        </p:txBody>
      </p:sp>
      <p:sp>
        <p:nvSpPr>
          <p:cNvPr id="29" name="slide3-output-title">
            <a:extLst xmlns:a="http://schemas.openxmlformats.org/drawingml/2006/main">
              <a:ext uri="{FF2B5EF4-FFF2-40B4-BE49-F238E27FC236}">
                <a16:creationId xmlns:a16="http://schemas.microsoft.com/office/drawing/2014/main" id="{4A4E888D-DA5C-496A-B47A-68FCA3B5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관계·영업관리</a:t>
            </a:r>
          </a:p>
        </p:txBody>
      </p:sp>
      <p:sp>
        <p:nvSpPr>
          <p:cNvPr id="30" name="slide3-output-step-6">
            <a:extLst xmlns:a="http://schemas.openxmlformats.org/drawingml/2006/main">
              <a:ext uri="{FF2B5EF4-FFF2-40B4-BE49-F238E27FC236}">
                <a16:creationId xmlns:a16="http://schemas.microsoft.com/office/drawing/2014/main" id="{734CF0F0-F0AF-408D-9B45-A715F55B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31" name="slide3-output-step-6-text">
            <a:extLst xmlns:a="http://schemas.openxmlformats.org/drawingml/2006/main">
              <a:ext uri="{FF2B5EF4-FFF2-40B4-BE49-F238E27FC236}">
                <a16:creationId xmlns:a16="http://schemas.microsoft.com/office/drawing/2014/main" id="{2287FE6F-7AB2-4909-AF20-2F0C5DF8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241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tsmagcca1  기업고객전담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</p:txBody>
      </p:sp>
      <p:sp>
        <p:nvSpPr>
          <p:cNvPr id="32" name="slide3-output-step-7">
            <a:extLst xmlns:a="http://schemas.openxmlformats.org/drawingml/2006/main">
              <a:ext uri="{FF2B5EF4-FFF2-40B4-BE49-F238E27FC236}">
                <a16:creationId xmlns:a16="http://schemas.microsoft.com/office/drawing/2014/main" id="{321F103E-B0E9-4112-B5A6-560EFAA0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90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33" name="slide3-output-step-7-text">
            <a:extLst xmlns:a="http://schemas.openxmlformats.org/drawingml/2006/main">
              <a:ext uri="{FF2B5EF4-FFF2-40B4-BE49-F238E27FC236}">
                <a16:creationId xmlns:a16="http://schemas.microsoft.com/office/drawing/2014/main" id="{644D8262-E531-4FC5-8419-72146F7F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8142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tbdaacb02  부점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</p:txBody>
      </p:sp>
      <p:sp>
        <p:nvSpPr>
          <p:cNvPr id="34" name="slide3-output-step-+">
            <a:extLst xmlns:a="http://schemas.openxmlformats.org/drawingml/2006/main">
              <a:ext uri="{FF2B5EF4-FFF2-40B4-BE49-F238E27FC236}">
                <a16:creationId xmlns:a16="http://schemas.microsoft.com/office/drawing/2014/main" id="{E29505B2-2C10-4286-9810-48873B0E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48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  <p:sp>
        <p:nvSpPr>
          <p:cNvPr id="35" name="slide3-output-step-+-text">
            <a:extLst xmlns:a="http://schemas.openxmlformats.org/drawingml/2006/main">
              <a:ext uri="{FF2B5EF4-FFF2-40B4-BE49-F238E27FC236}">
                <a16:creationId xmlns:a16="http://schemas.microsoft.com/office/drawing/2014/main" id="{73891046-EF57-466A-985B-0ACDD191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386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tbdaaat53  거래정지</a:t>
            </a:r>
          </a:p>
        </p:txBody>
      </p:sp>
      <p:sp>
        <p:nvSpPr>
          <p:cNvPr id="36" name="slide-3-bottom-band">
            <a:extLst xmlns:a="http://schemas.openxmlformats.org/drawingml/2006/main">
              <a:ext uri="{FF2B5EF4-FFF2-40B4-BE49-F238E27FC236}">
                <a16:creationId xmlns:a16="http://schemas.microsoft.com/office/drawing/2014/main" id="{62D7A03F-A773-4893-B87D-3B50586F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2776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lide-3-bottom-band-text">
            <a:extLst xmlns:a="http://schemas.openxmlformats.org/drawingml/2006/main">
              <a:ext uri="{FF2B5EF4-FFF2-40B4-BE49-F238E27FC236}">
                <a16:creationId xmlns:a16="http://schemas.microsoft.com/office/drawing/2014/main" id="{7478629F-D50A-4462-9A8C-2FBC29AD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적재  |  현재 마스터 + 일별·전일·월별 스냅샷을 함께 사용</a:t>
            </a:r>
          </a:p>
        </p:txBody>
      </p:sp>
      <p:sp>
        <p:nvSpPr>
          <p:cNvPr id="38" name="slide-3-footer-label">
            <a:extLst xmlns:a="http://schemas.openxmlformats.org/drawingml/2006/main">
              <a:ext uri="{FF2B5EF4-FFF2-40B4-BE49-F238E27FC236}">
                <a16:creationId xmlns:a16="http://schemas.microsoft.com/office/drawing/2014/main" id="{5C900292-66D7-4B30-B98A-E0D94D38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KB Card Corporate Sales · Text2SQL V4 · Appendix</a:t>
            </a:r>
          </a:p>
        </p:txBody>
      </p:sp>
      <p:sp>
        <p:nvSpPr>
          <p:cNvPr id="39" name="slide-3-footer-number">
            <a:extLst xmlns:a="http://schemas.openxmlformats.org/drawingml/2006/main">
              <a:ext uri="{FF2B5EF4-FFF2-40B4-BE49-F238E27FC236}">
                <a16:creationId xmlns:a16="http://schemas.microsoft.com/office/drawing/2014/main" id="{CD45278E-FDB5-4B48-BC40-9E540717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456236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EB609BB-43B4-4288-8C2A-2B72584C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사용 테이블 ② 카드·상품·매출·카드성과 (10개)</a:t>
            </a:r>
          </a:p>
        </p:txBody>
      </p:sp>
      <p:sp>
        <p:nvSpPr>
          <p:cNvPr id="2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0B0FB8BD-2CB2-49F4-9820-5A67DBC7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카드 상태와 국내·해외 이용, 월실적·연체를 함께 연결합니다.</a:t>
            </a:r>
          </a:p>
        </p:txBody>
      </p:sp>
      <p:sp>
        <p:nvSpPr>
          <p:cNvPr id="3" name="slide-3-accent-line">
            <a:extLst xmlns:a="http://schemas.openxmlformats.org/drawingml/2006/main">
              <a:ext uri="{FF2B5EF4-FFF2-40B4-BE49-F238E27FC236}">
                <a16:creationId xmlns:a16="http://schemas.microsoft.com/office/drawing/2014/main" id="{4A1E001B-B752-44A9-AA03-72C82D1B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3-input-anchor">
            <a:extLst xmlns:a="http://schemas.openxmlformats.org/drawingml/2006/main">
              <a:ext uri="{FF2B5EF4-FFF2-40B4-BE49-F238E27FC236}">
                <a16:creationId xmlns:a16="http://schemas.microsoft.com/office/drawing/2014/main" id="{3C1EF3D8-F43B-41A4-8AAA-4B9CB439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slide3-process-anchor">
            <a:extLst xmlns:a="http://schemas.openxmlformats.org/drawingml/2006/main">
              <a:ext uri="{FF2B5EF4-FFF2-40B4-BE49-F238E27FC236}">
                <a16:creationId xmlns:a16="http://schemas.microsoft.com/office/drawing/2014/main" id="{73A15B7B-8D67-4ABF-8D5C-B49E8D2D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slide3-output-anchor">
            <a:extLst xmlns:a="http://schemas.openxmlformats.org/drawingml/2006/main">
              <a:ext uri="{FF2B5EF4-FFF2-40B4-BE49-F238E27FC236}">
                <a16:creationId xmlns:a16="http://schemas.microsoft.com/office/drawing/2014/main" id="{C23B42C3-02A9-4DBA-81D5-5E8D0796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90950" y="35337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762875" y="35337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sp>
        <p:nvSpPr>
          <p:cNvPr id="9" name="slide3-input-card">
            <a:extLst xmlns:a="http://schemas.openxmlformats.org/drawingml/2006/main">
              <a:ext uri="{FF2B5EF4-FFF2-40B4-BE49-F238E27FC236}">
                <a16:creationId xmlns:a16="http://schemas.microsoft.com/office/drawing/2014/main" id="{094FA9D4-5B2B-4F19-B25C-6BBD0AE8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0" name="slide3-input-phase">
            <a:extLst xmlns:a="http://schemas.openxmlformats.org/drawingml/2006/main">
              <a:ext uri="{FF2B5EF4-FFF2-40B4-BE49-F238E27FC236}">
                <a16:creationId xmlns:a16="http://schemas.microsoft.com/office/drawing/2014/main" id="{41DB3549-60FB-4C92-AE28-9D356A82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4 TABLES</a:t>
            </a:r>
          </a:p>
        </p:txBody>
      </p:sp>
      <p:sp>
        <p:nvSpPr>
          <p:cNvPr id="11" name="slide3-input-title">
            <a:extLst xmlns:a="http://schemas.openxmlformats.org/drawingml/2006/main">
              <a:ext uri="{FF2B5EF4-FFF2-40B4-BE49-F238E27FC236}">
                <a16:creationId xmlns:a16="http://schemas.microsoft.com/office/drawing/2014/main" id="{12ABA827-F46B-495B-A45C-A2A56D1C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카드 상태</a:t>
            </a:r>
          </a:p>
        </p:txBody>
      </p:sp>
      <p:sp>
        <p:nvSpPr>
          <p:cNvPr id="12" name="slide3-input-step-1">
            <a:extLst xmlns:a="http://schemas.openxmlformats.org/drawingml/2006/main">
              <a:ext uri="{FF2B5EF4-FFF2-40B4-BE49-F238E27FC236}">
                <a16:creationId xmlns:a16="http://schemas.microsoft.com/office/drawing/2014/main" id="{7B8B8B1D-2729-4F44-B1B1-2513FEEE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3" name="slide3-input-step-1-text">
            <a:extLst xmlns:a="http://schemas.openxmlformats.org/drawingml/2006/main">
              <a:ext uri="{FF2B5EF4-FFF2-40B4-BE49-F238E27FC236}">
                <a16:creationId xmlns:a16="http://schemas.microsoft.com/office/drawing/2014/main" id="{5B4A4989-E857-45A5-8229-5701CE13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2417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tbdaaat05  회원카드기본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</p:txBody>
      </p:sp>
      <p:sp>
        <p:nvSpPr>
          <p:cNvPr id="14" name="slide3-input-step-2">
            <a:extLst xmlns:a="http://schemas.openxmlformats.org/drawingml/2006/main">
              <a:ext uri="{FF2B5EF4-FFF2-40B4-BE49-F238E27FC236}">
                <a16:creationId xmlns:a16="http://schemas.microsoft.com/office/drawing/2014/main" id="{2FA7A401-6DEE-4CCE-9215-0AFF114C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slide3-input-step-2-text">
            <a:extLst xmlns:a="http://schemas.openxmlformats.org/drawingml/2006/main">
              <a:ext uri="{FF2B5EF4-FFF2-40B4-BE49-F238E27FC236}">
                <a16:creationId xmlns:a16="http://schemas.microsoft.com/office/drawing/2014/main" id="{1861444A-B36E-422F-9FBE-CB82F0A4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8142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tbdaaat46  카드변경이력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</p:txBody>
      </p:sp>
      <p:sp>
        <p:nvSpPr>
          <p:cNvPr id="16" name="slide3-input-step-↺">
            <a:extLst xmlns:a="http://schemas.openxmlformats.org/drawingml/2006/main">
              <a:ext uri="{FF2B5EF4-FFF2-40B4-BE49-F238E27FC236}">
                <a16:creationId xmlns:a16="http://schemas.microsoft.com/office/drawing/2014/main" id="{25FEAF9E-1B4D-4ABA-8721-ECFFD839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slide3-input-step-↺-text">
            <a:extLst xmlns:a="http://schemas.openxmlformats.org/drawingml/2006/main">
              <a:ext uri="{FF2B5EF4-FFF2-40B4-BE49-F238E27FC236}">
                <a16:creationId xmlns:a16="http://schemas.microsoft.com/office/drawing/2014/main" id="{F0A53498-9297-473A-B22F-D77F4DE6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386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tddaa3d01  카드일별
tbdaada72  상품</a:t>
            </a:r>
          </a:p>
        </p:txBody>
      </p:sp>
      <p:sp>
        <p:nvSpPr>
          <p:cNvPr id="18" name="slide3-process-card">
            <a:extLst xmlns:a="http://schemas.openxmlformats.org/drawingml/2006/main">
              <a:ext uri="{FF2B5EF4-FFF2-40B4-BE49-F238E27FC236}">
                <a16:creationId xmlns:a16="http://schemas.microsoft.com/office/drawing/2014/main" id="{E716831A-6EA6-4D96-A66B-00A736A9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23813">
            <a:solidFill>
              <a:srgbClr val="FFCC00"/>
            </a:solidFill>
            <a:prstDash val="solid"/>
          </a:ln>
        </p:spPr>
      </p:sp>
      <p:sp>
        <p:nvSpPr>
          <p:cNvPr id="19" name="slide3-process-phase">
            <a:extLst xmlns:a="http://schemas.openxmlformats.org/drawingml/2006/main">
              <a:ext uri="{FF2B5EF4-FFF2-40B4-BE49-F238E27FC236}">
                <a16:creationId xmlns:a16="http://schemas.microsoft.com/office/drawing/2014/main" id="{A4497480-B700-4771-9986-187CD605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rPr>
              <a:t>4 TABLES</a:t>
            </a:r>
          </a:p>
        </p:txBody>
      </p:sp>
      <p:sp>
        <p:nvSpPr>
          <p:cNvPr id="20" name="slide3-process-title">
            <a:extLst xmlns:a="http://schemas.openxmlformats.org/drawingml/2006/main">
              <a:ext uri="{FF2B5EF4-FFF2-40B4-BE49-F238E27FC236}">
                <a16:creationId xmlns:a16="http://schemas.microsoft.com/office/drawing/2014/main" id="{3DE78CDF-9503-48B3-A212-D2244360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발급·매출</a:t>
            </a:r>
          </a:p>
        </p:txBody>
      </p:sp>
      <p:sp>
        <p:nvSpPr>
          <p:cNvPr id="21" name="slide3-process-step-3">
            <a:extLst xmlns:a="http://schemas.openxmlformats.org/drawingml/2006/main">
              <a:ext uri="{FF2B5EF4-FFF2-40B4-BE49-F238E27FC236}">
                <a16:creationId xmlns:a16="http://schemas.microsoft.com/office/drawing/2014/main" id="{18E473D2-AB9F-485E-BC5A-11BC07E7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2" name="slide3-process-step-3-text">
            <a:extLst xmlns:a="http://schemas.openxmlformats.org/drawingml/2006/main">
              <a:ext uri="{FF2B5EF4-FFF2-40B4-BE49-F238E27FC236}">
                <a16:creationId xmlns:a16="http://schemas.microsoft.com/office/drawing/2014/main" id="{A89BE53E-60EA-4A8B-A049-4B85DA4F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241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tddaa3e21  모집최초카드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</p:txBody>
      </p:sp>
      <p:sp>
        <p:nvSpPr>
          <p:cNvPr id="23" name="slide3-process-step-4">
            <a:extLst xmlns:a="http://schemas.openxmlformats.org/drawingml/2006/main">
              <a:ext uri="{FF2B5EF4-FFF2-40B4-BE49-F238E27FC236}">
                <a16:creationId xmlns:a16="http://schemas.microsoft.com/office/drawing/2014/main" id="{14585AB2-1CD3-4935-B6BB-F434F99E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33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4" name="slide3-process-step-4-text">
            <a:extLst xmlns:a="http://schemas.openxmlformats.org/drawingml/2006/main">
              <a:ext uri="{FF2B5EF4-FFF2-40B4-BE49-F238E27FC236}">
                <a16:creationId xmlns:a16="http://schemas.microsoft.com/office/drawing/2014/main" id="{B5185599-3FC9-40FF-BDD2-DD0196E0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242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tddaa3e23  기존회원카드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</p:txBody>
      </p:sp>
      <p:sp>
        <p:nvSpPr>
          <p:cNvPr id="25" name="slide3-process-step-5">
            <a:extLst xmlns:a="http://schemas.openxmlformats.org/drawingml/2006/main">
              <a:ext uri="{FF2B5EF4-FFF2-40B4-BE49-F238E27FC236}">
                <a16:creationId xmlns:a16="http://schemas.microsoft.com/office/drawing/2014/main" id="{F1F4881E-FC1E-4B70-8CB4-2B6F03B5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33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26" name="slide3-process-step-5-text">
            <a:extLst xmlns:a="http://schemas.openxmlformats.org/drawingml/2006/main">
              <a:ext uri="{FF2B5EF4-FFF2-40B4-BE49-F238E27FC236}">
                <a16:creationId xmlns:a16="http://schemas.microsoft.com/office/drawing/2014/main" id="{D7DE0E4F-978C-4D7E-946F-56F0A357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243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tbdaabt30  국내매출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tbdaabt08  해외매출</a:t>
            </a:r>
          </a:p>
        </p:txBody>
      </p:sp>
      <p:sp>
        <p:nvSpPr>
          <p:cNvPr id="27" name="slide3-output-card">
            <a:extLst xmlns:a="http://schemas.openxmlformats.org/drawingml/2006/main">
              <a:ext uri="{FF2B5EF4-FFF2-40B4-BE49-F238E27FC236}">
                <a16:creationId xmlns:a16="http://schemas.microsoft.com/office/drawing/2014/main" id="{5B4D1657-8B21-416E-AD5B-6E59B7BD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28" name="slide3-output-phase">
            <a:extLst xmlns:a="http://schemas.openxmlformats.org/drawingml/2006/main">
              <a:ext uri="{FF2B5EF4-FFF2-40B4-BE49-F238E27FC236}">
                <a16:creationId xmlns:a16="http://schemas.microsoft.com/office/drawing/2014/main" id="{457EF408-1247-469C-9122-14DE4E41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2 TABLES</a:t>
            </a:r>
          </a:p>
        </p:txBody>
      </p:sp>
      <p:sp>
        <p:nvSpPr>
          <p:cNvPr id="29" name="slide3-output-title">
            <a:extLst xmlns:a="http://schemas.openxmlformats.org/drawingml/2006/main">
              <a:ext uri="{FF2B5EF4-FFF2-40B4-BE49-F238E27FC236}">
                <a16:creationId xmlns:a16="http://schemas.microsoft.com/office/drawing/2014/main" id="{4A4E888D-DA5C-496A-B47A-68FCA3B5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성과·연체</a:t>
            </a:r>
          </a:p>
        </p:txBody>
      </p:sp>
      <p:sp>
        <p:nvSpPr>
          <p:cNvPr id="30" name="slide3-output-step-6">
            <a:extLst xmlns:a="http://schemas.openxmlformats.org/drawingml/2006/main">
              <a:ext uri="{FF2B5EF4-FFF2-40B4-BE49-F238E27FC236}">
                <a16:creationId xmlns:a16="http://schemas.microsoft.com/office/drawing/2014/main" id="{734CF0F0-F0AF-408D-9B45-A715F55B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31" name="slide3-output-step-6-text">
            <a:extLst xmlns:a="http://schemas.openxmlformats.org/drawingml/2006/main">
              <a:ext uri="{FF2B5EF4-FFF2-40B4-BE49-F238E27FC236}">
                <a16:creationId xmlns:a16="http://schemas.microsoft.com/office/drawing/2014/main" id="{2287FE6F-7AB2-4909-AF20-2F0C5DF8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241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tmdaa3e16  카드월실적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</p:txBody>
      </p:sp>
      <p:sp>
        <p:nvSpPr>
          <p:cNvPr id="32" name="slide3-output-step-7">
            <a:extLst xmlns:a="http://schemas.openxmlformats.org/drawingml/2006/main">
              <a:ext uri="{FF2B5EF4-FFF2-40B4-BE49-F238E27FC236}">
                <a16:creationId xmlns:a16="http://schemas.microsoft.com/office/drawing/2014/main" id="{321F103E-B0E9-4112-B5A6-560EFAA0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90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33" name="slide3-output-step-7-text">
            <a:extLst xmlns:a="http://schemas.openxmlformats.org/drawingml/2006/main">
              <a:ext uri="{FF2B5EF4-FFF2-40B4-BE49-F238E27FC236}">
                <a16:creationId xmlns:a16="http://schemas.microsoft.com/office/drawing/2014/main" id="{644D8262-E531-4FC5-8419-72146F7F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8142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tddaa3l01  카드연체일별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</p:txBody>
      </p:sp>
      <p:sp>
        <p:nvSpPr>
          <p:cNvPr id="34" name="slide3-output-step-+">
            <a:extLst xmlns:a="http://schemas.openxmlformats.org/drawingml/2006/main">
              <a:ext uri="{FF2B5EF4-FFF2-40B4-BE49-F238E27FC236}">
                <a16:creationId xmlns:a16="http://schemas.microsoft.com/office/drawing/2014/main" id="{E29505B2-2C10-4286-9810-48873B0E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48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✓</a:t>
            </a:r>
          </a:p>
        </p:txBody>
      </p:sp>
      <p:sp>
        <p:nvSpPr>
          <p:cNvPr id="35" name="slide3-output-step-+-text">
            <a:extLst xmlns:a="http://schemas.openxmlformats.org/drawingml/2006/main">
              <a:ext uri="{FF2B5EF4-FFF2-40B4-BE49-F238E27FC236}">
                <a16:creationId xmlns:a16="http://schemas.microsoft.com/office/drawing/2014/main" id="{73891046-EF57-466A-985B-0ACDD191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386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월별 성과·한도와
일별 연체 회차·일수 확인</a:t>
            </a:r>
          </a:p>
        </p:txBody>
      </p:sp>
      <p:sp>
        <p:nvSpPr>
          <p:cNvPr id="36" name="slide-3-bottom-band">
            <a:extLst xmlns:a="http://schemas.openxmlformats.org/drawingml/2006/main">
              <a:ext uri="{FF2B5EF4-FFF2-40B4-BE49-F238E27FC236}">
                <a16:creationId xmlns:a16="http://schemas.microsoft.com/office/drawing/2014/main" id="{62D7A03F-A773-4893-B87D-3B50586F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2776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lide-3-bottom-band-text">
            <a:extLst xmlns:a="http://schemas.openxmlformats.org/drawingml/2006/main">
              <a:ext uri="{FF2B5EF4-FFF2-40B4-BE49-F238E27FC236}">
                <a16:creationId xmlns:a16="http://schemas.microsoft.com/office/drawing/2014/main" id="{7478629F-D50A-4462-9A8C-2FBC29AD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거래 grain  |  국내·해외 전표 / 카드 일별 / 카드 월 통합실적</a:t>
            </a:r>
          </a:p>
        </p:txBody>
      </p:sp>
      <p:sp>
        <p:nvSpPr>
          <p:cNvPr id="38" name="slide-3-footer-label">
            <a:extLst xmlns:a="http://schemas.openxmlformats.org/drawingml/2006/main">
              <a:ext uri="{FF2B5EF4-FFF2-40B4-BE49-F238E27FC236}">
                <a16:creationId xmlns:a16="http://schemas.microsoft.com/office/drawing/2014/main" id="{5C900292-66D7-4B30-B98A-E0D94D38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KB Card Corporate Sales · Text2SQL V4 · Appendix</a:t>
            </a:r>
          </a:p>
        </p:txBody>
      </p:sp>
      <p:sp>
        <p:nvSpPr>
          <p:cNvPr id="39" name="slide-3-footer-number">
            <a:extLst xmlns:a="http://schemas.openxmlformats.org/drawingml/2006/main">
              <a:ext uri="{FF2B5EF4-FFF2-40B4-BE49-F238E27FC236}">
                <a16:creationId xmlns:a16="http://schemas.microsoft.com/office/drawing/2014/main" id="{CD45278E-FDB5-4B48-BC40-9E540717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456236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EB609BB-43B4-4288-8C2A-2B72584C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사용 테이블 ③ 가맹점·업종·월실적·신용리스크 (10개)</a:t>
            </a:r>
          </a:p>
        </p:txBody>
      </p:sp>
      <p:sp>
        <p:nvSpPr>
          <p:cNvPr id="2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0B0FB8BD-2CB2-49F4-9820-5A67DBC7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368"/>
                </a:solidFill>
                <a:latin typeface="Apple SD Gothic Neo"/>
                <a:ea typeface="Apple SD Gothic Neo"/>
                <a:cs typeface="Apple SD Gothic Neo"/>
              </a:rPr>
              <a:t>가맹점 현황과 업종 코드를 성과·거래정지·채권 리스크까지 연결합니다.</a:t>
            </a:r>
          </a:p>
        </p:txBody>
      </p:sp>
      <p:sp>
        <p:nvSpPr>
          <p:cNvPr id="3" name="slide-3-accent-line">
            <a:extLst xmlns:a="http://schemas.openxmlformats.org/drawingml/2006/main">
              <a:ext uri="{FF2B5EF4-FFF2-40B4-BE49-F238E27FC236}">
                <a16:creationId xmlns:a16="http://schemas.microsoft.com/office/drawing/2014/main" id="{4A1E001B-B752-44A9-AA03-72C82D1B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3-input-anchor">
            <a:extLst xmlns:a="http://schemas.openxmlformats.org/drawingml/2006/main">
              <a:ext uri="{FF2B5EF4-FFF2-40B4-BE49-F238E27FC236}">
                <a16:creationId xmlns:a16="http://schemas.microsoft.com/office/drawing/2014/main" id="{3C1EF3D8-F43B-41A4-8AAA-4B9CB439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slide3-process-anchor">
            <a:extLst xmlns:a="http://schemas.openxmlformats.org/drawingml/2006/main">
              <a:ext uri="{FF2B5EF4-FFF2-40B4-BE49-F238E27FC236}">
                <a16:creationId xmlns:a16="http://schemas.microsoft.com/office/drawing/2014/main" id="{73A15B7B-8D67-4ABF-8D5C-B49E8D2D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slide3-output-anchor">
            <a:extLst xmlns:a="http://schemas.openxmlformats.org/drawingml/2006/main">
              <a:ext uri="{FF2B5EF4-FFF2-40B4-BE49-F238E27FC236}">
                <a16:creationId xmlns:a16="http://schemas.microsoft.com/office/drawing/2014/main" id="{C23B42C3-02A9-4DBA-81D5-5E8D0796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90700"/>
            <a:ext cx="33337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90950" y="35337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762875" y="35337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C00"/>
            </a:solidFill>
            <a:prstDash val="solid"/>
            <a:tailEnd type="triangle" w="sm" len="sm"/>
          </a:ln>
        </p:spPr>
      </p:cxnSp>
      <p:sp>
        <p:nvSpPr>
          <p:cNvPr id="9" name="slide3-input-card">
            <a:extLst xmlns:a="http://schemas.openxmlformats.org/drawingml/2006/main">
              <a:ext uri="{FF2B5EF4-FFF2-40B4-BE49-F238E27FC236}">
                <a16:creationId xmlns:a16="http://schemas.microsoft.com/office/drawing/2014/main" id="{094FA9D4-5B2B-4F19-B25C-6BBD0AE8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0" name="slide3-input-phase">
            <a:extLst xmlns:a="http://schemas.openxmlformats.org/drawingml/2006/main">
              <a:ext uri="{FF2B5EF4-FFF2-40B4-BE49-F238E27FC236}">
                <a16:creationId xmlns:a16="http://schemas.microsoft.com/office/drawing/2014/main" id="{41DB3549-60FB-4C92-AE28-9D356A82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4 TABLES</a:t>
            </a:r>
          </a:p>
        </p:txBody>
      </p:sp>
      <p:sp>
        <p:nvSpPr>
          <p:cNvPr id="11" name="slide3-input-title">
            <a:extLst xmlns:a="http://schemas.openxmlformats.org/drawingml/2006/main">
              <a:ext uri="{FF2B5EF4-FFF2-40B4-BE49-F238E27FC236}">
                <a16:creationId xmlns:a16="http://schemas.microsoft.com/office/drawing/2014/main" id="{12ABA827-F46B-495B-A45C-A2A56D1C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가맹점 현황</a:t>
            </a:r>
          </a:p>
        </p:txBody>
      </p:sp>
      <p:sp>
        <p:nvSpPr>
          <p:cNvPr id="12" name="slide3-input-step-1">
            <a:extLst xmlns:a="http://schemas.openxmlformats.org/drawingml/2006/main">
              <a:ext uri="{FF2B5EF4-FFF2-40B4-BE49-F238E27FC236}">
                <a16:creationId xmlns:a16="http://schemas.microsoft.com/office/drawing/2014/main" id="{7B8B8B1D-2729-4F44-B1B1-2513FEEE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3" name="slide3-input-step-1-text">
            <a:extLst xmlns:a="http://schemas.openxmlformats.org/drawingml/2006/main">
              <a:ext uri="{FF2B5EF4-FFF2-40B4-BE49-F238E27FC236}">
                <a16:creationId xmlns:a16="http://schemas.microsoft.com/office/drawing/2014/main" id="{5B4A4989-E857-45A5-8229-5701CE13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2417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tbdaadt01  가맹점기본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</p:txBody>
      </p:sp>
      <p:sp>
        <p:nvSpPr>
          <p:cNvPr id="14" name="slide3-input-step-2">
            <a:extLst xmlns:a="http://schemas.openxmlformats.org/drawingml/2006/main">
              <a:ext uri="{FF2B5EF4-FFF2-40B4-BE49-F238E27FC236}">
                <a16:creationId xmlns:a16="http://schemas.microsoft.com/office/drawing/2014/main" id="{2FA7A401-6DEE-4CCE-9215-0AFF114C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slide3-input-step-2-text">
            <a:extLst xmlns:a="http://schemas.openxmlformats.org/drawingml/2006/main">
              <a:ext uri="{FF2B5EF4-FFF2-40B4-BE49-F238E27FC236}">
                <a16:creationId xmlns:a16="http://schemas.microsoft.com/office/drawing/2014/main" id="{1861444A-B36E-422F-9FBE-CB82F0A4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81425"/>
            <a:ext cx="245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tbdaaus01  가맹점일별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tmdaa5d01  가맹점월스냅샷</a:t>
            </a:r>
          </a:p>
        </p:txBody>
      </p:sp>
      <p:sp>
        <p:nvSpPr>
          <p:cNvPr id="16" name="slide3-input-step-↺">
            <a:extLst xmlns:a="http://schemas.openxmlformats.org/drawingml/2006/main">
              <a:ext uri="{FF2B5EF4-FFF2-40B4-BE49-F238E27FC236}">
                <a16:creationId xmlns:a16="http://schemas.microsoft.com/office/drawing/2014/main" id="{25FEAF9E-1B4D-4ABA-8721-ECFFD839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slide3-input-step-↺-text">
            <a:extLst xmlns:a="http://schemas.openxmlformats.org/drawingml/2006/main">
              <a:ext uri="{FF2B5EF4-FFF2-40B4-BE49-F238E27FC236}">
                <a16:creationId xmlns:a16="http://schemas.microsoft.com/office/drawing/2014/main" id="{F0A53498-9297-473A-B22F-D77F4DE6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386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tmdaaus01  가맹점월말요약</a:t>
            </a:r>
          </a:p>
        </p:txBody>
      </p:sp>
      <p:sp>
        <p:nvSpPr>
          <p:cNvPr id="18" name="slide3-process-card">
            <a:extLst xmlns:a="http://schemas.openxmlformats.org/drawingml/2006/main">
              <a:ext uri="{FF2B5EF4-FFF2-40B4-BE49-F238E27FC236}">
                <a16:creationId xmlns:a16="http://schemas.microsoft.com/office/drawing/2014/main" id="{E716831A-6EA6-4D96-A66B-00A736A9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4BF"/>
          </a:solidFill>
          <a:ln xmlns:a="http://schemas.openxmlformats.org/drawingml/2006/main" w="23813">
            <a:solidFill>
              <a:srgbClr val="FFCC00"/>
            </a:solidFill>
            <a:prstDash val="solid"/>
          </a:ln>
        </p:spPr>
      </p:sp>
      <p:sp>
        <p:nvSpPr>
          <p:cNvPr id="19" name="slide3-process-phase">
            <a:extLst xmlns:a="http://schemas.openxmlformats.org/drawingml/2006/main">
              <a:ext uri="{FF2B5EF4-FFF2-40B4-BE49-F238E27FC236}">
                <a16:creationId xmlns:a16="http://schemas.microsoft.com/office/drawing/2014/main" id="{A4497480-B700-4771-9986-187CD605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6B00"/>
                </a:solidFill>
                <a:latin typeface="Apple SD Gothic Neo"/>
                <a:ea typeface="Apple SD Gothic Neo"/>
                <a:cs typeface="Apple SD Gothic Neo"/>
              </a:rPr>
              <a:t>3 TABLES</a:t>
            </a:r>
          </a:p>
        </p:txBody>
      </p:sp>
      <p:sp>
        <p:nvSpPr>
          <p:cNvPr id="20" name="slide3-process-title">
            <a:extLst xmlns:a="http://schemas.openxmlformats.org/drawingml/2006/main">
              <a:ext uri="{FF2B5EF4-FFF2-40B4-BE49-F238E27FC236}">
                <a16:creationId xmlns:a16="http://schemas.microsoft.com/office/drawing/2014/main" id="{3DE78CDF-9503-48B3-A212-D2244360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업종·성과</a:t>
            </a:r>
          </a:p>
        </p:txBody>
      </p:sp>
      <p:sp>
        <p:nvSpPr>
          <p:cNvPr id="21" name="slide3-process-step-3">
            <a:extLst xmlns:a="http://schemas.openxmlformats.org/drawingml/2006/main">
              <a:ext uri="{FF2B5EF4-FFF2-40B4-BE49-F238E27FC236}">
                <a16:creationId xmlns:a16="http://schemas.microsoft.com/office/drawing/2014/main" id="{18E473D2-AB9F-485E-BC5A-11BC07E7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2" name="slide3-process-step-3-text">
            <a:extLst xmlns:a="http://schemas.openxmlformats.org/drawingml/2006/main">
              <a:ext uri="{FF2B5EF4-FFF2-40B4-BE49-F238E27FC236}">
                <a16:creationId xmlns:a16="http://schemas.microsoft.com/office/drawing/2014/main" id="{A89BE53E-60EA-4A8B-A049-4B85DA4F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241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tmdaa5e11  가맹점월실적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</p:txBody>
      </p:sp>
      <p:sp>
        <p:nvSpPr>
          <p:cNvPr id="23" name="slide3-process-step-4">
            <a:extLst xmlns:a="http://schemas.openxmlformats.org/drawingml/2006/main">
              <a:ext uri="{FF2B5EF4-FFF2-40B4-BE49-F238E27FC236}">
                <a16:creationId xmlns:a16="http://schemas.microsoft.com/office/drawing/2014/main" id="{14585AB2-1CD3-4935-B6BB-F434F99E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33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4" name="slide3-process-step-4-text">
            <a:extLst xmlns:a="http://schemas.openxmlformats.org/drawingml/2006/main">
              <a:ext uri="{FF2B5EF4-FFF2-40B4-BE49-F238E27FC236}">
                <a16:creationId xmlns:a16="http://schemas.microsoft.com/office/drawing/2014/main" id="{B5185599-3FC9-40FF-BDD2-DD0196E0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242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tbdaadb17  가맹점업종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</p:txBody>
      </p:sp>
      <p:sp>
        <p:nvSpPr>
          <p:cNvPr id="25" name="slide3-process-step-5">
            <a:extLst xmlns:a="http://schemas.openxmlformats.org/drawingml/2006/main">
              <a:ext uri="{FF2B5EF4-FFF2-40B4-BE49-F238E27FC236}">
                <a16:creationId xmlns:a16="http://schemas.microsoft.com/office/drawing/2014/main" id="{F1F4881E-FC1E-4B70-8CB4-2B6F03B5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33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  <p:sp>
        <p:nvSpPr>
          <p:cNvPr id="26" name="slide3-process-step-5-text">
            <a:extLst xmlns:a="http://schemas.openxmlformats.org/drawingml/2006/main">
              <a:ext uri="{FF2B5EF4-FFF2-40B4-BE49-F238E27FC236}">
                <a16:creationId xmlns:a16="http://schemas.microsoft.com/office/drawing/2014/main" id="{D7DE0E4F-978C-4D7E-946F-56F0A357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243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tbdaabf07  MCC업종코드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</p:txBody>
      </p:sp>
      <p:sp>
        <p:nvSpPr>
          <p:cNvPr id="27" name="slide3-output-card">
            <a:extLst xmlns:a="http://schemas.openxmlformats.org/drawingml/2006/main">
              <a:ext uri="{FF2B5EF4-FFF2-40B4-BE49-F238E27FC236}">
                <a16:creationId xmlns:a16="http://schemas.microsoft.com/office/drawing/2014/main" id="{5B4D1657-8B21-416E-AD5B-6E59B7BD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90700"/>
            <a:ext cx="3333750" cy="34861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28" name="slide3-output-phase">
            <a:extLst xmlns:a="http://schemas.openxmlformats.org/drawingml/2006/main">
              <a:ext uri="{FF2B5EF4-FFF2-40B4-BE49-F238E27FC236}">
                <a16:creationId xmlns:a16="http://schemas.microsoft.com/office/drawing/2014/main" id="{457EF408-1247-469C-9122-14DE4E41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3 TABLES</a:t>
            </a:r>
          </a:p>
        </p:txBody>
      </p:sp>
      <p:sp>
        <p:nvSpPr>
          <p:cNvPr id="29" name="slide3-output-title">
            <a:extLst xmlns:a="http://schemas.openxmlformats.org/drawingml/2006/main">
              <a:ext uri="{FF2B5EF4-FFF2-40B4-BE49-F238E27FC236}">
                <a16:creationId xmlns:a16="http://schemas.microsoft.com/office/drawing/2014/main" id="{4A4E888D-DA5C-496A-B47A-68FCA3B5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95525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신용 리스크</a:t>
            </a:r>
          </a:p>
        </p:txBody>
      </p:sp>
      <p:sp>
        <p:nvSpPr>
          <p:cNvPr id="30" name="slide3-output-step-6">
            <a:extLst xmlns:a="http://schemas.openxmlformats.org/drawingml/2006/main">
              <a:ext uri="{FF2B5EF4-FFF2-40B4-BE49-F238E27FC236}">
                <a16:creationId xmlns:a16="http://schemas.microsoft.com/office/drawing/2014/main" id="{734CF0F0-F0AF-408D-9B45-A715F55B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  <p:sp>
        <p:nvSpPr>
          <p:cNvPr id="31" name="slide3-output-step-6-text">
            <a:extLst xmlns:a="http://schemas.openxmlformats.org/drawingml/2006/main">
              <a:ext uri="{FF2B5EF4-FFF2-40B4-BE49-F238E27FC236}">
                <a16:creationId xmlns:a16="http://schemas.microsoft.com/office/drawing/2014/main" id="{2287FE6F-7AB2-4909-AF20-2F0C5DF8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2417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tbdccam02  거래정지월집계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</p:txBody>
      </p:sp>
      <p:sp>
        <p:nvSpPr>
          <p:cNvPr id="32" name="slide3-output-step-7">
            <a:extLst xmlns:a="http://schemas.openxmlformats.org/drawingml/2006/main">
              <a:ext uri="{FF2B5EF4-FFF2-40B4-BE49-F238E27FC236}">
                <a16:creationId xmlns:a16="http://schemas.microsoft.com/office/drawing/2014/main" id="{321F103E-B0E9-4112-B5A6-560EFAA0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90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  <p:sp>
        <p:nvSpPr>
          <p:cNvPr id="33" name="slide3-output-step-7-text">
            <a:extLst xmlns:a="http://schemas.openxmlformats.org/drawingml/2006/main">
              <a:ext uri="{FF2B5EF4-FFF2-40B4-BE49-F238E27FC236}">
                <a16:creationId xmlns:a16="http://schemas.microsoft.com/office/drawing/2014/main" id="{644D8262-E531-4FC5-8419-72146F7F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81425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tbmaisd06  특수채권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</p:txBody>
      </p:sp>
      <p:sp>
        <p:nvSpPr>
          <p:cNvPr id="34" name="slide3-output-step-+">
            <a:extLst xmlns:a="http://schemas.openxmlformats.org/drawingml/2006/main">
              <a:ext uri="{FF2B5EF4-FFF2-40B4-BE49-F238E27FC236}">
                <a16:creationId xmlns:a16="http://schemas.microsoft.com/office/drawing/2014/main" id="{E29505B2-2C10-4286-9810-48873B0E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48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  <p:sp>
        <p:nvSpPr>
          <p:cNvPr id="35" name="slide3-output-step-+-text">
            <a:extLst xmlns:a="http://schemas.openxmlformats.org/drawingml/2006/main">
              <a:ext uri="{FF2B5EF4-FFF2-40B4-BE49-F238E27FC236}">
                <a16:creationId xmlns:a16="http://schemas.microsoft.com/office/drawing/2014/main" id="{73891046-EF57-466A-985B-0ACDD191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3867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11111"/>
                </a:solidFill>
                <a:latin typeface="Apple SD Gothic Neo"/>
                <a:ea typeface="Apple SD Gothic Neo"/>
                <a:cs typeface="Apple SD Gothic Neo"/>
              </a:rPr>
              <a:t>tbmewcm94  대손충당금</a:t>
            </a:r>
          </a:p>
        </p:txBody>
      </p:sp>
      <p:sp>
        <p:nvSpPr>
          <p:cNvPr id="36" name="slide-3-bottom-band">
            <a:extLst xmlns:a="http://schemas.openxmlformats.org/drawingml/2006/main">
              <a:ext uri="{FF2B5EF4-FFF2-40B4-BE49-F238E27FC236}">
                <a16:creationId xmlns:a16="http://schemas.microsoft.com/office/drawing/2014/main" id="{62D7A03F-A773-4893-B87D-3B50586F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2776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lide-3-bottom-band-text">
            <a:extLst xmlns:a="http://schemas.openxmlformats.org/drawingml/2006/main">
              <a:ext uri="{FF2B5EF4-FFF2-40B4-BE49-F238E27FC236}">
                <a16:creationId xmlns:a16="http://schemas.microsoft.com/office/drawing/2014/main" id="{7478629F-D50A-4462-9A8C-2FBC29AD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주요 grain  |  가맹점 일별·월말·월실적 / 고객·채권별 리스크</a:t>
            </a:r>
          </a:p>
        </p:txBody>
      </p:sp>
      <p:sp>
        <p:nvSpPr>
          <p:cNvPr id="38" name="slide-3-footer-label">
            <a:extLst xmlns:a="http://schemas.openxmlformats.org/drawingml/2006/main">
              <a:ext uri="{FF2B5EF4-FFF2-40B4-BE49-F238E27FC236}">
                <a16:creationId xmlns:a16="http://schemas.microsoft.com/office/drawing/2014/main" id="{5C900292-66D7-4B30-B98A-E0D94D38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KB Card Corporate Sales · Text2SQL V4 · Appendix</a:t>
            </a:r>
          </a:p>
        </p:txBody>
      </p:sp>
      <p:sp>
        <p:nvSpPr>
          <p:cNvPr id="39" name="slide-3-footer-number">
            <a:extLst xmlns:a="http://schemas.openxmlformats.org/drawingml/2006/main">
              <a:ext uri="{FF2B5EF4-FFF2-40B4-BE49-F238E27FC236}">
                <a16:creationId xmlns:a16="http://schemas.microsoft.com/office/drawing/2014/main" id="{CD45278E-FDB5-4B48-BC40-9E540717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8B8F94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45623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2026-08-12T10:18:21.9200000Z</dcterms:created>
  <dcterms:modified xsi:type="dcterms:W3CDTF">2026-08-12T10:18:21.9200000Z</dcterms:modified>
</coreProperties>
</file>