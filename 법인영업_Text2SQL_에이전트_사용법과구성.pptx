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에이전트는 법인영업 현업이 SQL을 몰라도 업무 데이터를 조회할 수 있게 하는 사내 서비스다. 핵심은 LLM에 전부 맡기지 않는다는 점으로, 질문 분류·도메인 선택·파라미터 추출은 규칙이 먼저 처리하고 애매한 구간에만 LLM을 부른다. 수치는 2026-08-24 작업 트리에서 실제로 센 값이다.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세 영역이다. 왼쪽 레일은 대화 목록과 데이터 도구(저장 쿼리·보고서 내보내기), 가운데는 질문과 답변, 오른쪽 상세 패널은 근거 데이터와 실행 SQL이다. 현업이 가장 많이 놓치는 두 가지는 (1) 데이터 탭이 100건 미리보기라는 점, (2) 전체 행은 Excel·TXT 내보내기로 받아야 한다는 점이다. 질문 요령과 예시는 앱 안 이용가이드에 그대로 들어 있으니 화면에서 바로 보여주면 된다. 같은 에이전트는 CLI(python -m text2sql_agent)와 사내 API로도 호출할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 여섯 칸 중 실제 판단이 몰리는 곳은 네 번째 '실행 경로 선택'이다. 여기서 Tool, 검증된 쿼리, 자동 생성, 직접 SQL 중 하나가 정해진다. 도메인 라우팅은 업무 규칙·키워드 점수를 먼저 쓰고, 후보 점수가 붙어 있을 때만 LLM이 최종 판정한다.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안전장치는 DB 권한을 대신하지 않는다는 점이 중요하다. 조회 계정 자체가 읽기 전용이어야 하고, 민감 컬럼 제외는 별도 데이터 접근통제와 함께 써야 한다. 품질 수치는 오늘 작업 트리에서 직접 돌린 값이며, 골든셋 10건 실패는 reports/semantic-golden-eval.md에 케이스별로 남아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pic>
        <p:nvPicPr>
          <p:cNvPr id="2" name="Image 0" descr="/Users/minsu/Documents/company/franchise/corporate-sales-v1/corporate_sales_fable_v2/web/static/kb-logo-transparent.png">    </p:cNvPr>
          <p:cNvPicPr>
            <a:picLocks noChangeAspect="1"/>
          </p:cNvPicPr>
          <p:nvPr/>
        </p:nvPicPr>
        <p:blipFill>
          <a:blip r:embed="rId1"/>
          <a:stretch>
            <a:fillRect/>
          </a:stretch>
        </p:blipFill>
        <p:spPr>
          <a:xfrm>
            <a:off x="566928" y="457200"/>
            <a:ext cx="749808" cy="612648"/>
          </a:xfrm>
          <a:prstGeom prst="rect">
            <a:avLst/>
          </a:prstGeom>
        </p:spPr>
      </p:pic>
      <p:sp>
        <p:nvSpPr>
          <p:cNvPr id="3" name="Text 0"/>
          <p:cNvSpPr/>
          <p:nvPr/>
        </p:nvSpPr>
        <p:spPr>
          <a:xfrm>
            <a:off x="548640" y="1225296"/>
            <a:ext cx="7863840" cy="274320"/>
          </a:xfrm>
          <a:prstGeom prst="rect">
            <a:avLst/>
          </a:prstGeom>
          <a:noFill/>
          <a:ln/>
        </p:spPr>
        <p:txBody>
          <a:bodyPr wrap="square" lIns="0" tIns="0" rIns="0" bIns="0" rtlCol="0" anchor="ctr"/>
          <a:lstStyle/>
          <a:p>
            <a:pPr indent="0" marL="0">
              <a:buNone/>
            </a:pPr>
            <a:r>
              <a:rPr lang="en-US" sz="1200" b="1" spc="180" kern="0" dirty="0">
                <a:solidFill>
                  <a:srgbClr val="FCAF17"/>
                </a:solidFill>
                <a:latin typeface="Apple SD Gothic Neo" pitchFamily="34" charset="0"/>
                <a:ea typeface="Apple SD Gothic Neo" pitchFamily="34" charset="-122"/>
                <a:cs typeface="Apple SD Gothic Neo" pitchFamily="34" charset="-120"/>
              </a:rPr>
              <a:t>법인영업 · 자연어 데이터 조회 에이전트</a:t>
            </a:r>
            <a:endParaRPr lang="en-US" sz="1200" dirty="0"/>
          </a:p>
        </p:txBody>
      </p:sp>
      <p:sp>
        <p:nvSpPr>
          <p:cNvPr id="4" name="Text 1"/>
          <p:cNvSpPr/>
          <p:nvPr/>
        </p:nvSpPr>
        <p:spPr>
          <a:xfrm>
            <a:off x="548640" y="1554480"/>
            <a:ext cx="7863840" cy="713232"/>
          </a:xfrm>
          <a:prstGeom prst="rect">
            <a:avLst/>
          </a:prstGeom>
          <a:noFill/>
          <a:ln/>
        </p:spPr>
        <p:txBody>
          <a:bodyPr wrap="square" lIns="0" tIns="0" rIns="0" bIns="0" rtlCol="0" anchor="ctr"/>
          <a:lstStyle/>
          <a:p>
            <a:pPr indent="0" marL="0">
              <a:buNone/>
            </a:pPr>
            <a:r>
              <a:rPr lang="en-US" sz="4000" b="1" dirty="0">
                <a:solidFill>
                  <a:srgbClr val="FFFFFF"/>
                </a:solidFill>
                <a:latin typeface="Apple SD Gothic Neo" pitchFamily="34" charset="0"/>
                <a:ea typeface="Apple SD Gothic Neo" pitchFamily="34" charset="-122"/>
                <a:cs typeface="Apple SD Gothic Neo" pitchFamily="34" charset="-120"/>
              </a:rPr>
              <a:t>법인영업 Text2SQL 에이전트</a:t>
            </a:r>
            <a:endParaRPr lang="en-US" sz="4000" dirty="0"/>
          </a:p>
        </p:txBody>
      </p:sp>
      <p:sp>
        <p:nvSpPr>
          <p:cNvPr id="5" name="Text 2"/>
          <p:cNvSpPr/>
          <p:nvPr/>
        </p:nvSpPr>
        <p:spPr>
          <a:xfrm>
            <a:off x="548640" y="2340864"/>
            <a:ext cx="7772400" cy="731520"/>
          </a:xfrm>
          <a:prstGeom prst="rect">
            <a:avLst/>
          </a:prstGeom>
          <a:noFill/>
          <a:ln/>
        </p:spPr>
        <p:txBody>
          <a:bodyPr wrap="square" lIns="0" tIns="0" rIns="0" bIns="0" rtlCol="0" anchor="ctr"/>
          <a:lstStyle/>
          <a:p>
            <a:pPr indent="0" marL="0">
              <a:lnSpc>
                <a:spcPts val="2400"/>
              </a:lnSpc>
              <a:buNone/>
            </a:pPr>
            <a:r>
              <a:rPr lang="en-US" sz="1500" dirty="0">
                <a:solidFill>
                  <a:srgbClr val="A9AEB4"/>
                </a:solidFill>
                <a:latin typeface="Apple SD Gothic Neo" pitchFamily="34" charset="0"/>
                <a:ea typeface="Apple SD Gothic Neo" pitchFamily="34" charset="-122"/>
                <a:cs typeface="Apple SD Gothic Neo" pitchFamily="34" charset="-120"/>
              </a:rPr>
              <a:t>현업이 우리말로 물으면 시맨틱 레이어를 근거로 SQL을 만들어 읽기 전용으로 조회하고,</a:t>
            </a:r>
            <a:endParaRPr lang="en-US" sz="1500" dirty="0"/>
          </a:p>
          <a:p>
            <a:pPr indent="0" marL="0">
              <a:lnSpc>
                <a:spcPts val="2400"/>
              </a:lnSpc>
              <a:buNone/>
            </a:pPr>
            <a:r>
              <a:rPr lang="en-US" sz="1500" dirty="0">
                <a:solidFill>
                  <a:srgbClr val="A9AEB4"/>
                </a:solidFill>
                <a:latin typeface="Apple SD Gothic Neo" pitchFamily="34" charset="0"/>
                <a:ea typeface="Apple SD Gothic Neo" pitchFamily="34" charset="-122"/>
                <a:cs typeface="Apple SD Gothic Neo" pitchFamily="34" charset="-120"/>
              </a:rPr>
              <a:t>표·차트·리포트로 돌려주는 사내 조회 에이전트입니다.</a:t>
            </a:r>
            <a:endParaRPr lang="en-US" sz="1500" dirty="0"/>
          </a:p>
        </p:txBody>
      </p:sp>
      <p:sp>
        <p:nvSpPr>
          <p:cNvPr id="6" name="Shape 3"/>
          <p:cNvSpPr/>
          <p:nvPr/>
        </p:nvSpPr>
        <p:spPr>
          <a:xfrm>
            <a:off x="548640" y="3200400"/>
            <a:ext cx="7772400" cy="548640"/>
          </a:xfrm>
          <a:prstGeom prst="roundRect">
            <a:avLst>
              <a:gd name="adj" fmla="val 13333"/>
            </a:avLst>
          </a:prstGeom>
          <a:solidFill>
            <a:srgbClr val="272727"/>
          </a:solidFill>
          <a:ln/>
        </p:spPr>
      </p:sp>
      <p:sp>
        <p:nvSpPr>
          <p:cNvPr id="7" name="Text 4"/>
          <p:cNvSpPr/>
          <p:nvPr/>
        </p:nvSpPr>
        <p:spPr>
          <a:xfrm>
            <a:off x="777240" y="3200400"/>
            <a:ext cx="7315200" cy="548640"/>
          </a:xfrm>
          <a:prstGeom prst="rect">
            <a:avLst/>
          </a:prstGeom>
          <a:noFill/>
          <a:ln/>
        </p:spPr>
        <p:txBody>
          <a:bodyPr wrap="square" lIns="0" tIns="0" rIns="0" bIns="0" rtlCol="0" anchor="ctr"/>
          <a:lstStyle/>
          <a:p>
            <a:pPr indent="0" marL="0">
              <a:buNone/>
            </a:pPr>
            <a:r>
              <a:rPr lang="en-US" sz="1350" b="1" dirty="0">
                <a:solidFill>
                  <a:srgbClr val="FFF4DC"/>
                </a:solidFill>
                <a:latin typeface="Apple SD Gothic Neo" pitchFamily="34" charset="0"/>
                <a:ea typeface="Apple SD Gothic Neo" pitchFamily="34" charset="-122"/>
                <a:cs typeface="Apple SD Gothic Neo" pitchFamily="34" charset="-120"/>
              </a:rPr>
              <a:t>결정론적 규칙을 먼저 적용하고, 애매한 구간에만 LLM을 쓰는 하이브리드 구조</a:t>
            </a:r>
            <a:endParaRPr lang="en-US" sz="1350" dirty="0"/>
          </a:p>
        </p:txBody>
      </p:sp>
      <p:sp>
        <p:nvSpPr>
          <p:cNvPr id="8" name="Shape 5"/>
          <p:cNvSpPr/>
          <p:nvPr/>
        </p:nvSpPr>
        <p:spPr>
          <a:xfrm>
            <a:off x="8686800" y="1591056"/>
            <a:ext cx="292608" cy="292608"/>
          </a:xfrm>
          <a:prstGeom prst="ellipse">
            <a:avLst/>
          </a:prstGeom>
          <a:solidFill>
            <a:srgbClr val="FCAF17"/>
          </a:solidFill>
          <a:ln/>
        </p:spPr>
      </p:sp>
      <p:sp>
        <p:nvSpPr>
          <p:cNvPr id="9" name="Text 6"/>
          <p:cNvSpPr/>
          <p:nvPr/>
        </p:nvSpPr>
        <p:spPr>
          <a:xfrm>
            <a:off x="8686800" y="1591056"/>
            <a:ext cx="292608" cy="292608"/>
          </a:xfrm>
          <a:prstGeom prst="rect">
            <a:avLst/>
          </a:prstGeom>
          <a:noFill/>
          <a:ln/>
        </p:spPr>
        <p:txBody>
          <a:bodyPr wrap="square" lIns="0" tIns="0" rIns="0" bIns="0" rtlCol="0" anchor="ctr"/>
          <a:lstStyle/>
          <a:p>
            <a:pPr algn="ctr" indent="0" marL="0">
              <a:buNone/>
            </a:pPr>
            <a:r>
              <a:rPr lang="en-US" sz="1150" b="1" dirty="0">
                <a:solidFill>
                  <a:srgbClr val="1A1A1A"/>
                </a:solidFill>
                <a:latin typeface="Apple SD Gothic Neo" pitchFamily="34" charset="0"/>
                <a:ea typeface="Apple SD Gothic Neo" pitchFamily="34" charset="-122"/>
                <a:cs typeface="Apple SD Gothic Neo" pitchFamily="34" charset="-120"/>
              </a:rPr>
              <a:t>1</a:t>
            </a:r>
            <a:endParaRPr lang="en-US" sz="1150" dirty="0"/>
          </a:p>
        </p:txBody>
      </p:sp>
      <p:sp>
        <p:nvSpPr>
          <p:cNvPr id="10" name="Text 7"/>
          <p:cNvSpPr/>
          <p:nvPr/>
        </p:nvSpPr>
        <p:spPr>
          <a:xfrm>
            <a:off x="9098280" y="1554480"/>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우리말 질문</a:t>
            </a:r>
            <a:endParaRPr lang="en-US" sz="1400" dirty="0"/>
          </a:p>
        </p:txBody>
      </p:sp>
      <p:sp>
        <p:nvSpPr>
          <p:cNvPr id="11" name="Text 8"/>
          <p:cNvSpPr/>
          <p:nvPr/>
        </p:nvSpPr>
        <p:spPr>
          <a:xfrm>
            <a:off x="9098280" y="1828800"/>
            <a:ext cx="2651760" cy="457200"/>
          </a:xfrm>
          <a:prstGeom prst="rect">
            <a:avLst/>
          </a:prstGeom>
          <a:noFill/>
          <a:ln/>
        </p:spPr>
        <p:txBody>
          <a:bodyPr wrap="square" lIns="0" tIns="0" rIns="0" bIns="0" rtlCol="0" anchor="ctr"/>
          <a:lstStyle/>
          <a:p>
            <a:pPr indent="0" marL="0">
              <a:lnSpc>
                <a:spcPts val="1400"/>
              </a:lnSpc>
              <a:buNone/>
            </a:pPr>
            <a:r>
              <a:rPr lang="en-US" sz="1050" dirty="0">
                <a:solidFill>
                  <a:srgbClr val="A9AEB4"/>
                </a:solidFill>
                <a:latin typeface="Apple SD Gothic Neo" pitchFamily="34" charset="0"/>
                <a:ea typeface="Apple SD Gothic Neo" pitchFamily="34" charset="-122"/>
                <a:cs typeface="Apple SD Gothic Neo" pitchFamily="34" charset="-120"/>
              </a:rPr>
              <a:t>가맹점 매출·법인카드 이용·연체까지</a:t>
            </a:r>
            <a:endParaRPr lang="en-US" sz="1050" dirty="0"/>
          </a:p>
        </p:txBody>
      </p:sp>
      <p:sp>
        <p:nvSpPr>
          <p:cNvPr id="12" name="Shape 9"/>
          <p:cNvSpPr/>
          <p:nvPr/>
        </p:nvSpPr>
        <p:spPr>
          <a:xfrm>
            <a:off x="8686800" y="2487168"/>
            <a:ext cx="292608" cy="292608"/>
          </a:xfrm>
          <a:prstGeom prst="ellipse">
            <a:avLst/>
          </a:prstGeom>
          <a:solidFill>
            <a:srgbClr val="FCAF17"/>
          </a:solidFill>
          <a:ln/>
        </p:spPr>
      </p:sp>
      <p:sp>
        <p:nvSpPr>
          <p:cNvPr id="13" name="Text 10"/>
          <p:cNvSpPr/>
          <p:nvPr/>
        </p:nvSpPr>
        <p:spPr>
          <a:xfrm>
            <a:off x="8686800" y="2487168"/>
            <a:ext cx="292608" cy="292608"/>
          </a:xfrm>
          <a:prstGeom prst="rect">
            <a:avLst/>
          </a:prstGeom>
          <a:noFill/>
          <a:ln/>
        </p:spPr>
        <p:txBody>
          <a:bodyPr wrap="square" lIns="0" tIns="0" rIns="0" bIns="0" rtlCol="0" anchor="ctr"/>
          <a:lstStyle/>
          <a:p>
            <a:pPr algn="ctr" indent="0" marL="0">
              <a:buNone/>
            </a:pPr>
            <a:r>
              <a:rPr lang="en-US" sz="1150" b="1" dirty="0">
                <a:solidFill>
                  <a:srgbClr val="1A1A1A"/>
                </a:solidFill>
                <a:latin typeface="Apple SD Gothic Neo" pitchFamily="34" charset="0"/>
                <a:ea typeface="Apple SD Gothic Neo" pitchFamily="34" charset="-122"/>
                <a:cs typeface="Apple SD Gothic Neo" pitchFamily="34" charset="-120"/>
              </a:rPr>
              <a:t>2</a:t>
            </a:r>
            <a:endParaRPr lang="en-US" sz="1150" dirty="0"/>
          </a:p>
        </p:txBody>
      </p:sp>
      <p:sp>
        <p:nvSpPr>
          <p:cNvPr id="14" name="Text 11"/>
          <p:cNvSpPr/>
          <p:nvPr/>
        </p:nvSpPr>
        <p:spPr>
          <a:xfrm>
            <a:off x="9098280" y="2450592"/>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SQL 생성 · 검증</a:t>
            </a:r>
            <a:endParaRPr lang="en-US" sz="1400" dirty="0"/>
          </a:p>
        </p:txBody>
      </p:sp>
      <p:sp>
        <p:nvSpPr>
          <p:cNvPr id="15" name="Text 12"/>
          <p:cNvSpPr/>
          <p:nvPr/>
        </p:nvSpPr>
        <p:spPr>
          <a:xfrm>
            <a:off x="9098280" y="2724912"/>
            <a:ext cx="2651760" cy="457200"/>
          </a:xfrm>
          <a:prstGeom prst="rect">
            <a:avLst/>
          </a:prstGeom>
          <a:noFill/>
          <a:ln/>
        </p:spPr>
        <p:txBody>
          <a:bodyPr wrap="square" lIns="0" tIns="0" rIns="0" bIns="0" rtlCol="0" anchor="ctr"/>
          <a:lstStyle/>
          <a:p>
            <a:pPr indent="0" marL="0">
              <a:lnSpc>
                <a:spcPts val="1400"/>
              </a:lnSpc>
              <a:buNone/>
            </a:pPr>
            <a:r>
              <a:rPr lang="en-US" sz="1050" dirty="0">
                <a:solidFill>
                  <a:srgbClr val="A9AEB4"/>
                </a:solidFill>
                <a:latin typeface="Apple SD Gothic Neo" pitchFamily="34" charset="0"/>
                <a:ea typeface="Apple SD Gothic Neo" pitchFamily="34" charset="-122"/>
                <a:cs typeface="Apple SD Gothic Neo" pitchFamily="34" charset="-120"/>
              </a:rPr>
              <a:t>시맨틱 레이어와 검증 쿼리를 근거로</a:t>
            </a:r>
            <a:endParaRPr lang="en-US" sz="1050" dirty="0"/>
          </a:p>
        </p:txBody>
      </p:sp>
      <p:sp>
        <p:nvSpPr>
          <p:cNvPr id="16" name="Shape 13"/>
          <p:cNvSpPr/>
          <p:nvPr/>
        </p:nvSpPr>
        <p:spPr>
          <a:xfrm>
            <a:off x="8686800" y="3383280"/>
            <a:ext cx="292608" cy="292608"/>
          </a:xfrm>
          <a:prstGeom prst="ellipse">
            <a:avLst/>
          </a:prstGeom>
          <a:solidFill>
            <a:srgbClr val="FCAF17"/>
          </a:solidFill>
          <a:ln/>
        </p:spPr>
      </p:sp>
      <p:sp>
        <p:nvSpPr>
          <p:cNvPr id="17" name="Text 14"/>
          <p:cNvSpPr/>
          <p:nvPr/>
        </p:nvSpPr>
        <p:spPr>
          <a:xfrm>
            <a:off x="8686800" y="3383280"/>
            <a:ext cx="292608" cy="292608"/>
          </a:xfrm>
          <a:prstGeom prst="rect">
            <a:avLst/>
          </a:prstGeom>
          <a:noFill/>
          <a:ln/>
        </p:spPr>
        <p:txBody>
          <a:bodyPr wrap="square" lIns="0" tIns="0" rIns="0" bIns="0" rtlCol="0" anchor="ctr"/>
          <a:lstStyle/>
          <a:p>
            <a:pPr algn="ctr" indent="0" marL="0">
              <a:buNone/>
            </a:pPr>
            <a:r>
              <a:rPr lang="en-US" sz="1150" b="1" dirty="0">
                <a:solidFill>
                  <a:srgbClr val="1A1A1A"/>
                </a:solidFill>
                <a:latin typeface="Apple SD Gothic Neo" pitchFamily="34" charset="0"/>
                <a:ea typeface="Apple SD Gothic Neo" pitchFamily="34" charset="-122"/>
                <a:cs typeface="Apple SD Gothic Neo" pitchFamily="34" charset="-120"/>
              </a:rPr>
              <a:t>3</a:t>
            </a:r>
            <a:endParaRPr lang="en-US" sz="1150" dirty="0"/>
          </a:p>
        </p:txBody>
      </p:sp>
      <p:sp>
        <p:nvSpPr>
          <p:cNvPr id="18" name="Text 15"/>
          <p:cNvSpPr/>
          <p:nvPr/>
        </p:nvSpPr>
        <p:spPr>
          <a:xfrm>
            <a:off x="9098280" y="3346704"/>
            <a:ext cx="2651760" cy="274320"/>
          </a:xfrm>
          <a:prstGeom prst="rect">
            <a:avLst/>
          </a:prstGeom>
          <a:noFill/>
          <a:ln/>
        </p:spPr>
        <p:txBody>
          <a:bodyPr wrap="square" lIns="0" tIns="0" rIns="0" bIns="0"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표 · 차트 · 파일</a:t>
            </a:r>
            <a:endParaRPr lang="en-US" sz="1400" dirty="0"/>
          </a:p>
        </p:txBody>
      </p:sp>
      <p:sp>
        <p:nvSpPr>
          <p:cNvPr id="19" name="Text 16"/>
          <p:cNvSpPr/>
          <p:nvPr/>
        </p:nvSpPr>
        <p:spPr>
          <a:xfrm>
            <a:off x="9098280" y="3621024"/>
            <a:ext cx="2651760" cy="457200"/>
          </a:xfrm>
          <a:prstGeom prst="rect">
            <a:avLst/>
          </a:prstGeom>
          <a:noFill/>
          <a:ln/>
        </p:spPr>
        <p:txBody>
          <a:bodyPr wrap="square" lIns="0" tIns="0" rIns="0" bIns="0" rtlCol="0" anchor="ctr"/>
          <a:lstStyle/>
          <a:p>
            <a:pPr indent="0" marL="0">
              <a:lnSpc>
                <a:spcPts val="1400"/>
              </a:lnSpc>
              <a:buNone/>
            </a:pPr>
            <a:r>
              <a:rPr lang="en-US" sz="1050" dirty="0">
                <a:solidFill>
                  <a:srgbClr val="A9AEB4"/>
                </a:solidFill>
                <a:latin typeface="Apple SD Gothic Neo" pitchFamily="34" charset="0"/>
                <a:ea typeface="Apple SD Gothic Neo" pitchFamily="34" charset="-122"/>
                <a:cs typeface="Apple SD Gothic Neo" pitchFamily="34" charset="-120"/>
              </a:rPr>
              <a:t>후속 질문과 Word/Excel 내보내기</a:t>
            </a:r>
            <a:endParaRPr lang="en-US" sz="1050" dirty="0"/>
          </a:p>
        </p:txBody>
      </p:sp>
      <p:sp>
        <p:nvSpPr>
          <p:cNvPr id="20" name="Shape 17"/>
          <p:cNvSpPr/>
          <p:nvPr/>
        </p:nvSpPr>
        <p:spPr>
          <a:xfrm>
            <a:off x="548640" y="4041648"/>
            <a:ext cx="2651760" cy="1572768"/>
          </a:xfrm>
          <a:prstGeom prst="roundRect">
            <a:avLst>
              <a:gd name="adj" fmla="val 4651"/>
            </a:avLst>
          </a:prstGeom>
          <a:solidFill>
            <a:srgbClr val="272727"/>
          </a:solidFill>
          <a:ln/>
        </p:spPr>
      </p:sp>
      <p:sp>
        <p:nvSpPr>
          <p:cNvPr id="21" name="Text 18"/>
          <p:cNvSpPr/>
          <p:nvPr/>
        </p:nvSpPr>
        <p:spPr>
          <a:xfrm>
            <a:off x="804672" y="4169664"/>
            <a:ext cx="1097280" cy="566928"/>
          </a:xfrm>
          <a:prstGeom prst="rect">
            <a:avLst/>
          </a:prstGeom>
          <a:noFill/>
          <a:ln/>
        </p:spPr>
        <p:txBody>
          <a:bodyPr wrap="square" lIns="0" tIns="0" rIns="0" bIns="0" rtlCol="0" anchor="ctr"/>
          <a:lstStyle/>
          <a:p>
            <a:pPr indent="0" marL="0">
              <a:buNone/>
            </a:pPr>
            <a:r>
              <a:rPr lang="en-US" sz="3800" b="1" dirty="0">
                <a:solidFill>
                  <a:srgbClr val="FCAF17"/>
                </a:solidFill>
                <a:latin typeface="Apple SD Gothic Neo" pitchFamily="34" charset="0"/>
                <a:ea typeface="Apple SD Gothic Neo" pitchFamily="34" charset="-122"/>
                <a:cs typeface="Apple SD Gothic Neo" pitchFamily="34" charset="-120"/>
              </a:rPr>
              <a:t>6</a:t>
            </a:r>
            <a:endParaRPr lang="en-US" sz="3800" dirty="0"/>
          </a:p>
        </p:txBody>
      </p:sp>
      <p:sp>
        <p:nvSpPr>
          <p:cNvPr id="22" name="Text 19"/>
          <p:cNvSpPr/>
          <p:nvPr/>
        </p:nvSpPr>
        <p:spPr>
          <a:xfrm>
            <a:off x="804672" y="47365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업무 도메인</a:t>
            </a:r>
            <a:endParaRPr lang="en-US" sz="1300" dirty="0"/>
          </a:p>
        </p:txBody>
      </p:sp>
      <p:sp>
        <p:nvSpPr>
          <p:cNvPr id="23" name="Text 20"/>
          <p:cNvSpPr/>
          <p:nvPr/>
        </p:nvSpPr>
        <p:spPr>
          <a:xfrm>
            <a:off x="804672" y="4992624"/>
            <a:ext cx="2194560" cy="54864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가맹점매출·카드이용·영업타겟</a:t>
            </a:r>
            <a:endParaRPr lang="en-US" sz="950" dirty="0"/>
          </a:p>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포트폴리오·여신위험·관리기업</a:t>
            </a:r>
            <a:endParaRPr lang="en-US" sz="950" dirty="0"/>
          </a:p>
        </p:txBody>
      </p:sp>
      <p:sp>
        <p:nvSpPr>
          <p:cNvPr id="24" name="Shape 21"/>
          <p:cNvSpPr/>
          <p:nvPr/>
        </p:nvSpPr>
        <p:spPr>
          <a:xfrm>
            <a:off x="3383280" y="4041648"/>
            <a:ext cx="2651760" cy="1572768"/>
          </a:xfrm>
          <a:prstGeom prst="roundRect">
            <a:avLst>
              <a:gd name="adj" fmla="val 4651"/>
            </a:avLst>
          </a:prstGeom>
          <a:solidFill>
            <a:srgbClr val="272727"/>
          </a:solidFill>
          <a:ln/>
        </p:spPr>
      </p:sp>
      <p:sp>
        <p:nvSpPr>
          <p:cNvPr id="25" name="Text 22"/>
          <p:cNvSpPr/>
          <p:nvPr/>
        </p:nvSpPr>
        <p:spPr>
          <a:xfrm>
            <a:off x="3639312" y="4169664"/>
            <a:ext cx="1097280" cy="566928"/>
          </a:xfrm>
          <a:prstGeom prst="rect">
            <a:avLst/>
          </a:prstGeom>
          <a:noFill/>
          <a:ln/>
        </p:spPr>
        <p:txBody>
          <a:bodyPr wrap="square" lIns="0" tIns="0" rIns="0" bIns="0" rtlCol="0" anchor="ctr"/>
          <a:lstStyle/>
          <a:p>
            <a:pPr indent="0" marL="0">
              <a:buNone/>
            </a:pPr>
            <a:r>
              <a:rPr lang="en-US" sz="3800" b="1" dirty="0">
                <a:solidFill>
                  <a:srgbClr val="FCAF17"/>
                </a:solidFill>
                <a:latin typeface="Apple SD Gothic Neo" pitchFamily="34" charset="0"/>
                <a:ea typeface="Apple SD Gothic Neo" pitchFamily="34" charset="-122"/>
                <a:cs typeface="Apple SD Gothic Neo" pitchFamily="34" charset="-120"/>
              </a:rPr>
              <a:t>31</a:t>
            </a:r>
            <a:endParaRPr lang="en-US" sz="3800" dirty="0"/>
          </a:p>
        </p:txBody>
      </p:sp>
      <p:sp>
        <p:nvSpPr>
          <p:cNvPr id="26" name="Text 23"/>
          <p:cNvSpPr/>
          <p:nvPr/>
        </p:nvSpPr>
        <p:spPr>
          <a:xfrm>
            <a:off x="3639312" y="47365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물리 테이블</a:t>
            </a:r>
            <a:endParaRPr lang="en-US" sz="1300" dirty="0"/>
          </a:p>
        </p:txBody>
      </p:sp>
      <p:sp>
        <p:nvSpPr>
          <p:cNvPr id="27" name="Text 24"/>
          <p:cNvSpPr/>
          <p:nvPr/>
        </p:nvSpPr>
        <p:spPr>
          <a:xfrm>
            <a:off x="3639312" y="4992624"/>
            <a:ext cx="2194560" cy="54864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조회 가능한 업무 컬럼 2,048개</a:t>
            </a:r>
            <a:endParaRPr lang="en-US" sz="950" dirty="0"/>
          </a:p>
        </p:txBody>
      </p:sp>
      <p:sp>
        <p:nvSpPr>
          <p:cNvPr id="28" name="Shape 25"/>
          <p:cNvSpPr/>
          <p:nvPr/>
        </p:nvSpPr>
        <p:spPr>
          <a:xfrm>
            <a:off x="6217920" y="4041648"/>
            <a:ext cx="2651760" cy="1572768"/>
          </a:xfrm>
          <a:prstGeom prst="roundRect">
            <a:avLst>
              <a:gd name="adj" fmla="val 4651"/>
            </a:avLst>
          </a:prstGeom>
          <a:solidFill>
            <a:srgbClr val="272727"/>
          </a:solidFill>
          <a:ln/>
        </p:spPr>
      </p:sp>
      <p:sp>
        <p:nvSpPr>
          <p:cNvPr id="29" name="Text 26"/>
          <p:cNvSpPr/>
          <p:nvPr/>
        </p:nvSpPr>
        <p:spPr>
          <a:xfrm>
            <a:off x="6473952" y="4169664"/>
            <a:ext cx="1097280" cy="566928"/>
          </a:xfrm>
          <a:prstGeom prst="rect">
            <a:avLst/>
          </a:prstGeom>
          <a:noFill/>
          <a:ln/>
        </p:spPr>
        <p:txBody>
          <a:bodyPr wrap="square" lIns="0" tIns="0" rIns="0" bIns="0" rtlCol="0" anchor="ctr"/>
          <a:lstStyle/>
          <a:p>
            <a:pPr indent="0" marL="0">
              <a:buNone/>
            </a:pPr>
            <a:r>
              <a:rPr lang="en-US" sz="3800" b="1" dirty="0">
                <a:solidFill>
                  <a:srgbClr val="FCAF17"/>
                </a:solidFill>
                <a:latin typeface="Apple SD Gothic Neo" pitchFamily="34" charset="0"/>
                <a:ea typeface="Apple SD Gothic Neo" pitchFamily="34" charset="-122"/>
                <a:cs typeface="Apple SD Gothic Neo" pitchFamily="34" charset="-120"/>
              </a:rPr>
              <a:t>66</a:t>
            </a:r>
            <a:endParaRPr lang="en-US" sz="3800" dirty="0"/>
          </a:p>
        </p:txBody>
      </p:sp>
      <p:sp>
        <p:nvSpPr>
          <p:cNvPr id="30" name="Text 27"/>
          <p:cNvSpPr/>
          <p:nvPr/>
        </p:nvSpPr>
        <p:spPr>
          <a:xfrm>
            <a:off x="6473952" y="47365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검증된 쿼리</a:t>
            </a:r>
            <a:endParaRPr lang="en-US" sz="1300" dirty="0"/>
          </a:p>
        </p:txBody>
      </p:sp>
      <p:sp>
        <p:nvSpPr>
          <p:cNvPr id="31" name="Text 28"/>
          <p:cNvSpPr/>
          <p:nvPr/>
        </p:nvSpPr>
        <p:spPr>
          <a:xfrm>
            <a:off x="6473952" y="4992624"/>
            <a:ext cx="2194560" cy="54864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현업 필터·계산식을 고정한 SQL</a:t>
            </a:r>
            <a:endParaRPr lang="en-US" sz="950" dirty="0"/>
          </a:p>
        </p:txBody>
      </p:sp>
      <p:sp>
        <p:nvSpPr>
          <p:cNvPr id="32" name="Shape 29"/>
          <p:cNvSpPr/>
          <p:nvPr/>
        </p:nvSpPr>
        <p:spPr>
          <a:xfrm>
            <a:off x="9052560" y="4041648"/>
            <a:ext cx="2651760" cy="1572768"/>
          </a:xfrm>
          <a:prstGeom prst="roundRect">
            <a:avLst>
              <a:gd name="adj" fmla="val 4651"/>
            </a:avLst>
          </a:prstGeom>
          <a:solidFill>
            <a:srgbClr val="272727"/>
          </a:solidFill>
          <a:ln/>
        </p:spPr>
      </p:sp>
      <p:sp>
        <p:nvSpPr>
          <p:cNvPr id="33" name="Text 30"/>
          <p:cNvSpPr/>
          <p:nvPr/>
        </p:nvSpPr>
        <p:spPr>
          <a:xfrm>
            <a:off x="9308592" y="4169664"/>
            <a:ext cx="1097280" cy="566928"/>
          </a:xfrm>
          <a:prstGeom prst="rect">
            <a:avLst/>
          </a:prstGeom>
          <a:noFill/>
          <a:ln/>
        </p:spPr>
        <p:txBody>
          <a:bodyPr wrap="square" lIns="0" tIns="0" rIns="0" bIns="0" rtlCol="0" anchor="ctr"/>
          <a:lstStyle/>
          <a:p>
            <a:pPr indent="0" marL="0">
              <a:buNone/>
            </a:pPr>
            <a:r>
              <a:rPr lang="en-US" sz="3800" b="1" dirty="0">
                <a:solidFill>
                  <a:srgbClr val="FCAF17"/>
                </a:solidFill>
                <a:latin typeface="Apple SD Gothic Neo" pitchFamily="34" charset="0"/>
                <a:ea typeface="Apple SD Gothic Neo" pitchFamily="34" charset="-122"/>
                <a:cs typeface="Apple SD Gothic Neo" pitchFamily="34" charset="-120"/>
              </a:rPr>
              <a:t>19</a:t>
            </a:r>
            <a:endParaRPr lang="en-US" sz="3800" dirty="0"/>
          </a:p>
        </p:txBody>
      </p:sp>
      <p:sp>
        <p:nvSpPr>
          <p:cNvPr id="34" name="Text 31"/>
          <p:cNvSpPr/>
          <p:nvPr/>
        </p:nvSpPr>
        <p:spPr>
          <a:xfrm>
            <a:off x="9308592" y="47365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실행 노드</a:t>
            </a:r>
            <a:endParaRPr lang="en-US" sz="1300" dirty="0"/>
          </a:p>
        </p:txBody>
      </p:sp>
      <p:sp>
        <p:nvSpPr>
          <p:cNvPr id="35" name="Text 32"/>
          <p:cNvSpPr/>
          <p:nvPr/>
        </p:nvSpPr>
        <p:spPr>
          <a:xfrm>
            <a:off x="9308592" y="4992624"/>
            <a:ext cx="2194560" cy="54864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LangGraph 분류·라우팅·검증·실행</a:t>
            </a:r>
            <a:endParaRPr lang="en-US" sz="950" dirty="0"/>
          </a:p>
        </p:txBody>
      </p:sp>
      <p:sp>
        <p:nvSpPr>
          <p:cNvPr id="36" name="Text 33"/>
          <p:cNvSpPr/>
          <p:nvPr/>
        </p:nvSpPr>
        <p:spPr>
          <a:xfrm>
            <a:off x="548640" y="5852160"/>
            <a:ext cx="11064240" cy="274320"/>
          </a:xfrm>
          <a:prstGeom prst="rect">
            <a:avLst/>
          </a:prstGeom>
          <a:noFill/>
          <a:ln/>
        </p:spPr>
        <p:txBody>
          <a:bodyPr wrap="square" lIns="0" tIns="0" rIns="0" bIns="0" rtlCol="0" anchor="ctr"/>
          <a:lstStyle/>
          <a:p>
            <a:pPr indent="0" marL="0">
              <a:buNone/>
            </a:pPr>
            <a:r>
              <a:rPr lang="en-US" sz="1000" dirty="0">
                <a:solidFill>
                  <a:srgbClr val="9AA0A6"/>
                </a:solidFill>
                <a:latin typeface="Apple SD Gothic Neo" pitchFamily="34" charset="0"/>
                <a:ea typeface="Apple SD Gothic Neo" pitchFamily="34" charset="-122"/>
                <a:cs typeface="Apple SD Gothic Neo" pitchFamily="34" charset="-120"/>
              </a:rPr>
              <a:t>2026-08-24 기준 · 작업 트리 실측값 · text2sql_agent 패키지</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0058400" cy="256032"/>
          </a:xfrm>
          <a:prstGeom prst="rect">
            <a:avLst/>
          </a:prstGeom>
          <a:noFill/>
          <a:ln/>
        </p:spPr>
        <p:txBody>
          <a:bodyPr wrap="square" lIns="0" tIns="0" rIns="0" bIns="0" rtlCol="0" anchor="ctr"/>
          <a:lstStyle/>
          <a:p>
            <a:pPr indent="0" marL="0">
              <a:buNone/>
            </a:pPr>
            <a:r>
              <a:rPr lang="en-US" sz="1150" b="1" spc="160" kern="0" dirty="0">
                <a:solidFill>
                  <a:srgbClr val="8A5E00"/>
                </a:solidFill>
                <a:latin typeface="Apple SD Gothic Neo" pitchFamily="34" charset="0"/>
                <a:ea typeface="Apple SD Gothic Neo" pitchFamily="34" charset="-122"/>
                <a:cs typeface="Apple SD Gothic Neo" pitchFamily="34" charset="-120"/>
              </a:rPr>
              <a:t>UI GUIDE</a:t>
            </a:r>
            <a:endParaRPr lang="en-US" sz="1150" dirty="0"/>
          </a:p>
        </p:txBody>
      </p:sp>
      <p:sp>
        <p:nvSpPr>
          <p:cNvPr id="3" name="Text 1"/>
          <p:cNvSpPr/>
          <p:nvPr/>
        </p:nvSpPr>
        <p:spPr>
          <a:xfrm>
            <a:off x="548640" y="694944"/>
            <a:ext cx="10607040" cy="566928"/>
          </a:xfrm>
          <a:prstGeom prst="rect">
            <a:avLst/>
          </a:prstGeom>
          <a:noFill/>
          <a:ln/>
        </p:spPr>
        <p:txBody>
          <a:bodyPr wrap="square" lIns="0" tIns="0" rIns="0" bIns="0" rtlCol="0" anchor="ctr"/>
          <a:lstStyle/>
          <a:p>
            <a:pPr indent="0" marL="0">
              <a:buNone/>
            </a:pPr>
            <a:r>
              <a:rPr lang="en-US" sz="3200" b="1" dirty="0">
                <a:solidFill>
                  <a:srgbClr val="1A1A1A"/>
                </a:solidFill>
                <a:latin typeface="Apple SD Gothic Neo" pitchFamily="34" charset="0"/>
                <a:ea typeface="Apple SD Gothic Neo" pitchFamily="34" charset="-122"/>
                <a:cs typeface="Apple SD Gothic Neo" pitchFamily="34" charset="-120"/>
              </a:rPr>
              <a:t>화면에서 쓰는 법: 세 영역만 알면 됩니다</a:t>
            </a:r>
            <a:endParaRPr lang="en-US" sz="3200" dirty="0"/>
          </a:p>
        </p:txBody>
      </p:sp>
      <p:sp>
        <p:nvSpPr>
          <p:cNvPr id="4" name="Shape 2"/>
          <p:cNvSpPr/>
          <p:nvPr/>
        </p:nvSpPr>
        <p:spPr>
          <a:xfrm>
            <a:off x="548640" y="1417320"/>
            <a:ext cx="3520440" cy="2395728"/>
          </a:xfrm>
          <a:prstGeom prst="roundRect">
            <a:avLst>
              <a:gd name="adj" fmla="val 3053"/>
            </a:avLst>
          </a:prstGeom>
          <a:solidFill>
            <a:srgbClr val="F4F5F6"/>
          </a:solidFill>
          <a:ln/>
          <a:effectLst>
            <a:outerShdw sx="100000" sy="100000" kx="0" ky="0" algn="bl" rotWithShape="0" blurRad="127000" dist="25400" dir="5400000">
              <a:srgbClr val="000000">
                <a:alpha val="8000"/>
              </a:srgbClr>
            </a:outerShdw>
          </a:effectLst>
        </p:spPr>
      </p:sp>
      <p:sp>
        <p:nvSpPr>
          <p:cNvPr id="5" name="Shape 3"/>
          <p:cNvSpPr/>
          <p:nvPr/>
        </p:nvSpPr>
        <p:spPr>
          <a:xfrm>
            <a:off x="804672" y="1636776"/>
            <a:ext cx="219456" cy="457200"/>
          </a:xfrm>
          <a:prstGeom prst="roundRect">
            <a:avLst>
              <a:gd name="adj" fmla="val 12500"/>
            </a:avLst>
          </a:prstGeom>
          <a:solidFill>
            <a:srgbClr val="FCAF17"/>
          </a:solidFill>
          <a:ln/>
        </p:spPr>
      </p:sp>
      <p:sp>
        <p:nvSpPr>
          <p:cNvPr id="6" name="Shape 4"/>
          <p:cNvSpPr/>
          <p:nvPr/>
        </p:nvSpPr>
        <p:spPr>
          <a:xfrm>
            <a:off x="1051560" y="1636776"/>
            <a:ext cx="457200" cy="457200"/>
          </a:xfrm>
          <a:prstGeom prst="roundRect">
            <a:avLst>
              <a:gd name="adj" fmla="val 6000"/>
            </a:avLst>
          </a:prstGeom>
          <a:solidFill>
            <a:srgbClr val="DADDE0"/>
          </a:solidFill>
          <a:ln/>
        </p:spPr>
      </p:sp>
      <p:sp>
        <p:nvSpPr>
          <p:cNvPr id="7" name="Shape 5"/>
          <p:cNvSpPr/>
          <p:nvPr/>
        </p:nvSpPr>
        <p:spPr>
          <a:xfrm>
            <a:off x="1545336" y="1636776"/>
            <a:ext cx="265176" cy="457200"/>
          </a:xfrm>
          <a:prstGeom prst="roundRect">
            <a:avLst>
              <a:gd name="adj" fmla="val 10345"/>
            </a:avLst>
          </a:prstGeom>
          <a:solidFill>
            <a:srgbClr val="DADDE0"/>
          </a:solidFill>
          <a:ln/>
        </p:spPr>
      </p:sp>
      <p:sp>
        <p:nvSpPr>
          <p:cNvPr id="8" name="Text 6"/>
          <p:cNvSpPr/>
          <p:nvPr/>
        </p:nvSpPr>
        <p:spPr>
          <a:xfrm>
            <a:off x="1938528" y="1627632"/>
            <a:ext cx="1920240" cy="274320"/>
          </a:xfrm>
          <a:prstGeom prst="rect">
            <a:avLst/>
          </a:prstGeom>
          <a:noFill/>
          <a:ln/>
        </p:spPr>
        <p:txBody>
          <a:bodyPr wrap="square" lIns="0" tIns="0" rIns="0" bIns="0" rtlCol="0" anchor="ctr"/>
          <a:lstStyle/>
          <a:p>
            <a:pPr indent="0" marL="0">
              <a:buNone/>
            </a:pPr>
            <a:r>
              <a:rPr lang="en-US" sz="1550" b="1" dirty="0">
                <a:solidFill>
                  <a:srgbClr val="1A1A1A"/>
                </a:solidFill>
                <a:latin typeface="Apple SD Gothic Neo" pitchFamily="34" charset="0"/>
                <a:ea typeface="Apple SD Gothic Neo" pitchFamily="34" charset="-122"/>
                <a:cs typeface="Apple SD Gothic Neo" pitchFamily="34" charset="-120"/>
              </a:rPr>
              <a:t>왼쪽 레일</a:t>
            </a:r>
            <a:endParaRPr lang="en-US" sz="1550" dirty="0"/>
          </a:p>
        </p:txBody>
      </p:sp>
      <p:sp>
        <p:nvSpPr>
          <p:cNvPr id="9" name="Text 7"/>
          <p:cNvSpPr/>
          <p:nvPr/>
        </p:nvSpPr>
        <p:spPr>
          <a:xfrm>
            <a:off x="1938528" y="1883664"/>
            <a:ext cx="1920240" cy="237744"/>
          </a:xfrm>
          <a:prstGeom prst="rect">
            <a:avLst/>
          </a:prstGeom>
          <a:noFill/>
          <a:ln/>
        </p:spPr>
        <p:txBody>
          <a:bodyPr wrap="square" lIns="0" tIns="0" rIns="0" bIns="0" rtlCol="0" anchor="ctr"/>
          <a:lstStyle/>
          <a:p>
            <a:pPr indent="0" marL="0">
              <a:buNone/>
            </a:pPr>
            <a:r>
              <a:rPr lang="en-US" sz="1050" dirty="0">
                <a:solidFill>
                  <a:srgbClr val="6B7075"/>
                </a:solidFill>
                <a:latin typeface="Apple SD Gothic Neo" pitchFamily="34" charset="0"/>
                <a:ea typeface="Apple SD Gothic Neo" pitchFamily="34" charset="-122"/>
                <a:cs typeface="Apple SD Gothic Neo" pitchFamily="34" charset="-120"/>
              </a:rPr>
              <a:t>대화와 파일</a:t>
            </a:r>
            <a:endParaRPr lang="en-US" sz="1050" dirty="0"/>
          </a:p>
        </p:txBody>
      </p:sp>
      <p:sp>
        <p:nvSpPr>
          <p:cNvPr id="10" name="Text 8"/>
          <p:cNvSpPr/>
          <p:nvPr/>
        </p:nvSpPr>
        <p:spPr>
          <a:xfrm>
            <a:off x="804672" y="2231136"/>
            <a:ext cx="3054096" cy="1481328"/>
          </a:xfrm>
          <a:prstGeom prst="rect">
            <a:avLst/>
          </a:prstGeom>
          <a:noFill/>
          <a:ln/>
        </p:spPr>
        <p:txBody>
          <a:bodyPr wrap="square" lIns="0" tIns="0" rIns="0" bIns="0" rtlCol="0" anchor="t"/>
          <a:lstStyle/>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새 대화를 열거나 지난 대화를 이어서 진행</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데이터 도구 › 저장 쿼리: 현재 질문을 저장해 두고 값만 바꿔 재실행</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데이터 도구 › 보고서 내보내기: 전체 · Word · Excel · TXT</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만들어진 파일은 다운로드 목록에 남습니다</a:t>
            </a:r>
            <a:endParaRPr lang="en-US" sz="1000" dirty="0"/>
          </a:p>
        </p:txBody>
      </p:sp>
      <p:sp>
        <p:nvSpPr>
          <p:cNvPr id="11" name="Shape 9"/>
          <p:cNvSpPr/>
          <p:nvPr/>
        </p:nvSpPr>
        <p:spPr>
          <a:xfrm>
            <a:off x="4251960" y="1417320"/>
            <a:ext cx="3520440" cy="2395728"/>
          </a:xfrm>
          <a:prstGeom prst="roundRect">
            <a:avLst>
              <a:gd name="adj" fmla="val 3053"/>
            </a:avLst>
          </a:prstGeom>
          <a:solidFill>
            <a:srgbClr val="F4F5F6"/>
          </a:solidFill>
          <a:ln/>
          <a:effectLst>
            <a:outerShdw sx="100000" sy="100000" kx="0" ky="0" algn="bl" rotWithShape="0" blurRad="127000" dist="25400" dir="5400000">
              <a:srgbClr val="000000">
                <a:alpha val="8000"/>
              </a:srgbClr>
            </a:outerShdw>
          </a:effectLst>
        </p:spPr>
      </p:sp>
      <p:sp>
        <p:nvSpPr>
          <p:cNvPr id="12" name="Shape 10"/>
          <p:cNvSpPr/>
          <p:nvPr/>
        </p:nvSpPr>
        <p:spPr>
          <a:xfrm>
            <a:off x="4507992" y="1636776"/>
            <a:ext cx="219456" cy="457200"/>
          </a:xfrm>
          <a:prstGeom prst="roundRect">
            <a:avLst>
              <a:gd name="adj" fmla="val 12500"/>
            </a:avLst>
          </a:prstGeom>
          <a:solidFill>
            <a:srgbClr val="DADDE0"/>
          </a:solidFill>
          <a:ln/>
        </p:spPr>
      </p:sp>
      <p:sp>
        <p:nvSpPr>
          <p:cNvPr id="13" name="Shape 11"/>
          <p:cNvSpPr/>
          <p:nvPr/>
        </p:nvSpPr>
        <p:spPr>
          <a:xfrm>
            <a:off x="4754880" y="1636776"/>
            <a:ext cx="457200" cy="457200"/>
          </a:xfrm>
          <a:prstGeom prst="roundRect">
            <a:avLst>
              <a:gd name="adj" fmla="val 6000"/>
            </a:avLst>
          </a:prstGeom>
          <a:solidFill>
            <a:srgbClr val="FCAF17"/>
          </a:solidFill>
          <a:ln/>
        </p:spPr>
      </p:sp>
      <p:sp>
        <p:nvSpPr>
          <p:cNvPr id="14" name="Shape 12"/>
          <p:cNvSpPr/>
          <p:nvPr/>
        </p:nvSpPr>
        <p:spPr>
          <a:xfrm>
            <a:off x="5248656" y="1636776"/>
            <a:ext cx="265176" cy="457200"/>
          </a:xfrm>
          <a:prstGeom prst="roundRect">
            <a:avLst>
              <a:gd name="adj" fmla="val 10345"/>
            </a:avLst>
          </a:prstGeom>
          <a:solidFill>
            <a:srgbClr val="DADDE0"/>
          </a:solidFill>
          <a:ln/>
        </p:spPr>
      </p:sp>
      <p:sp>
        <p:nvSpPr>
          <p:cNvPr id="15" name="Text 13"/>
          <p:cNvSpPr/>
          <p:nvPr/>
        </p:nvSpPr>
        <p:spPr>
          <a:xfrm>
            <a:off x="5641848" y="1627632"/>
            <a:ext cx="1920240" cy="274320"/>
          </a:xfrm>
          <a:prstGeom prst="rect">
            <a:avLst/>
          </a:prstGeom>
          <a:noFill/>
          <a:ln/>
        </p:spPr>
        <p:txBody>
          <a:bodyPr wrap="square" lIns="0" tIns="0" rIns="0" bIns="0" rtlCol="0" anchor="ctr"/>
          <a:lstStyle/>
          <a:p>
            <a:pPr indent="0" marL="0">
              <a:buNone/>
            </a:pPr>
            <a:r>
              <a:rPr lang="en-US" sz="1550" b="1" dirty="0">
                <a:solidFill>
                  <a:srgbClr val="1A1A1A"/>
                </a:solidFill>
                <a:latin typeface="Apple SD Gothic Neo" pitchFamily="34" charset="0"/>
                <a:ea typeface="Apple SD Gothic Neo" pitchFamily="34" charset="-122"/>
                <a:cs typeface="Apple SD Gothic Neo" pitchFamily="34" charset="-120"/>
              </a:rPr>
              <a:t>가운데 대화</a:t>
            </a:r>
            <a:endParaRPr lang="en-US" sz="1550" dirty="0"/>
          </a:p>
        </p:txBody>
      </p:sp>
      <p:sp>
        <p:nvSpPr>
          <p:cNvPr id="16" name="Text 14"/>
          <p:cNvSpPr/>
          <p:nvPr/>
        </p:nvSpPr>
        <p:spPr>
          <a:xfrm>
            <a:off x="5641848" y="1883664"/>
            <a:ext cx="1920240" cy="237744"/>
          </a:xfrm>
          <a:prstGeom prst="rect">
            <a:avLst/>
          </a:prstGeom>
          <a:noFill/>
          <a:ln/>
        </p:spPr>
        <p:txBody>
          <a:bodyPr wrap="square" lIns="0" tIns="0" rIns="0" bIns="0" rtlCol="0" anchor="ctr"/>
          <a:lstStyle/>
          <a:p>
            <a:pPr indent="0" marL="0">
              <a:buNone/>
            </a:pPr>
            <a:r>
              <a:rPr lang="en-US" sz="1050" dirty="0">
                <a:solidFill>
                  <a:srgbClr val="6B7075"/>
                </a:solidFill>
                <a:latin typeface="Apple SD Gothic Neo" pitchFamily="34" charset="0"/>
                <a:ea typeface="Apple SD Gothic Neo" pitchFamily="34" charset="-122"/>
                <a:cs typeface="Apple SD Gothic Neo" pitchFamily="34" charset="-120"/>
              </a:rPr>
              <a:t>질문과 답변</a:t>
            </a:r>
            <a:endParaRPr lang="en-US" sz="1050" dirty="0"/>
          </a:p>
        </p:txBody>
      </p:sp>
      <p:sp>
        <p:nvSpPr>
          <p:cNvPr id="17" name="Text 15"/>
          <p:cNvSpPr/>
          <p:nvPr/>
        </p:nvSpPr>
        <p:spPr>
          <a:xfrm>
            <a:off x="4507992" y="2231136"/>
            <a:ext cx="3054096" cy="1481328"/>
          </a:xfrm>
          <a:prstGeom prst="rect">
            <a:avLst/>
          </a:prstGeom>
          <a:noFill/>
          <a:ln/>
        </p:spPr>
        <p:txBody>
          <a:bodyPr wrap="square" lIns="0" tIns="0" rIns="0" bIns="0" rtlCol="0" anchor="t"/>
          <a:lstStyle/>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아래 입력창에 우리말로 질문 (Enter 전송 · Shift+Enter 줄바꿈)</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진행 상황을 4단계로 실시간 표시하고, 필요하면 요청 취소</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조건이 빠지면 추가 입력 카드에서 기본값을 확인·수정한 뒤 계속</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답변 아래에 차트와 이어질 분석 질문을 제안</a:t>
            </a:r>
            <a:endParaRPr lang="en-US" sz="1000" dirty="0"/>
          </a:p>
        </p:txBody>
      </p:sp>
      <p:sp>
        <p:nvSpPr>
          <p:cNvPr id="18" name="Shape 16"/>
          <p:cNvSpPr/>
          <p:nvPr/>
        </p:nvSpPr>
        <p:spPr>
          <a:xfrm>
            <a:off x="7955280" y="1417320"/>
            <a:ext cx="3520440" cy="2395728"/>
          </a:xfrm>
          <a:prstGeom prst="roundRect">
            <a:avLst>
              <a:gd name="adj" fmla="val 3053"/>
            </a:avLst>
          </a:prstGeom>
          <a:solidFill>
            <a:srgbClr val="F4F5F6"/>
          </a:solidFill>
          <a:ln/>
          <a:effectLst>
            <a:outerShdw sx="100000" sy="100000" kx="0" ky="0" algn="bl" rotWithShape="0" blurRad="127000" dist="25400" dir="5400000">
              <a:srgbClr val="000000">
                <a:alpha val="8000"/>
              </a:srgbClr>
            </a:outerShdw>
          </a:effectLst>
        </p:spPr>
      </p:sp>
      <p:sp>
        <p:nvSpPr>
          <p:cNvPr id="19" name="Shape 17"/>
          <p:cNvSpPr/>
          <p:nvPr/>
        </p:nvSpPr>
        <p:spPr>
          <a:xfrm>
            <a:off x="8211312" y="1636776"/>
            <a:ext cx="219456" cy="457200"/>
          </a:xfrm>
          <a:prstGeom prst="roundRect">
            <a:avLst>
              <a:gd name="adj" fmla="val 12500"/>
            </a:avLst>
          </a:prstGeom>
          <a:solidFill>
            <a:srgbClr val="DADDE0"/>
          </a:solidFill>
          <a:ln/>
        </p:spPr>
      </p:sp>
      <p:sp>
        <p:nvSpPr>
          <p:cNvPr id="20" name="Shape 18"/>
          <p:cNvSpPr/>
          <p:nvPr/>
        </p:nvSpPr>
        <p:spPr>
          <a:xfrm>
            <a:off x="8458200" y="1636776"/>
            <a:ext cx="457200" cy="457200"/>
          </a:xfrm>
          <a:prstGeom prst="roundRect">
            <a:avLst>
              <a:gd name="adj" fmla="val 6000"/>
            </a:avLst>
          </a:prstGeom>
          <a:solidFill>
            <a:srgbClr val="DADDE0"/>
          </a:solidFill>
          <a:ln/>
        </p:spPr>
      </p:sp>
      <p:sp>
        <p:nvSpPr>
          <p:cNvPr id="21" name="Shape 19"/>
          <p:cNvSpPr/>
          <p:nvPr/>
        </p:nvSpPr>
        <p:spPr>
          <a:xfrm>
            <a:off x="8951976" y="1636776"/>
            <a:ext cx="265176" cy="457200"/>
          </a:xfrm>
          <a:prstGeom prst="roundRect">
            <a:avLst>
              <a:gd name="adj" fmla="val 10345"/>
            </a:avLst>
          </a:prstGeom>
          <a:solidFill>
            <a:srgbClr val="FCAF17"/>
          </a:solidFill>
          <a:ln/>
        </p:spPr>
      </p:sp>
      <p:sp>
        <p:nvSpPr>
          <p:cNvPr id="22" name="Text 20"/>
          <p:cNvSpPr/>
          <p:nvPr/>
        </p:nvSpPr>
        <p:spPr>
          <a:xfrm>
            <a:off x="9345168" y="1627632"/>
            <a:ext cx="1920240" cy="274320"/>
          </a:xfrm>
          <a:prstGeom prst="rect">
            <a:avLst/>
          </a:prstGeom>
          <a:noFill/>
          <a:ln/>
        </p:spPr>
        <p:txBody>
          <a:bodyPr wrap="square" lIns="0" tIns="0" rIns="0" bIns="0" rtlCol="0" anchor="ctr"/>
          <a:lstStyle/>
          <a:p>
            <a:pPr indent="0" marL="0">
              <a:buNone/>
            </a:pPr>
            <a:r>
              <a:rPr lang="en-US" sz="1550" b="1" dirty="0">
                <a:solidFill>
                  <a:srgbClr val="1A1A1A"/>
                </a:solidFill>
                <a:latin typeface="Apple SD Gothic Neo" pitchFamily="34" charset="0"/>
                <a:ea typeface="Apple SD Gothic Neo" pitchFamily="34" charset="-122"/>
                <a:cs typeface="Apple SD Gothic Neo" pitchFamily="34" charset="-120"/>
              </a:rPr>
              <a:t>오른쪽 상세</a:t>
            </a:r>
            <a:endParaRPr lang="en-US" sz="1550" dirty="0"/>
          </a:p>
        </p:txBody>
      </p:sp>
      <p:sp>
        <p:nvSpPr>
          <p:cNvPr id="23" name="Text 21"/>
          <p:cNvSpPr/>
          <p:nvPr/>
        </p:nvSpPr>
        <p:spPr>
          <a:xfrm>
            <a:off x="9345168" y="1883664"/>
            <a:ext cx="1920240" cy="237744"/>
          </a:xfrm>
          <a:prstGeom prst="rect">
            <a:avLst/>
          </a:prstGeom>
          <a:noFill/>
          <a:ln/>
        </p:spPr>
        <p:txBody>
          <a:bodyPr wrap="square" lIns="0" tIns="0" rIns="0" bIns="0" rtlCol="0" anchor="ctr"/>
          <a:lstStyle/>
          <a:p>
            <a:pPr indent="0" marL="0">
              <a:buNone/>
            </a:pPr>
            <a:r>
              <a:rPr lang="en-US" sz="1050" dirty="0">
                <a:solidFill>
                  <a:srgbClr val="6B7075"/>
                </a:solidFill>
                <a:latin typeface="Apple SD Gothic Neo" pitchFamily="34" charset="0"/>
                <a:ea typeface="Apple SD Gothic Neo" pitchFamily="34" charset="-122"/>
                <a:cs typeface="Apple SD Gothic Neo" pitchFamily="34" charset="-120"/>
              </a:rPr>
              <a:t>근거 확인</a:t>
            </a:r>
            <a:endParaRPr lang="en-US" sz="1050" dirty="0"/>
          </a:p>
        </p:txBody>
      </p:sp>
      <p:sp>
        <p:nvSpPr>
          <p:cNvPr id="24" name="Text 22"/>
          <p:cNvSpPr/>
          <p:nvPr/>
        </p:nvSpPr>
        <p:spPr>
          <a:xfrm>
            <a:off x="8211312" y="2231136"/>
            <a:ext cx="3054096" cy="1481328"/>
          </a:xfrm>
          <a:prstGeom prst="rect">
            <a:avLst/>
          </a:prstGeom>
          <a:noFill/>
          <a:ln/>
        </p:spPr>
        <p:txBody>
          <a:bodyPr wrap="square" lIns="0" tIns="0" rIns="0" bIns="0" rtlCol="0" anchor="t"/>
          <a:lstStyle/>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오른쪽 위 상세 버튼으로 패널 열기</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개요 · 데이터 · SQL · 이력 네 개 탭</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데이터 탭에서 조회 표를 보고 표 복사</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SQL 탭에서 실제 실행된 쿼리 확인·복사</a:t>
            </a:r>
            <a:endParaRPr lang="en-US" sz="1000" dirty="0"/>
          </a:p>
          <a:p>
            <a:pPr marL="139700" indent="-139700">
              <a:lnSpc>
                <a:spcPts val="1350"/>
              </a:lnSpc>
              <a:spcAft>
                <a:spcPts val="500"/>
              </a:spcAft>
              <a:buSzPct val="100000"/>
              <a:buChar char="•"/>
            </a:pPr>
            <a:r>
              <a:rPr lang="en-US" sz="1000" dirty="0">
                <a:solidFill>
                  <a:srgbClr val="1A1A1A"/>
                </a:solidFill>
                <a:latin typeface="Apple SD Gothic Neo" pitchFamily="34" charset="0"/>
                <a:ea typeface="Apple SD Gothic Neo" pitchFamily="34" charset="-122"/>
                <a:cs typeface="Apple SD Gothic Neo" pitchFamily="34" charset="-120"/>
              </a:rPr>
              <a:t>이력 탭에서 이 대화의 이전 조회로 되돌아가기</a:t>
            </a:r>
            <a:endParaRPr lang="en-US" sz="1000" dirty="0"/>
          </a:p>
        </p:txBody>
      </p:sp>
      <p:sp>
        <p:nvSpPr>
          <p:cNvPr id="25" name="Shape 23"/>
          <p:cNvSpPr/>
          <p:nvPr/>
        </p:nvSpPr>
        <p:spPr>
          <a:xfrm>
            <a:off x="548640" y="4023360"/>
            <a:ext cx="6766560" cy="1783080"/>
          </a:xfrm>
          <a:prstGeom prst="roundRect">
            <a:avLst>
              <a:gd name="adj" fmla="val 4103"/>
            </a:avLst>
          </a:prstGeom>
          <a:solidFill>
            <a:srgbClr val="FFFFFF"/>
          </a:solidFill>
          <a:ln w="12700">
            <a:solidFill>
              <a:srgbClr val="E3E5E8"/>
            </a:solidFill>
            <a:prstDash val="solid"/>
          </a:ln>
          <a:effectLst>
            <a:outerShdw sx="100000" sy="100000" kx="0" ky="0" algn="bl" rotWithShape="0" blurRad="127000" dist="25400" dir="5400000">
              <a:srgbClr val="000000">
                <a:alpha val="8000"/>
              </a:srgbClr>
            </a:outerShdw>
          </a:effectLst>
        </p:spPr>
      </p:sp>
      <p:sp>
        <p:nvSpPr>
          <p:cNvPr id="26" name="Text 24"/>
          <p:cNvSpPr/>
          <p:nvPr/>
        </p:nvSpPr>
        <p:spPr>
          <a:xfrm>
            <a:off x="804672" y="4187952"/>
            <a:ext cx="4572000" cy="274320"/>
          </a:xfrm>
          <a:prstGeom prst="rect">
            <a:avLst/>
          </a:prstGeom>
          <a:noFill/>
          <a:ln/>
        </p:spPr>
        <p:txBody>
          <a:bodyPr wrap="square" lIns="0" tIns="0" rIns="0" bIns="0" rtlCol="0" anchor="ctr"/>
          <a:lstStyle/>
          <a:p>
            <a:pPr indent="0" marL="0">
              <a:buNone/>
            </a:pPr>
            <a:r>
              <a:rPr lang="en-US" sz="1450" b="1" dirty="0">
                <a:solidFill>
                  <a:srgbClr val="1A1A1A"/>
                </a:solidFill>
                <a:latin typeface="Apple SD Gothic Neo" pitchFamily="34" charset="0"/>
                <a:ea typeface="Apple SD Gothic Neo" pitchFamily="34" charset="-122"/>
                <a:cs typeface="Apple SD Gothic Neo" pitchFamily="34" charset="-120"/>
              </a:rPr>
              <a:t>질문을 잘 쓰는 법</a:t>
            </a:r>
            <a:endParaRPr lang="en-US" sz="1450" dirty="0"/>
          </a:p>
        </p:txBody>
      </p:sp>
      <p:sp>
        <p:nvSpPr>
          <p:cNvPr id="27" name="Shape 25"/>
          <p:cNvSpPr/>
          <p:nvPr/>
        </p:nvSpPr>
        <p:spPr>
          <a:xfrm>
            <a:off x="804672" y="4581144"/>
            <a:ext cx="237744" cy="237744"/>
          </a:xfrm>
          <a:prstGeom prst="ellipse">
            <a:avLst/>
          </a:prstGeom>
          <a:solidFill>
            <a:srgbClr val="FCAF17"/>
          </a:solidFill>
          <a:ln/>
        </p:spPr>
      </p:sp>
      <p:sp>
        <p:nvSpPr>
          <p:cNvPr id="28" name="Text 26"/>
          <p:cNvSpPr/>
          <p:nvPr/>
        </p:nvSpPr>
        <p:spPr>
          <a:xfrm>
            <a:off x="804672" y="4581144"/>
            <a:ext cx="237744" cy="237744"/>
          </a:xfrm>
          <a:prstGeom prst="rect">
            <a:avLst/>
          </a:prstGeom>
          <a:noFill/>
          <a:ln/>
        </p:spPr>
        <p:txBody>
          <a:bodyPr wrap="square" lIns="0" tIns="0" rIns="0" bIns="0" rtlCol="0" anchor="ctr"/>
          <a:lstStyle/>
          <a:p>
            <a:pPr algn="ctr" indent="0" marL="0">
              <a:buNone/>
            </a:pPr>
            <a:r>
              <a:rPr lang="en-US" sz="1000" b="1" dirty="0">
                <a:solidFill>
                  <a:srgbClr val="1A1A1A"/>
                </a:solidFill>
                <a:latin typeface="Apple SD Gothic Neo" pitchFamily="34" charset="0"/>
                <a:ea typeface="Apple SD Gothic Neo" pitchFamily="34" charset="-122"/>
                <a:cs typeface="Apple SD Gothic Neo" pitchFamily="34" charset="-120"/>
              </a:rPr>
              <a:t>1</a:t>
            </a:r>
            <a:endParaRPr lang="en-US" sz="1000" dirty="0"/>
          </a:p>
        </p:txBody>
      </p:sp>
      <p:sp>
        <p:nvSpPr>
          <p:cNvPr id="29" name="Text 27"/>
          <p:cNvSpPr/>
          <p:nvPr/>
        </p:nvSpPr>
        <p:spPr>
          <a:xfrm>
            <a:off x="1115568" y="4553712"/>
            <a:ext cx="1554480" cy="274320"/>
          </a:xfrm>
          <a:prstGeom prst="rect">
            <a:avLst/>
          </a:prstGeom>
          <a:noFill/>
          <a:ln/>
        </p:spPr>
        <p:txBody>
          <a:bodyPr wrap="square" lIns="0" tIns="0" rIns="0" bIns="0" rtlCol="0" anchor="ctr"/>
          <a:lstStyle/>
          <a:p>
            <a:pPr indent="0" marL="0">
              <a:buNone/>
            </a:pPr>
            <a:r>
              <a:rPr lang="en-US" sz="1050" b="1" dirty="0">
                <a:solidFill>
                  <a:srgbClr val="8A5E00"/>
                </a:solidFill>
                <a:latin typeface="Apple SD Gothic Neo" pitchFamily="34" charset="0"/>
                <a:ea typeface="Apple SD Gothic Neo" pitchFamily="34" charset="-122"/>
                <a:cs typeface="Apple SD Gothic Neo" pitchFamily="34" charset="-120"/>
              </a:rPr>
              <a:t>기간 · 대상 · 지표</a:t>
            </a:r>
            <a:endParaRPr lang="en-US" sz="1050" dirty="0"/>
          </a:p>
        </p:txBody>
      </p:sp>
      <p:sp>
        <p:nvSpPr>
          <p:cNvPr id="30" name="Text 28"/>
          <p:cNvSpPr/>
          <p:nvPr/>
        </p:nvSpPr>
        <p:spPr>
          <a:xfrm>
            <a:off x="2706624" y="4553712"/>
            <a:ext cx="4480560" cy="274320"/>
          </a:xfrm>
          <a:prstGeom prst="rect">
            <a:avLst/>
          </a:prstGeom>
          <a:noFill/>
          <a:ln/>
        </p:spPr>
        <p:txBody>
          <a:bodyPr wrap="square" lIns="0" tIns="0" rIns="0" bIns="0" rtlCol="0" anchor="ctr"/>
          <a:lstStyle/>
          <a:p>
            <a:pPr indent="0" marL="0">
              <a:buNone/>
            </a:pPr>
            <a:r>
              <a:rPr lang="en-US" sz="1050" dirty="0">
                <a:solidFill>
                  <a:srgbClr val="9AA0A6"/>
                </a:solidFill>
                <a:latin typeface="Apple SD Gothic Neo" pitchFamily="34" charset="0"/>
                <a:ea typeface="Apple SD Gothic Neo" pitchFamily="34" charset="-122"/>
                <a:cs typeface="Apple SD Gothic Neo" pitchFamily="34" charset="-120"/>
              </a:rPr>
              <a:t>법인카드 이용금액 알려줘</a:t>
            </a:r>
            <a:pPr indent="0" marL="0">
              <a:buNone/>
            </a:pPr>
            <a:r>
              <a:rPr lang="en-US" sz="1050" b="1" dirty="0">
                <a:solidFill>
                  <a:srgbClr val="FCAF17"/>
                </a:solidFill>
                <a:latin typeface="Apple SD Gothic Neo" pitchFamily="34" charset="0"/>
                <a:ea typeface="Apple SD Gothic Neo" pitchFamily="34" charset="-122"/>
                <a:cs typeface="Apple SD Gothic Neo" pitchFamily="34" charset="-120"/>
              </a:rPr>
              <a:t>  →  </a:t>
            </a:r>
            <a:pPr indent="0" marL="0">
              <a:buNone/>
            </a:pPr>
            <a:r>
              <a:rPr lang="en-US" sz="1050" dirty="0">
                <a:solidFill>
                  <a:srgbClr val="1A1A1A"/>
                </a:solidFill>
                <a:latin typeface="Apple SD Gothic Neo" pitchFamily="34" charset="0"/>
                <a:ea typeface="Apple SD Gothic Neo" pitchFamily="34" charset="-122"/>
                <a:cs typeface="Apple SD Gothic Neo" pitchFamily="34" charset="-120"/>
              </a:rPr>
              <a:t>2025년 1~6월 업종별 이용금액 합계</a:t>
            </a:r>
            <a:endParaRPr lang="en-US" sz="1050" dirty="0"/>
          </a:p>
        </p:txBody>
      </p:sp>
      <p:sp>
        <p:nvSpPr>
          <p:cNvPr id="31" name="Shape 29"/>
          <p:cNvSpPr/>
          <p:nvPr/>
        </p:nvSpPr>
        <p:spPr>
          <a:xfrm>
            <a:off x="804672" y="5001768"/>
            <a:ext cx="237744" cy="237744"/>
          </a:xfrm>
          <a:prstGeom prst="ellipse">
            <a:avLst/>
          </a:prstGeom>
          <a:solidFill>
            <a:srgbClr val="FCAF17"/>
          </a:solidFill>
          <a:ln/>
        </p:spPr>
      </p:sp>
      <p:sp>
        <p:nvSpPr>
          <p:cNvPr id="32" name="Text 30"/>
          <p:cNvSpPr/>
          <p:nvPr/>
        </p:nvSpPr>
        <p:spPr>
          <a:xfrm>
            <a:off x="804672" y="5001768"/>
            <a:ext cx="237744" cy="237744"/>
          </a:xfrm>
          <a:prstGeom prst="rect">
            <a:avLst/>
          </a:prstGeom>
          <a:noFill/>
          <a:ln/>
        </p:spPr>
        <p:txBody>
          <a:bodyPr wrap="square" lIns="0" tIns="0" rIns="0" bIns="0" rtlCol="0" anchor="ctr"/>
          <a:lstStyle/>
          <a:p>
            <a:pPr algn="ctr" indent="0" marL="0">
              <a:buNone/>
            </a:pPr>
            <a:r>
              <a:rPr lang="en-US" sz="1000" b="1" dirty="0">
                <a:solidFill>
                  <a:srgbClr val="1A1A1A"/>
                </a:solidFill>
                <a:latin typeface="Apple SD Gothic Neo" pitchFamily="34" charset="0"/>
                <a:ea typeface="Apple SD Gothic Neo" pitchFamily="34" charset="-122"/>
                <a:cs typeface="Apple SD Gothic Neo" pitchFamily="34" charset="-120"/>
              </a:rPr>
              <a:t>2</a:t>
            </a:r>
            <a:endParaRPr lang="en-US" sz="1000" dirty="0"/>
          </a:p>
        </p:txBody>
      </p:sp>
      <p:sp>
        <p:nvSpPr>
          <p:cNvPr id="33" name="Text 31"/>
          <p:cNvSpPr/>
          <p:nvPr/>
        </p:nvSpPr>
        <p:spPr>
          <a:xfrm>
            <a:off x="1115568" y="4974336"/>
            <a:ext cx="1554480" cy="274320"/>
          </a:xfrm>
          <a:prstGeom prst="rect">
            <a:avLst/>
          </a:prstGeom>
          <a:noFill/>
          <a:ln/>
        </p:spPr>
        <p:txBody>
          <a:bodyPr wrap="square" lIns="0" tIns="0" rIns="0" bIns="0" rtlCol="0" anchor="ctr"/>
          <a:lstStyle/>
          <a:p>
            <a:pPr indent="0" marL="0">
              <a:buNone/>
            </a:pPr>
            <a:r>
              <a:rPr lang="en-US" sz="1050" b="1" dirty="0">
                <a:solidFill>
                  <a:srgbClr val="8A5E00"/>
                </a:solidFill>
                <a:latin typeface="Apple SD Gothic Neo" pitchFamily="34" charset="0"/>
                <a:ea typeface="Apple SD Gothic Neo" pitchFamily="34" charset="-122"/>
                <a:cs typeface="Apple SD Gothic Neo" pitchFamily="34" charset="-120"/>
              </a:rPr>
              <a:t>비교 기준</a:t>
            </a:r>
            <a:endParaRPr lang="en-US" sz="1050" dirty="0"/>
          </a:p>
        </p:txBody>
      </p:sp>
      <p:sp>
        <p:nvSpPr>
          <p:cNvPr id="34" name="Text 32"/>
          <p:cNvSpPr/>
          <p:nvPr/>
        </p:nvSpPr>
        <p:spPr>
          <a:xfrm>
            <a:off x="2706624" y="4974336"/>
            <a:ext cx="4480560" cy="274320"/>
          </a:xfrm>
          <a:prstGeom prst="rect">
            <a:avLst/>
          </a:prstGeom>
          <a:noFill/>
          <a:ln/>
        </p:spPr>
        <p:txBody>
          <a:bodyPr wrap="square" lIns="0" tIns="0" rIns="0" bIns="0" rtlCol="0" anchor="ctr"/>
          <a:lstStyle/>
          <a:p>
            <a:pPr indent="0" marL="0">
              <a:buNone/>
            </a:pPr>
            <a:r>
              <a:rPr lang="en-US" sz="1050" dirty="0">
                <a:solidFill>
                  <a:srgbClr val="9AA0A6"/>
                </a:solidFill>
                <a:latin typeface="Apple SD Gothic Neo" pitchFamily="34" charset="0"/>
                <a:ea typeface="Apple SD Gothic Neo" pitchFamily="34" charset="-122"/>
                <a:cs typeface="Apple SD Gothic Neo" pitchFamily="34" charset="-120"/>
              </a:rPr>
              <a:t>매출이 많이 늘어난 곳</a:t>
            </a:r>
            <a:pPr indent="0" marL="0">
              <a:buNone/>
            </a:pPr>
            <a:r>
              <a:rPr lang="en-US" sz="1050" b="1" dirty="0">
                <a:solidFill>
                  <a:srgbClr val="FCAF17"/>
                </a:solidFill>
                <a:latin typeface="Apple SD Gothic Neo" pitchFamily="34" charset="0"/>
                <a:ea typeface="Apple SD Gothic Neo" pitchFamily="34" charset="-122"/>
                <a:cs typeface="Apple SD Gothic Neo" pitchFamily="34" charset="-120"/>
              </a:rPr>
              <a:t>  →  </a:t>
            </a:r>
            <a:pPr indent="0" marL="0">
              <a:buNone/>
            </a:pPr>
            <a:r>
              <a:rPr lang="en-US" sz="1050" dirty="0">
                <a:solidFill>
                  <a:srgbClr val="1A1A1A"/>
                </a:solidFill>
                <a:latin typeface="Apple SD Gothic Neo" pitchFamily="34" charset="0"/>
                <a:ea typeface="Apple SD Gothic Neo" pitchFamily="34" charset="-122"/>
                <a:cs typeface="Apple SD Gothic Neo" pitchFamily="34" charset="-120"/>
              </a:rPr>
              <a:t>2025년 12월 전월 대비 증가 상위 10개 업종</a:t>
            </a:r>
            <a:endParaRPr lang="en-US" sz="1050" dirty="0"/>
          </a:p>
        </p:txBody>
      </p:sp>
      <p:sp>
        <p:nvSpPr>
          <p:cNvPr id="35" name="Shape 33"/>
          <p:cNvSpPr/>
          <p:nvPr/>
        </p:nvSpPr>
        <p:spPr>
          <a:xfrm>
            <a:off x="804672" y="5422392"/>
            <a:ext cx="237744" cy="237744"/>
          </a:xfrm>
          <a:prstGeom prst="ellipse">
            <a:avLst/>
          </a:prstGeom>
          <a:solidFill>
            <a:srgbClr val="FCAF17"/>
          </a:solidFill>
          <a:ln/>
        </p:spPr>
      </p:sp>
      <p:sp>
        <p:nvSpPr>
          <p:cNvPr id="36" name="Text 34"/>
          <p:cNvSpPr/>
          <p:nvPr/>
        </p:nvSpPr>
        <p:spPr>
          <a:xfrm>
            <a:off x="804672" y="5422392"/>
            <a:ext cx="237744" cy="237744"/>
          </a:xfrm>
          <a:prstGeom prst="rect">
            <a:avLst/>
          </a:prstGeom>
          <a:noFill/>
          <a:ln/>
        </p:spPr>
        <p:txBody>
          <a:bodyPr wrap="square" lIns="0" tIns="0" rIns="0" bIns="0" rtlCol="0" anchor="ctr"/>
          <a:lstStyle/>
          <a:p>
            <a:pPr algn="ctr" indent="0" marL="0">
              <a:buNone/>
            </a:pPr>
            <a:r>
              <a:rPr lang="en-US" sz="1000" b="1" dirty="0">
                <a:solidFill>
                  <a:srgbClr val="1A1A1A"/>
                </a:solidFill>
                <a:latin typeface="Apple SD Gothic Neo" pitchFamily="34" charset="0"/>
                <a:ea typeface="Apple SD Gothic Neo" pitchFamily="34" charset="-122"/>
                <a:cs typeface="Apple SD Gothic Neo" pitchFamily="34" charset="-120"/>
              </a:rPr>
              <a:t>3</a:t>
            </a:r>
            <a:endParaRPr lang="en-US" sz="1000" dirty="0"/>
          </a:p>
        </p:txBody>
      </p:sp>
      <p:sp>
        <p:nvSpPr>
          <p:cNvPr id="37" name="Text 35"/>
          <p:cNvSpPr/>
          <p:nvPr/>
        </p:nvSpPr>
        <p:spPr>
          <a:xfrm>
            <a:off x="1115568" y="5394960"/>
            <a:ext cx="1554480" cy="274320"/>
          </a:xfrm>
          <a:prstGeom prst="rect">
            <a:avLst/>
          </a:prstGeom>
          <a:noFill/>
          <a:ln/>
        </p:spPr>
        <p:txBody>
          <a:bodyPr wrap="square" lIns="0" tIns="0" rIns="0" bIns="0" rtlCol="0" anchor="ctr"/>
          <a:lstStyle/>
          <a:p>
            <a:pPr indent="0" marL="0">
              <a:buNone/>
            </a:pPr>
            <a:r>
              <a:rPr lang="en-US" sz="1050" b="1" dirty="0">
                <a:solidFill>
                  <a:srgbClr val="8A5E00"/>
                </a:solidFill>
                <a:latin typeface="Apple SD Gothic Neo" pitchFamily="34" charset="0"/>
                <a:ea typeface="Apple SD Gothic Neo" pitchFamily="34" charset="-122"/>
                <a:cs typeface="Apple SD Gothic Neo" pitchFamily="34" charset="-120"/>
              </a:rPr>
              <a:t>한 번에 하나씩</a:t>
            </a:r>
            <a:endParaRPr lang="en-US" sz="1050" dirty="0"/>
          </a:p>
        </p:txBody>
      </p:sp>
      <p:sp>
        <p:nvSpPr>
          <p:cNvPr id="38" name="Text 36"/>
          <p:cNvSpPr/>
          <p:nvPr/>
        </p:nvSpPr>
        <p:spPr>
          <a:xfrm>
            <a:off x="2706624" y="5394960"/>
            <a:ext cx="4480560" cy="274320"/>
          </a:xfrm>
          <a:prstGeom prst="rect">
            <a:avLst/>
          </a:prstGeom>
          <a:noFill/>
          <a:ln/>
        </p:spPr>
        <p:txBody>
          <a:bodyPr wrap="square" lIns="0" tIns="0" rIns="0" bIns="0" rtlCol="0" anchor="ctr"/>
          <a:lstStyle/>
          <a:p>
            <a:pPr indent="0" marL="0">
              <a:buNone/>
            </a:pPr>
            <a:r>
              <a:rPr lang="en-US" sz="1050" dirty="0">
                <a:solidFill>
                  <a:srgbClr val="1A1A1A"/>
                </a:solidFill>
                <a:latin typeface="Apple SD Gothic Neo" pitchFamily="34" charset="0"/>
                <a:ea typeface="Apple SD Gothic Neo" pitchFamily="34" charset="-122"/>
                <a:cs typeface="Apple SD Gothic Neo" pitchFamily="34" charset="-120"/>
              </a:rPr>
              <a:t>먼저 하나만 묻고, 후속 질문으로 기간·대상·지표를 바꿉니다</a:t>
            </a:r>
            <a:endParaRPr lang="en-US" sz="1050" dirty="0"/>
          </a:p>
        </p:txBody>
      </p:sp>
      <p:sp>
        <p:nvSpPr>
          <p:cNvPr id="39" name="Shape 37"/>
          <p:cNvSpPr/>
          <p:nvPr/>
        </p:nvSpPr>
        <p:spPr>
          <a:xfrm>
            <a:off x="7589520" y="4023360"/>
            <a:ext cx="4023360" cy="1783080"/>
          </a:xfrm>
          <a:prstGeom prst="roundRect">
            <a:avLst>
              <a:gd name="adj" fmla="val 4103"/>
            </a:avLst>
          </a:prstGeom>
          <a:solidFill>
            <a:srgbClr val="FFF4DC"/>
          </a:solidFill>
          <a:ln/>
        </p:spPr>
      </p:sp>
      <p:sp>
        <p:nvSpPr>
          <p:cNvPr id="40" name="Text 38"/>
          <p:cNvSpPr/>
          <p:nvPr/>
        </p:nvSpPr>
        <p:spPr>
          <a:xfrm>
            <a:off x="7845552" y="4187952"/>
            <a:ext cx="3566160" cy="274320"/>
          </a:xfrm>
          <a:prstGeom prst="rect">
            <a:avLst/>
          </a:prstGeom>
          <a:noFill/>
          <a:ln/>
        </p:spPr>
        <p:txBody>
          <a:bodyPr wrap="square" lIns="0" tIns="0" rIns="0" bIns="0" rtlCol="0" anchor="ctr"/>
          <a:lstStyle/>
          <a:p>
            <a:pPr indent="0" marL="0">
              <a:buNone/>
            </a:pPr>
            <a:r>
              <a:rPr lang="en-US" sz="1450" b="1" dirty="0">
                <a:solidFill>
                  <a:srgbClr val="1A1A1A"/>
                </a:solidFill>
                <a:latin typeface="Apple SD Gothic Neo" pitchFamily="34" charset="0"/>
                <a:ea typeface="Apple SD Gothic Neo" pitchFamily="34" charset="-122"/>
                <a:cs typeface="Apple SD Gothic Neo" pitchFamily="34" charset="-120"/>
              </a:rPr>
              <a:t>전체 데이터를 받으려면</a:t>
            </a:r>
            <a:endParaRPr lang="en-US" sz="1450" dirty="0"/>
          </a:p>
        </p:txBody>
      </p:sp>
      <p:sp>
        <p:nvSpPr>
          <p:cNvPr id="41" name="Text 39"/>
          <p:cNvSpPr/>
          <p:nvPr/>
        </p:nvSpPr>
        <p:spPr>
          <a:xfrm>
            <a:off x="7845552" y="4553712"/>
            <a:ext cx="3529584" cy="1133856"/>
          </a:xfrm>
          <a:prstGeom prst="rect">
            <a:avLst/>
          </a:prstGeom>
          <a:noFill/>
          <a:ln/>
        </p:spPr>
        <p:txBody>
          <a:bodyPr wrap="square" lIns="0" tIns="0" rIns="0" bIns="0" rtlCol="0" anchor="t"/>
          <a:lstStyle/>
          <a:p>
            <a:pPr marL="139700" indent="-139700">
              <a:lnSpc>
                <a:spcPts val="1350"/>
              </a:lnSpc>
              <a:spcAft>
                <a:spcPts val="500"/>
              </a:spcAft>
              <a:buSzPct val="100000"/>
              <a:buChar char="•"/>
            </a:pPr>
            <a:r>
              <a:rPr lang="en-US" sz="1000" dirty="0">
                <a:solidFill>
                  <a:srgbClr val="8A5E00"/>
                </a:solidFill>
                <a:latin typeface="Apple SD Gothic Neo" pitchFamily="34" charset="0"/>
                <a:ea typeface="Apple SD Gothic Neo" pitchFamily="34" charset="-122"/>
                <a:cs typeface="Apple SD Gothic Neo" pitchFamily="34" charset="-120"/>
              </a:rPr>
              <a:t>화면의 데이터 탭은 100건까지만 미리보기</a:t>
            </a:r>
            <a:endParaRPr lang="en-US" sz="1000" dirty="0"/>
          </a:p>
          <a:p>
            <a:pPr marL="139700" indent="-139700">
              <a:lnSpc>
                <a:spcPts val="1350"/>
              </a:lnSpc>
              <a:spcAft>
                <a:spcPts val="500"/>
              </a:spcAft>
              <a:buSzPct val="100000"/>
              <a:buChar char="•"/>
            </a:pPr>
            <a:r>
              <a:rPr lang="en-US" sz="1000" dirty="0">
                <a:solidFill>
                  <a:srgbClr val="8A5E00"/>
                </a:solidFill>
                <a:latin typeface="Apple SD Gothic Neo" pitchFamily="34" charset="0"/>
                <a:ea typeface="Apple SD Gothic Neo" pitchFamily="34" charset="-122"/>
                <a:cs typeface="Apple SD Gothic Neo" pitchFamily="34" charset="-120"/>
              </a:rPr>
              <a:t>Word 보고서는 표를 200건까지만 담습니다</a:t>
            </a:r>
            <a:endParaRPr lang="en-US" sz="1000" dirty="0"/>
          </a:p>
          <a:p>
            <a:pPr marL="139700" indent="-139700">
              <a:lnSpc>
                <a:spcPts val="1350"/>
              </a:lnSpc>
              <a:spcAft>
                <a:spcPts val="500"/>
              </a:spcAft>
              <a:buSzPct val="100000"/>
              <a:buChar char="•"/>
            </a:pPr>
            <a:r>
              <a:rPr lang="en-US" sz="1000" dirty="0">
                <a:solidFill>
                  <a:srgbClr val="8A5E00"/>
                </a:solidFill>
                <a:latin typeface="Apple SD Gothic Neo" pitchFamily="34" charset="0"/>
                <a:ea typeface="Apple SD Gothic Neo" pitchFamily="34" charset="-122"/>
                <a:cs typeface="Apple SD Gothic Neo" pitchFamily="34" charset="-120"/>
              </a:rPr>
              <a:t>조회된 전체 행은 Excel 또는 TXT로 받으세요</a:t>
            </a:r>
            <a:endParaRPr lang="en-US" sz="1000" dirty="0"/>
          </a:p>
          <a:p>
            <a:pPr marL="139700" indent="-139700">
              <a:lnSpc>
                <a:spcPts val="1350"/>
              </a:lnSpc>
              <a:spcAft>
                <a:spcPts val="500"/>
              </a:spcAft>
              <a:buSzPct val="100000"/>
              <a:buChar char="•"/>
            </a:pPr>
            <a:r>
              <a:rPr lang="en-US" sz="1000" dirty="0">
                <a:solidFill>
                  <a:srgbClr val="8A5E00"/>
                </a:solidFill>
                <a:latin typeface="Apple SD Gothic Neo" pitchFamily="34" charset="0"/>
                <a:ea typeface="Apple SD Gothic Neo" pitchFamily="34" charset="-122"/>
                <a:cs typeface="Apple SD Gothic Neo" pitchFamily="34" charset="-120"/>
              </a:rPr>
              <a:t>위치: 왼쪽 아래 데이터 도구 › 보고서 내보내기</a:t>
            </a:r>
            <a:endParaRPr lang="en-US" sz="1000" dirty="0"/>
          </a:p>
        </p:txBody>
      </p:sp>
      <p:sp>
        <p:nvSpPr>
          <p:cNvPr id="42" name="Text 40"/>
          <p:cNvSpPr/>
          <p:nvPr/>
        </p:nvSpPr>
        <p:spPr>
          <a:xfrm>
            <a:off x="548640" y="5943600"/>
            <a:ext cx="11064240" cy="502920"/>
          </a:xfrm>
          <a:prstGeom prst="rect">
            <a:avLst/>
          </a:prstGeom>
          <a:noFill/>
          <a:ln/>
        </p:spPr>
        <p:txBody>
          <a:bodyPr wrap="square" lIns="0" tIns="0" rIns="0" bIns="0" rtlCol="0" anchor="ctr"/>
          <a:lstStyle/>
          <a:p>
            <a:pPr indent="0" marL="0">
              <a:lnSpc>
                <a:spcPts val="1300"/>
              </a:lnSpc>
              <a:buNone/>
            </a:pPr>
            <a:r>
              <a:rPr lang="en-US" sz="950" dirty="0">
                <a:solidFill>
                  <a:srgbClr val="6B7075"/>
                </a:solidFill>
                <a:latin typeface="Apple SD Gothic Neo" pitchFamily="34" charset="0"/>
                <a:ea typeface="Apple SD Gothic Neo" pitchFamily="34" charset="-122"/>
                <a:cs typeface="Apple SD Gothic Neo" pitchFamily="34" charset="-120"/>
              </a:rPr>
              <a:t>상단 이용가이드 버튼에 예시 질문·질문 요령·사용 테이블 목록이 들어 있습니다.</a:t>
            </a:r>
            <a:endParaRPr lang="en-US" sz="950" dirty="0"/>
          </a:p>
          <a:p>
            <a:pPr indent="0" marL="0">
              <a:lnSpc>
                <a:spcPts val="1300"/>
              </a:lnSpc>
              <a:buNone/>
            </a:pPr>
            <a:r>
              <a:rPr lang="en-US" sz="950" dirty="0">
                <a:solidFill>
                  <a:srgbClr val="6B7075"/>
                </a:solidFill>
                <a:latin typeface="Apple SD Gothic Neo" pitchFamily="34" charset="0"/>
                <a:ea typeface="Apple SD Gothic Neo" pitchFamily="34" charset="-122"/>
                <a:cs typeface="Apple SD Gothic Neo" pitchFamily="34" charset="-120"/>
              </a:rPr>
              <a:t>답변 범위는 기업영업과 가맹점·프랜차이즈 질의이며, 개인정보나 카드 고객센터 문의는 다루지 않습니다.</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0058400" cy="256032"/>
          </a:xfrm>
          <a:prstGeom prst="rect">
            <a:avLst/>
          </a:prstGeom>
          <a:noFill/>
          <a:ln/>
        </p:spPr>
        <p:txBody>
          <a:bodyPr wrap="square" lIns="0" tIns="0" rIns="0" bIns="0" rtlCol="0" anchor="ctr"/>
          <a:lstStyle/>
          <a:p>
            <a:pPr indent="0" marL="0">
              <a:buNone/>
            </a:pPr>
            <a:r>
              <a:rPr lang="en-US" sz="1150" b="1" spc="160" kern="0" dirty="0">
                <a:solidFill>
                  <a:srgbClr val="8A5E00"/>
                </a:solidFill>
                <a:latin typeface="Apple SD Gothic Neo" pitchFamily="34" charset="0"/>
                <a:ea typeface="Apple SD Gothic Neo" pitchFamily="34" charset="-122"/>
                <a:cs typeface="Apple SD Gothic Neo" pitchFamily="34" charset="-120"/>
              </a:rPr>
              <a:t>HOW IT WORKS</a:t>
            </a:r>
            <a:endParaRPr lang="en-US" sz="1150" dirty="0"/>
          </a:p>
        </p:txBody>
      </p:sp>
      <p:sp>
        <p:nvSpPr>
          <p:cNvPr id="3" name="Text 1"/>
          <p:cNvSpPr/>
          <p:nvPr/>
        </p:nvSpPr>
        <p:spPr>
          <a:xfrm>
            <a:off x="548640" y="694944"/>
            <a:ext cx="10607040" cy="566928"/>
          </a:xfrm>
          <a:prstGeom prst="rect">
            <a:avLst/>
          </a:prstGeom>
          <a:noFill/>
          <a:ln/>
        </p:spPr>
        <p:txBody>
          <a:bodyPr wrap="square" lIns="0" tIns="0" rIns="0" bIns="0" rtlCol="0" anchor="ctr"/>
          <a:lstStyle/>
          <a:p>
            <a:pPr indent="0" marL="0">
              <a:buNone/>
            </a:pPr>
            <a:r>
              <a:rPr lang="en-US" sz="3200" b="1" dirty="0">
                <a:solidFill>
                  <a:srgbClr val="1A1A1A"/>
                </a:solidFill>
                <a:latin typeface="Apple SD Gothic Neo" pitchFamily="34" charset="0"/>
                <a:ea typeface="Apple SD Gothic Neo" pitchFamily="34" charset="-122"/>
                <a:cs typeface="Apple SD Gothic Neo" pitchFamily="34" charset="-120"/>
              </a:rPr>
              <a:t>처리 구조: 규칙이 먼저, LLM은 필요한 구간만</a:t>
            </a:r>
            <a:endParaRPr lang="en-US" sz="3200" dirty="0"/>
          </a:p>
        </p:txBody>
      </p:sp>
      <p:sp>
        <p:nvSpPr>
          <p:cNvPr id="4" name="Shape 2"/>
          <p:cNvSpPr/>
          <p:nvPr/>
        </p:nvSpPr>
        <p:spPr>
          <a:xfrm>
            <a:off x="548640" y="1463040"/>
            <a:ext cx="1700784" cy="841248"/>
          </a:xfrm>
          <a:prstGeom prst="roundRect">
            <a:avLst>
              <a:gd name="adj" fmla="val 8696"/>
            </a:avLst>
          </a:prstGeom>
          <a:solidFill>
            <a:srgbClr val="F4F5F6"/>
          </a:solidFill>
          <a:ln/>
        </p:spPr>
      </p:sp>
      <p:sp>
        <p:nvSpPr>
          <p:cNvPr id="5" name="Text 3"/>
          <p:cNvSpPr/>
          <p:nvPr/>
        </p:nvSpPr>
        <p:spPr>
          <a:xfrm>
            <a:off x="640080"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질문 분류</a:t>
            </a:r>
            <a:endParaRPr lang="en-US" sz="1200" dirty="0"/>
          </a:p>
        </p:txBody>
      </p:sp>
      <p:sp>
        <p:nvSpPr>
          <p:cNvPr id="6" name="Text 4"/>
          <p:cNvSpPr/>
          <p:nvPr/>
        </p:nvSpPr>
        <p:spPr>
          <a:xfrm>
            <a:off x="603504" y="1847088"/>
            <a:ext cx="1591056" cy="365760"/>
          </a:xfrm>
          <a:prstGeom prst="rect">
            <a:avLst/>
          </a:prstGeom>
          <a:noFill/>
          <a:ln/>
        </p:spPr>
        <p:txBody>
          <a:bodyPr wrap="square" lIns="0" tIns="0" rIns="0" bIns="0" rtlCol="0" anchor="ctr"/>
          <a:lstStyle/>
          <a:p>
            <a:pPr algn="ctr" indent="0" marL="0">
              <a:buNone/>
            </a:pPr>
            <a:r>
              <a:rPr lang="en-US" sz="760" dirty="0">
                <a:solidFill>
                  <a:srgbClr val="6B7075"/>
                </a:solidFill>
                <a:latin typeface="Courier New" pitchFamily="34" charset="0"/>
                <a:ea typeface="Courier New" pitchFamily="34" charset="-122"/>
                <a:cs typeface="Courier New" pitchFamily="34" charset="-120"/>
              </a:rPr>
              <a:t>classify_question</a:t>
            </a:r>
            <a:endParaRPr lang="en-US" sz="760" dirty="0"/>
          </a:p>
        </p:txBody>
      </p:sp>
      <p:sp>
        <p:nvSpPr>
          <p:cNvPr id="7" name="Text 5"/>
          <p:cNvSpPr/>
          <p:nvPr/>
        </p:nvSpPr>
        <p:spPr>
          <a:xfrm>
            <a:off x="2249424" y="1463040"/>
            <a:ext cx="155448" cy="841248"/>
          </a:xfrm>
          <a:prstGeom prst="rect">
            <a:avLst/>
          </a:prstGeom>
          <a:noFill/>
          <a:ln/>
        </p:spPr>
        <p:txBody>
          <a:bodyPr wrap="square" lIns="0" tIns="0" rIns="0" bIns="0" rtlCol="0" anchor="ctr"/>
          <a:lstStyle/>
          <a:p>
            <a:pPr algn="ct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a:t>
            </a:r>
            <a:endParaRPr lang="en-US" sz="1600" dirty="0"/>
          </a:p>
        </p:txBody>
      </p:sp>
      <p:sp>
        <p:nvSpPr>
          <p:cNvPr id="8" name="Shape 6"/>
          <p:cNvSpPr/>
          <p:nvPr/>
        </p:nvSpPr>
        <p:spPr>
          <a:xfrm>
            <a:off x="2404872" y="1463040"/>
            <a:ext cx="1700784" cy="841248"/>
          </a:xfrm>
          <a:prstGeom prst="roundRect">
            <a:avLst>
              <a:gd name="adj" fmla="val 8696"/>
            </a:avLst>
          </a:prstGeom>
          <a:solidFill>
            <a:srgbClr val="F4F5F6"/>
          </a:solidFill>
          <a:ln/>
        </p:spPr>
      </p:sp>
      <p:sp>
        <p:nvSpPr>
          <p:cNvPr id="9" name="Text 7"/>
          <p:cNvSpPr/>
          <p:nvPr/>
        </p:nvSpPr>
        <p:spPr>
          <a:xfrm>
            <a:off x="2496312"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질의 정제</a:t>
            </a:r>
            <a:endParaRPr lang="en-US" sz="1200" dirty="0"/>
          </a:p>
        </p:txBody>
      </p:sp>
      <p:sp>
        <p:nvSpPr>
          <p:cNvPr id="10" name="Text 8"/>
          <p:cNvSpPr/>
          <p:nvPr/>
        </p:nvSpPr>
        <p:spPr>
          <a:xfrm>
            <a:off x="2459736" y="1847088"/>
            <a:ext cx="1591056" cy="365760"/>
          </a:xfrm>
          <a:prstGeom prst="rect">
            <a:avLst/>
          </a:prstGeom>
          <a:noFill/>
          <a:ln/>
        </p:spPr>
        <p:txBody>
          <a:bodyPr wrap="square" lIns="0" tIns="0" rIns="0" bIns="0" rtlCol="0" anchor="ctr"/>
          <a:lstStyle/>
          <a:p>
            <a:pPr algn="ctr" indent="0" marL="0">
              <a:buNone/>
            </a:pPr>
            <a:r>
              <a:rPr lang="en-US" sz="760" dirty="0">
                <a:solidFill>
                  <a:srgbClr val="6B7075"/>
                </a:solidFill>
                <a:latin typeface="Courier New" pitchFamily="34" charset="0"/>
                <a:ea typeface="Courier New" pitchFamily="34" charset="-122"/>
                <a:cs typeface="Courier New" pitchFamily="34" charset="-120"/>
              </a:rPr>
              <a:t>refine_search_query</a:t>
            </a:r>
            <a:endParaRPr lang="en-US" sz="760" dirty="0"/>
          </a:p>
        </p:txBody>
      </p:sp>
      <p:sp>
        <p:nvSpPr>
          <p:cNvPr id="11" name="Text 9"/>
          <p:cNvSpPr/>
          <p:nvPr/>
        </p:nvSpPr>
        <p:spPr>
          <a:xfrm>
            <a:off x="4105656" y="1463040"/>
            <a:ext cx="155448" cy="841248"/>
          </a:xfrm>
          <a:prstGeom prst="rect">
            <a:avLst/>
          </a:prstGeom>
          <a:noFill/>
          <a:ln/>
        </p:spPr>
        <p:txBody>
          <a:bodyPr wrap="square" lIns="0" tIns="0" rIns="0" bIns="0" rtlCol="0" anchor="ctr"/>
          <a:lstStyle/>
          <a:p>
            <a:pPr algn="ct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a:t>
            </a:r>
            <a:endParaRPr lang="en-US" sz="1600" dirty="0"/>
          </a:p>
        </p:txBody>
      </p:sp>
      <p:sp>
        <p:nvSpPr>
          <p:cNvPr id="12" name="Shape 10"/>
          <p:cNvSpPr/>
          <p:nvPr/>
        </p:nvSpPr>
        <p:spPr>
          <a:xfrm>
            <a:off x="4261104" y="1463040"/>
            <a:ext cx="1700784" cy="841248"/>
          </a:xfrm>
          <a:prstGeom prst="roundRect">
            <a:avLst>
              <a:gd name="adj" fmla="val 8696"/>
            </a:avLst>
          </a:prstGeom>
          <a:solidFill>
            <a:srgbClr val="F4F5F6"/>
          </a:solidFill>
          <a:ln/>
        </p:spPr>
      </p:sp>
      <p:sp>
        <p:nvSpPr>
          <p:cNvPr id="13" name="Text 11"/>
          <p:cNvSpPr/>
          <p:nvPr/>
        </p:nvSpPr>
        <p:spPr>
          <a:xfrm>
            <a:off x="4352544"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도메인 라우팅</a:t>
            </a:r>
            <a:endParaRPr lang="en-US" sz="1200" dirty="0"/>
          </a:p>
        </p:txBody>
      </p:sp>
      <p:sp>
        <p:nvSpPr>
          <p:cNvPr id="14" name="Text 12"/>
          <p:cNvSpPr/>
          <p:nvPr/>
        </p:nvSpPr>
        <p:spPr>
          <a:xfrm>
            <a:off x="4315968" y="1847088"/>
            <a:ext cx="1591056" cy="365760"/>
          </a:xfrm>
          <a:prstGeom prst="rect">
            <a:avLst/>
          </a:prstGeom>
          <a:noFill/>
          <a:ln/>
        </p:spPr>
        <p:txBody>
          <a:bodyPr wrap="square" lIns="0" tIns="0" rIns="0" bIns="0" rtlCol="0" anchor="ctr"/>
          <a:lstStyle/>
          <a:p>
            <a:pPr algn="ctr" indent="0" marL="0">
              <a:buNone/>
            </a:pPr>
            <a:r>
              <a:rPr lang="en-US" sz="760" dirty="0">
                <a:solidFill>
                  <a:srgbClr val="6B7075"/>
                </a:solidFill>
                <a:latin typeface="Courier New" pitchFamily="34" charset="0"/>
                <a:ea typeface="Courier New" pitchFamily="34" charset="-122"/>
                <a:cs typeface="Courier New" pitchFamily="34" charset="-120"/>
              </a:rPr>
              <a:t>route_domain</a:t>
            </a:r>
            <a:endParaRPr lang="en-US" sz="760" dirty="0"/>
          </a:p>
        </p:txBody>
      </p:sp>
      <p:sp>
        <p:nvSpPr>
          <p:cNvPr id="15" name="Text 13"/>
          <p:cNvSpPr/>
          <p:nvPr/>
        </p:nvSpPr>
        <p:spPr>
          <a:xfrm>
            <a:off x="5961888" y="1463040"/>
            <a:ext cx="155448" cy="841248"/>
          </a:xfrm>
          <a:prstGeom prst="rect">
            <a:avLst/>
          </a:prstGeom>
          <a:noFill/>
          <a:ln/>
        </p:spPr>
        <p:txBody>
          <a:bodyPr wrap="square" lIns="0" tIns="0" rIns="0" bIns="0" rtlCol="0" anchor="ctr"/>
          <a:lstStyle/>
          <a:p>
            <a:pPr algn="ct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a:t>
            </a:r>
            <a:endParaRPr lang="en-US" sz="1600" dirty="0"/>
          </a:p>
        </p:txBody>
      </p:sp>
      <p:sp>
        <p:nvSpPr>
          <p:cNvPr id="16" name="Shape 14"/>
          <p:cNvSpPr/>
          <p:nvPr/>
        </p:nvSpPr>
        <p:spPr>
          <a:xfrm>
            <a:off x="6117336" y="1463040"/>
            <a:ext cx="1700784" cy="841248"/>
          </a:xfrm>
          <a:prstGeom prst="roundRect">
            <a:avLst>
              <a:gd name="adj" fmla="val 8696"/>
            </a:avLst>
          </a:prstGeom>
          <a:solidFill>
            <a:srgbClr val="FFF4DC"/>
          </a:solidFill>
          <a:ln/>
        </p:spPr>
      </p:sp>
      <p:sp>
        <p:nvSpPr>
          <p:cNvPr id="17" name="Text 15"/>
          <p:cNvSpPr/>
          <p:nvPr/>
        </p:nvSpPr>
        <p:spPr>
          <a:xfrm>
            <a:off x="6208776"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실행 경로 선택</a:t>
            </a:r>
            <a:endParaRPr lang="en-US" sz="1200" dirty="0"/>
          </a:p>
        </p:txBody>
      </p:sp>
      <p:sp>
        <p:nvSpPr>
          <p:cNvPr id="18" name="Text 16"/>
          <p:cNvSpPr/>
          <p:nvPr/>
        </p:nvSpPr>
        <p:spPr>
          <a:xfrm>
            <a:off x="6172200" y="1847088"/>
            <a:ext cx="1591056" cy="365760"/>
          </a:xfrm>
          <a:prstGeom prst="rect">
            <a:avLst/>
          </a:prstGeom>
          <a:noFill/>
          <a:ln/>
        </p:spPr>
        <p:txBody>
          <a:bodyPr wrap="square" lIns="0" tIns="0" rIns="0" bIns="0" rtlCol="0" anchor="ctr"/>
          <a:lstStyle/>
          <a:p>
            <a:pPr algn="ctr" indent="0" marL="0">
              <a:buNone/>
            </a:pPr>
            <a:r>
              <a:rPr lang="en-US" sz="760" dirty="0">
                <a:solidFill>
                  <a:srgbClr val="8A5E00"/>
                </a:solidFill>
                <a:latin typeface="Courier New" pitchFamily="34" charset="0"/>
                <a:ea typeface="Courier New" pitchFamily="34" charset="-122"/>
                <a:cs typeface="Courier New" pitchFamily="34" charset="-120"/>
              </a:rPr>
              <a:t>select_tool</a:t>
            </a:r>
            <a:endParaRPr lang="en-US" sz="760" dirty="0"/>
          </a:p>
        </p:txBody>
      </p:sp>
      <p:sp>
        <p:nvSpPr>
          <p:cNvPr id="19" name="Text 17"/>
          <p:cNvSpPr/>
          <p:nvPr/>
        </p:nvSpPr>
        <p:spPr>
          <a:xfrm>
            <a:off x="7818120" y="1463040"/>
            <a:ext cx="155448" cy="841248"/>
          </a:xfrm>
          <a:prstGeom prst="rect">
            <a:avLst/>
          </a:prstGeom>
          <a:noFill/>
          <a:ln/>
        </p:spPr>
        <p:txBody>
          <a:bodyPr wrap="square" lIns="0" tIns="0" rIns="0" bIns="0" rtlCol="0" anchor="ctr"/>
          <a:lstStyle/>
          <a:p>
            <a:pPr algn="ct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a:t>
            </a:r>
            <a:endParaRPr lang="en-US" sz="1600" dirty="0"/>
          </a:p>
        </p:txBody>
      </p:sp>
      <p:sp>
        <p:nvSpPr>
          <p:cNvPr id="20" name="Shape 18"/>
          <p:cNvSpPr/>
          <p:nvPr/>
        </p:nvSpPr>
        <p:spPr>
          <a:xfrm>
            <a:off x="7973568" y="1463040"/>
            <a:ext cx="1700784" cy="841248"/>
          </a:xfrm>
          <a:prstGeom prst="roundRect">
            <a:avLst>
              <a:gd name="adj" fmla="val 8696"/>
            </a:avLst>
          </a:prstGeom>
          <a:solidFill>
            <a:srgbClr val="F4F5F6"/>
          </a:solidFill>
          <a:ln/>
        </p:spPr>
      </p:sp>
      <p:sp>
        <p:nvSpPr>
          <p:cNvPr id="21" name="Text 19"/>
          <p:cNvSpPr/>
          <p:nvPr/>
        </p:nvSpPr>
        <p:spPr>
          <a:xfrm>
            <a:off x="8065008"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SQL 검증</a:t>
            </a:r>
            <a:endParaRPr lang="en-US" sz="1200" dirty="0"/>
          </a:p>
        </p:txBody>
      </p:sp>
      <p:sp>
        <p:nvSpPr>
          <p:cNvPr id="22" name="Text 20"/>
          <p:cNvSpPr/>
          <p:nvPr/>
        </p:nvSpPr>
        <p:spPr>
          <a:xfrm>
            <a:off x="8028432" y="1847088"/>
            <a:ext cx="1591056" cy="365760"/>
          </a:xfrm>
          <a:prstGeom prst="rect">
            <a:avLst/>
          </a:prstGeom>
          <a:noFill/>
          <a:ln/>
        </p:spPr>
        <p:txBody>
          <a:bodyPr wrap="square" lIns="0" tIns="0" rIns="0" bIns="0" rtlCol="0" anchor="ctr"/>
          <a:lstStyle/>
          <a:p>
            <a:pPr algn="ctr" indent="0" marL="0">
              <a:buNone/>
            </a:pPr>
            <a:r>
              <a:rPr lang="en-US" sz="760" dirty="0">
                <a:solidFill>
                  <a:srgbClr val="6B7075"/>
                </a:solidFill>
                <a:latin typeface="Courier New" pitchFamily="34" charset="0"/>
                <a:ea typeface="Courier New" pitchFamily="34" charset="-122"/>
                <a:cs typeface="Courier New" pitchFamily="34" charset="-120"/>
              </a:rPr>
              <a:t>validate_sql</a:t>
            </a:r>
            <a:endParaRPr lang="en-US" sz="760" dirty="0"/>
          </a:p>
        </p:txBody>
      </p:sp>
      <p:sp>
        <p:nvSpPr>
          <p:cNvPr id="23" name="Text 21"/>
          <p:cNvSpPr/>
          <p:nvPr/>
        </p:nvSpPr>
        <p:spPr>
          <a:xfrm>
            <a:off x="9674352" y="1463040"/>
            <a:ext cx="155448" cy="841248"/>
          </a:xfrm>
          <a:prstGeom prst="rect">
            <a:avLst/>
          </a:prstGeom>
          <a:noFill/>
          <a:ln/>
        </p:spPr>
        <p:txBody>
          <a:bodyPr wrap="square" lIns="0" tIns="0" rIns="0" bIns="0" rtlCol="0" anchor="ctr"/>
          <a:lstStyle/>
          <a:p>
            <a:pPr algn="ct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a:t>
            </a:r>
            <a:endParaRPr lang="en-US" sz="1600" dirty="0"/>
          </a:p>
        </p:txBody>
      </p:sp>
      <p:sp>
        <p:nvSpPr>
          <p:cNvPr id="24" name="Shape 22"/>
          <p:cNvSpPr/>
          <p:nvPr/>
        </p:nvSpPr>
        <p:spPr>
          <a:xfrm>
            <a:off x="9829800" y="1463040"/>
            <a:ext cx="1700784" cy="841248"/>
          </a:xfrm>
          <a:prstGeom prst="roundRect">
            <a:avLst>
              <a:gd name="adj" fmla="val 8696"/>
            </a:avLst>
          </a:prstGeom>
          <a:solidFill>
            <a:srgbClr val="F4F5F6"/>
          </a:solidFill>
          <a:ln/>
        </p:spPr>
      </p:sp>
      <p:sp>
        <p:nvSpPr>
          <p:cNvPr id="25" name="Text 23"/>
          <p:cNvSpPr/>
          <p:nvPr/>
        </p:nvSpPr>
        <p:spPr>
          <a:xfrm>
            <a:off x="9921240" y="1572768"/>
            <a:ext cx="1517904" cy="274320"/>
          </a:xfrm>
          <a:prstGeom prst="rect">
            <a:avLst/>
          </a:prstGeom>
          <a:noFill/>
          <a:ln/>
        </p:spPr>
        <p:txBody>
          <a:bodyPr wrap="square" lIns="0" tIns="0" rIns="0" bIns="0" rtlCol="0" anchor="ctr"/>
          <a:lstStyle/>
          <a:p>
            <a:pPr algn="ctr" indent="0" marL="0">
              <a:buNone/>
            </a:pPr>
            <a:r>
              <a:rPr lang="en-US" sz="1200" b="1" dirty="0">
                <a:solidFill>
                  <a:srgbClr val="1A1A1A"/>
                </a:solidFill>
                <a:latin typeface="Apple SD Gothic Neo" pitchFamily="34" charset="0"/>
                <a:ea typeface="Apple SD Gothic Neo" pitchFamily="34" charset="-122"/>
                <a:cs typeface="Apple SD Gothic Neo" pitchFamily="34" charset="-120"/>
              </a:rPr>
              <a:t>실행 · 답변</a:t>
            </a:r>
            <a:endParaRPr lang="en-US" sz="1200" dirty="0"/>
          </a:p>
        </p:txBody>
      </p:sp>
      <p:sp>
        <p:nvSpPr>
          <p:cNvPr id="26" name="Text 24"/>
          <p:cNvSpPr/>
          <p:nvPr/>
        </p:nvSpPr>
        <p:spPr>
          <a:xfrm>
            <a:off x="9884664" y="1847088"/>
            <a:ext cx="1591056" cy="365760"/>
          </a:xfrm>
          <a:prstGeom prst="rect">
            <a:avLst/>
          </a:prstGeom>
          <a:noFill/>
          <a:ln/>
        </p:spPr>
        <p:txBody>
          <a:bodyPr wrap="square" lIns="0" tIns="0" rIns="0" bIns="0" rtlCol="0" anchor="ctr"/>
          <a:lstStyle/>
          <a:p>
            <a:pPr algn="ctr" indent="0" marL="0">
              <a:buNone/>
            </a:pPr>
            <a:r>
              <a:rPr lang="en-US" sz="760" dirty="0">
                <a:solidFill>
                  <a:srgbClr val="6B7075"/>
                </a:solidFill>
                <a:latin typeface="Courier New" pitchFamily="34" charset="0"/>
                <a:ea typeface="Courier New" pitchFamily="34" charset="-122"/>
                <a:cs typeface="Courier New" pitchFamily="34" charset="-120"/>
              </a:rPr>
              <a:t>run_query → answer</a:t>
            </a:r>
            <a:endParaRPr lang="en-US" sz="760" dirty="0"/>
          </a:p>
        </p:txBody>
      </p:sp>
      <p:sp>
        <p:nvSpPr>
          <p:cNvPr id="27" name="Text 25"/>
          <p:cNvSpPr/>
          <p:nvPr/>
        </p:nvSpPr>
        <p:spPr>
          <a:xfrm>
            <a:off x="548640" y="2505456"/>
            <a:ext cx="7315200" cy="274320"/>
          </a:xfrm>
          <a:prstGeom prst="rect">
            <a:avLst/>
          </a:prstGeom>
          <a:noFill/>
          <a:ln/>
        </p:spPr>
        <p:txBody>
          <a:bodyPr wrap="square" lIns="0" tIns="0" rIns="0" bIns="0" rtlCol="0" anchor="ctr"/>
          <a:lstStyle/>
          <a:p>
            <a:pPr indent="0" marL="0">
              <a:buNone/>
            </a:pPr>
            <a:r>
              <a:rPr lang="en-US" sz="1400" b="1" dirty="0">
                <a:solidFill>
                  <a:srgbClr val="1A1A1A"/>
                </a:solidFill>
                <a:latin typeface="Apple SD Gothic Neo" pitchFamily="34" charset="0"/>
                <a:ea typeface="Apple SD Gothic Neo" pitchFamily="34" charset="-122"/>
                <a:cs typeface="Apple SD Gothic Neo" pitchFamily="34" charset="-120"/>
              </a:rPr>
              <a:t>실행 경로 선택 우선순위 · 위에서부터 맞는 것을 고른다</a:t>
            </a:r>
            <a:endParaRPr lang="en-US" sz="1400" dirty="0"/>
          </a:p>
        </p:txBody>
      </p:sp>
      <p:sp>
        <p:nvSpPr>
          <p:cNvPr id="28" name="Shape 26"/>
          <p:cNvSpPr/>
          <p:nvPr/>
        </p:nvSpPr>
        <p:spPr>
          <a:xfrm>
            <a:off x="548640" y="2871216"/>
            <a:ext cx="5440680" cy="1316736"/>
          </a:xfrm>
          <a:prstGeom prst="roundRect">
            <a:avLst>
              <a:gd name="adj" fmla="val 5556"/>
            </a:avLst>
          </a:prstGeom>
          <a:solidFill>
            <a:srgbClr val="FFFFFF"/>
          </a:solidFill>
          <a:ln w="12700">
            <a:solidFill>
              <a:srgbClr val="E3E5E8"/>
            </a:solidFill>
            <a:prstDash val="solid"/>
          </a:ln>
          <a:effectLst>
            <a:outerShdw sx="100000" sy="100000" kx="0" ky="0" algn="bl" rotWithShape="0" blurRad="127000" dist="25400" dir="5400000">
              <a:srgbClr val="000000">
                <a:alpha val="8000"/>
              </a:srgbClr>
            </a:outerShdw>
          </a:effectLst>
        </p:spPr>
      </p:sp>
      <p:sp>
        <p:nvSpPr>
          <p:cNvPr id="29" name="Shape 27"/>
          <p:cNvSpPr/>
          <p:nvPr/>
        </p:nvSpPr>
        <p:spPr>
          <a:xfrm>
            <a:off x="786384" y="3072384"/>
            <a:ext cx="274320" cy="274320"/>
          </a:xfrm>
          <a:prstGeom prst="ellipse">
            <a:avLst/>
          </a:prstGeom>
          <a:solidFill>
            <a:srgbClr val="FCAF17"/>
          </a:solidFill>
          <a:ln/>
        </p:spPr>
      </p:sp>
      <p:sp>
        <p:nvSpPr>
          <p:cNvPr id="30" name="Text 28"/>
          <p:cNvSpPr/>
          <p:nvPr/>
        </p:nvSpPr>
        <p:spPr>
          <a:xfrm>
            <a:off x="786384" y="3072384"/>
            <a:ext cx="27432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Apple SD Gothic Neo" pitchFamily="34" charset="0"/>
                <a:ea typeface="Apple SD Gothic Neo" pitchFamily="34" charset="-122"/>
                <a:cs typeface="Apple SD Gothic Neo" pitchFamily="34" charset="-120"/>
              </a:rPr>
              <a:t>1</a:t>
            </a:r>
            <a:endParaRPr lang="en-US" sz="1100" dirty="0"/>
          </a:p>
        </p:txBody>
      </p:sp>
      <p:sp>
        <p:nvSpPr>
          <p:cNvPr id="31" name="Text 29"/>
          <p:cNvSpPr/>
          <p:nvPr/>
        </p:nvSpPr>
        <p:spPr>
          <a:xfrm>
            <a:off x="1152144" y="3054096"/>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Apple SD Gothic Neo" pitchFamily="34" charset="0"/>
                <a:ea typeface="Apple SD Gothic Neo" pitchFamily="34" charset="-122"/>
                <a:cs typeface="Apple SD Gothic Neo" pitchFamily="34" charset="-120"/>
              </a:rPr>
              <a:t>완결형 · 결정론적 Tool</a:t>
            </a:r>
            <a:endParaRPr lang="en-US" sz="1400" dirty="0"/>
          </a:p>
        </p:txBody>
      </p:sp>
      <p:sp>
        <p:nvSpPr>
          <p:cNvPr id="32" name="Text 30"/>
          <p:cNvSpPr/>
          <p:nvPr/>
        </p:nvSpPr>
        <p:spPr>
          <a:xfrm>
            <a:off x="1152144" y="3346704"/>
            <a:ext cx="4572000" cy="457200"/>
          </a:xfrm>
          <a:prstGeom prst="rect">
            <a:avLst/>
          </a:prstGeom>
          <a:noFill/>
          <a:ln/>
        </p:spPr>
        <p:txBody>
          <a:bodyPr wrap="square" lIns="0" tIns="0" rIns="0" bIns="0" rtlCol="0" anchor="ctr"/>
          <a:lstStyle/>
          <a:p>
            <a:pPr indent="0" marL="0">
              <a:lnSpc>
                <a:spcPts val="1400"/>
              </a:lnSpc>
              <a:buNone/>
            </a:pPr>
            <a:r>
              <a:rPr lang="en-US" sz="1050" dirty="0">
                <a:solidFill>
                  <a:srgbClr val="6B7075"/>
                </a:solidFill>
                <a:latin typeface="Apple SD Gothic Neo" pitchFamily="34" charset="0"/>
                <a:ea typeface="Apple SD Gothic Neo" pitchFamily="34" charset="-122"/>
                <a:cs typeface="Apple SD Gothic Neo" pitchFamily="34" charset="-120"/>
              </a:rPr>
              <a:t>여러 SQL과 파이썬 계산이 함께 필요한 고정 업무. 대손비용률 분석은 엑셀까지 만든다.</a:t>
            </a:r>
            <a:endParaRPr lang="en-US" sz="1050" dirty="0"/>
          </a:p>
        </p:txBody>
      </p:sp>
      <p:sp>
        <p:nvSpPr>
          <p:cNvPr id="33" name="Text 31"/>
          <p:cNvSpPr/>
          <p:nvPr/>
        </p:nvSpPr>
        <p:spPr>
          <a:xfrm>
            <a:off x="1152144" y="3803904"/>
            <a:ext cx="4572000" cy="256032"/>
          </a:xfrm>
          <a:prstGeom prst="rect">
            <a:avLst/>
          </a:prstGeom>
          <a:noFill/>
          <a:ln/>
        </p:spPr>
        <p:txBody>
          <a:bodyPr wrap="square" lIns="0" tIns="0" rIns="0" bIns="0" rtlCol="0" anchor="ctr"/>
          <a:lstStyle/>
          <a:p>
            <a:pPr indent="0" marL="0">
              <a:buNone/>
            </a:pPr>
            <a:r>
              <a:rPr lang="en-US" sz="1000" b="1" dirty="0">
                <a:solidFill>
                  <a:srgbClr val="8A5E00"/>
                </a:solidFill>
                <a:latin typeface="Apple SD Gothic Neo" pitchFamily="34" charset="0"/>
                <a:ea typeface="Apple SD Gothic Neo" pitchFamily="34" charset="-122"/>
                <a:cs typeface="Apple SD Gothic Neo" pitchFamily="34" charset="-120"/>
              </a:rPr>
              <a:t>실패 처리  </a:t>
            </a:r>
            <a:pPr indent="0" marL="0">
              <a:buNone/>
            </a:pPr>
            <a:r>
              <a:rPr lang="en-US" sz="1000" dirty="0">
                <a:solidFill>
                  <a:srgbClr val="8A5E00"/>
                </a:solidFill>
                <a:latin typeface="Apple SD Gothic Neo" pitchFamily="34" charset="0"/>
                <a:ea typeface="Apple SD Gothic Neo" pitchFamily="34" charset="-122"/>
                <a:cs typeface="Apple SD Gothic Neo" pitchFamily="34" charset="-120"/>
              </a:rPr>
              <a:t>조회 오류가 나면 자동 SQL 생성 경로로 전환</a:t>
            </a:r>
            <a:endParaRPr lang="en-US" sz="1000" dirty="0"/>
          </a:p>
        </p:txBody>
      </p:sp>
      <p:sp>
        <p:nvSpPr>
          <p:cNvPr id="34" name="Shape 32"/>
          <p:cNvSpPr/>
          <p:nvPr/>
        </p:nvSpPr>
        <p:spPr>
          <a:xfrm>
            <a:off x="6172200" y="2871216"/>
            <a:ext cx="5440680" cy="1316736"/>
          </a:xfrm>
          <a:prstGeom prst="roundRect">
            <a:avLst>
              <a:gd name="adj" fmla="val 5556"/>
            </a:avLst>
          </a:prstGeom>
          <a:solidFill>
            <a:srgbClr val="FFFFFF"/>
          </a:solidFill>
          <a:ln w="12700">
            <a:solidFill>
              <a:srgbClr val="E3E5E8"/>
            </a:solidFill>
            <a:prstDash val="solid"/>
          </a:ln>
          <a:effectLst>
            <a:outerShdw sx="100000" sy="100000" kx="0" ky="0" algn="bl" rotWithShape="0" blurRad="127000" dist="25400" dir="5400000">
              <a:srgbClr val="000000">
                <a:alpha val="8000"/>
              </a:srgbClr>
            </a:outerShdw>
          </a:effectLst>
        </p:spPr>
      </p:sp>
      <p:sp>
        <p:nvSpPr>
          <p:cNvPr id="35" name="Shape 33"/>
          <p:cNvSpPr/>
          <p:nvPr/>
        </p:nvSpPr>
        <p:spPr>
          <a:xfrm>
            <a:off x="6409944" y="3072384"/>
            <a:ext cx="274320" cy="274320"/>
          </a:xfrm>
          <a:prstGeom prst="ellipse">
            <a:avLst/>
          </a:prstGeom>
          <a:solidFill>
            <a:srgbClr val="FCAF17"/>
          </a:solidFill>
          <a:ln/>
        </p:spPr>
      </p:sp>
      <p:sp>
        <p:nvSpPr>
          <p:cNvPr id="36" name="Text 34"/>
          <p:cNvSpPr/>
          <p:nvPr/>
        </p:nvSpPr>
        <p:spPr>
          <a:xfrm>
            <a:off x="6409944" y="3072384"/>
            <a:ext cx="27432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Apple SD Gothic Neo" pitchFamily="34" charset="0"/>
                <a:ea typeface="Apple SD Gothic Neo" pitchFamily="34" charset="-122"/>
                <a:cs typeface="Apple SD Gothic Neo" pitchFamily="34" charset="-120"/>
              </a:rPr>
              <a:t>2</a:t>
            </a:r>
            <a:endParaRPr lang="en-US" sz="1100" dirty="0"/>
          </a:p>
        </p:txBody>
      </p:sp>
      <p:sp>
        <p:nvSpPr>
          <p:cNvPr id="37" name="Text 35"/>
          <p:cNvSpPr/>
          <p:nvPr/>
        </p:nvSpPr>
        <p:spPr>
          <a:xfrm>
            <a:off x="6775704" y="3054096"/>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Apple SD Gothic Neo" pitchFamily="34" charset="0"/>
                <a:ea typeface="Apple SD Gothic Neo" pitchFamily="34" charset="-122"/>
                <a:cs typeface="Apple SD Gothic Neo" pitchFamily="34" charset="-120"/>
              </a:rPr>
              <a:t>검증된 쿼리 66건</a:t>
            </a:r>
            <a:endParaRPr lang="en-US" sz="1400" dirty="0"/>
          </a:p>
        </p:txBody>
      </p:sp>
      <p:sp>
        <p:nvSpPr>
          <p:cNvPr id="38" name="Text 36"/>
          <p:cNvSpPr/>
          <p:nvPr/>
        </p:nvSpPr>
        <p:spPr>
          <a:xfrm>
            <a:off x="6775704" y="3346704"/>
            <a:ext cx="4572000" cy="457200"/>
          </a:xfrm>
          <a:prstGeom prst="rect">
            <a:avLst/>
          </a:prstGeom>
          <a:noFill/>
          <a:ln/>
        </p:spPr>
        <p:txBody>
          <a:bodyPr wrap="square" lIns="0" tIns="0" rIns="0" bIns="0" rtlCol="0" anchor="ctr"/>
          <a:lstStyle/>
          <a:p>
            <a:pPr indent="0" marL="0">
              <a:lnSpc>
                <a:spcPts val="1400"/>
              </a:lnSpc>
              <a:buNone/>
            </a:pPr>
            <a:r>
              <a:rPr lang="en-US" sz="1050" dirty="0">
                <a:solidFill>
                  <a:srgbClr val="6B7075"/>
                </a:solidFill>
                <a:latin typeface="Apple SD Gothic Neo" pitchFamily="34" charset="0"/>
                <a:ea typeface="Apple SD Gothic Neo" pitchFamily="34" charset="-122"/>
                <a:cs typeface="Apple SD Gothic Neo" pitchFamily="34" charset="-120"/>
              </a:rPr>
              <a:t>현업 필터·계산식이 중요한 표준 질문. 계약 연결 → 임베딩 → 규칙 순으로 매칭.</a:t>
            </a:r>
            <a:endParaRPr lang="en-US" sz="1050" dirty="0"/>
          </a:p>
        </p:txBody>
      </p:sp>
      <p:sp>
        <p:nvSpPr>
          <p:cNvPr id="39" name="Text 37"/>
          <p:cNvSpPr/>
          <p:nvPr/>
        </p:nvSpPr>
        <p:spPr>
          <a:xfrm>
            <a:off x="6775704" y="3803904"/>
            <a:ext cx="4572000" cy="256032"/>
          </a:xfrm>
          <a:prstGeom prst="rect">
            <a:avLst/>
          </a:prstGeom>
          <a:noFill/>
          <a:ln/>
        </p:spPr>
        <p:txBody>
          <a:bodyPr wrap="square" lIns="0" tIns="0" rIns="0" bIns="0" rtlCol="0" anchor="ctr"/>
          <a:lstStyle/>
          <a:p>
            <a:pPr indent="0" marL="0">
              <a:buNone/>
            </a:pPr>
            <a:r>
              <a:rPr lang="en-US" sz="1000" b="1" dirty="0">
                <a:solidFill>
                  <a:srgbClr val="8A5E00"/>
                </a:solidFill>
                <a:latin typeface="Apple SD Gothic Neo" pitchFamily="34" charset="0"/>
                <a:ea typeface="Apple SD Gothic Neo" pitchFamily="34" charset="-122"/>
                <a:cs typeface="Apple SD Gothic Neo" pitchFamily="34" charset="-120"/>
              </a:rPr>
              <a:t>실패 처리  </a:t>
            </a:r>
            <a:pPr indent="0" marL="0">
              <a:buNone/>
            </a:pPr>
            <a:r>
              <a:rPr lang="en-US" sz="1000" dirty="0">
                <a:solidFill>
                  <a:srgbClr val="8A5E00"/>
                </a:solidFill>
                <a:latin typeface="Apple SD Gothic Neo" pitchFamily="34" charset="0"/>
                <a:ea typeface="Apple SD Gothic Neo" pitchFamily="34" charset="-122"/>
                <a:cs typeface="Apple SD Gothic Neo" pitchFamily="34" charset="-120"/>
              </a:rPr>
              <a:t>실패해도 자동 생성 SQL로 대체하지 않음</a:t>
            </a:r>
            <a:endParaRPr lang="en-US" sz="1000" dirty="0"/>
          </a:p>
        </p:txBody>
      </p:sp>
      <p:sp>
        <p:nvSpPr>
          <p:cNvPr id="40" name="Shape 38"/>
          <p:cNvSpPr/>
          <p:nvPr/>
        </p:nvSpPr>
        <p:spPr>
          <a:xfrm>
            <a:off x="548640" y="4352544"/>
            <a:ext cx="5440680" cy="1316736"/>
          </a:xfrm>
          <a:prstGeom prst="roundRect">
            <a:avLst>
              <a:gd name="adj" fmla="val 5556"/>
            </a:avLst>
          </a:prstGeom>
          <a:solidFill>
            <a:srgbClr val="FFFFFF"/>
          </a:solidFill>
          <a:ln w="12700">
            <a:solidFill>
              <a:srgbClr val="E3E5E8"/>
            </a:solidFill>
            <a:prstDash val="solid"/>
          </a:ln>
          <a:effectLst>
            <a:outerShdw sx="100000" sy="100000" kx="0" ky="0" algn="bl" rotWithShape="0" blurRad="127000" dist="25400" dir="5400000">
              <a:srgbClr val="000000">
                <a:alpha val="8000"/>
              </a:srgbClr>
            </a:outerShdw>
          </a:effectLst>
        </p:spPr>
      </p:sp>
      <p:sp>
        <p:nvSpPr>
          <p:cNvPr id="41" name="Shape 39"/>
          <p:cNvSpPr/>
          <p:nvPr/>
        </p:nvSpPr>
        <p:spPr>
          <a:xfrm>
            <a:off x="786384" y="4553712"/>
            <a:ext cx="274320" cy="274320"/>
          </a:xfrm>
          <a:prstGeom prst="ellipse">
            <a:avLst/>
          </a:prstGeom>
          <a:solidFill>
            <a:srgbClr val="FCAF17"/>
          </a:solidFill>
          <a:ln/>
        </p:spPr>
      </p:sp>
      <p:sp>
        <p:nvSpPr>
          <p:cNvPr id="42" name="Text 40"/>
          <p:cNvSpPr/>
          <p:nvPr/>
        </p:nvSpPr>
        <p:spPr>
          <a:xfrm>
            <a:off x="786384" y="4553712"/>
            <a:ext cx="27432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Apple SD Gothic Neo" pitchFamily="34" charset="0"/>
                <a:ea typeface="Apple SD Gothic Neo" pitchFamily="34" charset="-122"/>
                <a:cs typeface="Apple SD Gothic Neo" pitchFamily="34" charset="-120"/>
              </a:rPr>
              <a:t>3</a:t>
            </a:r>
            <a:endParaRPr lang="en-US" sz="1100" dirty="0"/>
          </a:p>
        </p:txBody>
      </p:sp>
      <p:sp>
        <p:nvSpPr>
          <p:cNvPr id="43" name="Text 41"/>
          <p:cNvSpPr/>
          <p:nvPr/>
        </p:nvSpPr>
        <p:spPr>
          <a:xfrm>
            <a:off x="1152144" y="4535424"/>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Apple SD Gothic Neo" pitchFamily="34" charset="0"/>
                <a:ea typeface="Apple SD Gothic Neo" pitchFamily="34" charset="-122"/>
                <a:cs typeface="Apple SD Gothic Neo" pitchFamily="34" charset="-120"/>
              </a:rPr>
              <a:t>자동 SQL 생성</a:t>
            </a:r>
            <a:endParaRPr lang="en-US" sz="1400" dirty="0"/>
          </a:p>
        </p:txBody>
      </p:sp>
      <p:sp>
        <p:nvSpPr>
          <p:cNvPr id="44" name="Text 42"/>
          <p:cNvSpPr/>
          <p:nvPr/>
        </p:nvSpPr>
        <p:spPr>
          <a:xfrm>
            <a:off x="1152144" y="4828032"/>
            <a:ext cx="4572000" cy="457200"/>
          </a:xfrm>
          <a:prstGeom prst="rect">
            <a:avLst/>
          </a:prstGeom>
          <a:noFill/>
          <a:ln/>
        </p:spPr>
        <p:txBody>
          <a:bodyPr wrap="square" lIns="0" tIns="0" rIns="0" bIns="0" rtlCol="0" anchor="ctr"/>
          <a:lstStyle/>
          <a:p>
            <a:pPr indent="0" marL="0">
              <a:lnSpc>
                <a:spcPts val="1400"/>
              </a:lnSpc>
              <a:buNone/>
            </a:pPr>
            <a:r>
              <a:rPr lang="en-US" sz="1050" dirty="0">
                <a:solidFill>
                  <a:srgbClr val="6B7075"/>
                </a:solidFill>
                <a:latin typeface="Apple SD Gothic Neo" pitchFamily="34" charset="0"/>
                <a:ea typeface="Apple SD Gothic Neo" pitchFamily="34" charset="-122"/>
                <a:cs typeface="Apple SD Gothic Neo" pitchFamily="34" charset="-120"/>
              </a:rPr>
              <a:t>표현이 다양하거나 기존 경로에 없는 탐색형 질문. 관련 테이블·지표만 추려 전달.</a:t>
            </a:r>
            <a:endParaRPr lang="en-US" sz="1050" dirty="0"/>
          </a:p>
        </p:txBody>
      </p:sp>
      <p:sp>
        <p:nvSpPr>
          <p:cNvPr id="45" name="Text 43"/>
          <p:cNvSpPr/>
          <p:nvPr/>
        </p:nvSpPr>
        <p:spPr>
          <a:xfrm>
            <a:off x="1152144" y="5285232"/>
            <a:ext cx="4572000" cy="256032"/>
          </a:xfrm>
          <a:prstGeom prst="rect">
            <a:avLst/>
          </a:prstGeom>
          <a:noFill/>
          <a:ln/>
        </p:spPr>
        <p:txBody>
          <a:bodyPr wrap="square" lIns="0" tIns="0" rIns="0" bIns="0" rtlCol="0" anchor="ctr"/>
          <a:lstStyle/>
          <a:p>
            <a:pPr indent="0" marL="0">
              <a:buNone/>
            </a:pPr>
            <a:r>
              <a:rPr lang="en-US" sz="1000" b="1" dirty="0">
                <a:solidFill>
                  <a:srgbClr val="8A5E00"/>
                </a:solidFill>
                <a:latin typeface="Apple SD Gothic Neo" pitchFamily="34" charset="0"/>
                <a:ea typeface="Apple SD Gothic Neo" pitchFamily="34" charset="-122"/>
                <a:cs typeface="Apple SD Gothic Neo" pitchFamily="34" charset="-120"/>
              </a:rPr>
              <a:t>실패 처리  </a:t>
            </a:r>
            <a:pPr indent="0" marL="0">
              <a:buNone/>
            </a:pPr>
            <a:r>
              <a:rPr lang="en-US" sz="1000" dirty="0">
                <a:solidFill>
                  <a:srgbClr val="8A5E00"/>
                </a:solidFill>
                <a:latin typeface="Apple SD Gothic Neo" pitchFamily="34" charset="0"/>
                <a:ea typeface="Apple SD Gothic Neo" pitchFamily="34" charset="-122"/>
                <a:cs typeface="Apple SD Gothic Neo" pitchFamily="34" charset="-120"/>
              </a:rPr>
              <a:t>검증·실행 오류를 반영해 최대 3회까지 재생성</a:t>
            </a:r>
            <a:endParaRPr lang="en-US" sz="1000" dirty="0"/>
          </a:p>
        </p:txBody>
      </p:sp>
      <p:sp>
        <p:nvSpPr>
          <p:cNvPr id="46" name="Shape 44"/>
          <p:cNvSpPr/>
          <p:nvPr/>
        </p:nvSpPr>
        <p:spPr>
          <a:xfrm>
            <a:off x="6172200" y="4352544"/>
            <a:ext cx="5440680" cy="1316736"/>
          </a:xfrm>
          <a:prstGeom prst="roundRect">
            <a:avLst>
              <a:gd name="adj" fmla="val 5556"/>
            </a:avLst>
          </a:prstGeom>
          <a:solidFill>
            <a:srgbClr val="FFFFFF"/>
          </a:solidFill>
          <a:ln w="12700">
            <a:solidFill>
              <a:srgbClr val="E3E5E8"/>
            </a:solidFill>
            <a:prstDash val="solid"/>
          </a:ln>
          <a:effectLst>
            <a:outerShdw sx="100000" sy="100000" kx="0" ky="0" algn="bl" rotWithShape="0" blurRad="127000" dist="25400" dir="5400000">
              <a:srgbClr val="000000">
                <a:alpha val="8000"/>
              </a:srgbClr>
            </a:outerShdw>
          </a:effectLst>
        </p:spPr>
      </p:sp>
      <p:sp>
        <p:nvSpPr>
          <p:cNvPr id="47" name="Shape 45"/>
          <p:cNvSpPr/>
          <p:nvPr/>
        </p:nvSpPr>
        <p:spPr>
          <a:xfrm>
            <a:off x="6409944" y="4553712"/>
            <a:ext cx="274320" cy="274320"/>
          </a:xfrm>
          <a:prstGeom prst="ellipse">
            <a:avLst/>
          </a:prstGeom>
          <a:solidFill>
            <a:srgbClr val="FCAF17"/>
          </a:solidFill>
          <a:ln/>
        </p:spPr>
      </p:sp>
      <p:sp>
        <p:nvSpPr>
          <p:cNvPr id="48" name="Text 46"/>
          <p:cNvSpPr/>
          <p:nvPr/>
        </p:nvSpPr>
        <p:spPr>
          <a:xfrm>
            <a:off x="6409944" y="4553712"/>
            <a:ext cx="27432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Apple SD Gothic Neo" pitchFamily="34" charset="0"/>
                <a:ea typeface="Apple SD Gothic Neo" pitchFamily="34" charset="-122"/>
                <a:cs typeface="Apple SD Gothic Neo" pitchFamily="34" charset="-120"/>
              </a:rPr>
              <a:t>4</a:t>
            </a:r>
            <a:endParaRPr lang="en-US" sz="1100" dirty="0"/>
          </a:p>
        </p:txBody>
      </p:sp>
      <p:sp>
        <p:nvSpPr>
          <p:cNvPr id="49" name="Text 47"/>
          <p:cNvSpPr/>
          <p:nvPr/>
        </p:nvSpPr>
        <p:spPr>
          <a:xfrm>
            <a:off x="6775704" y="4535424"/>
            <a:ext cx="4572000" cy="274320"/>
          </a:xfrm>
          <a:prstGeom prst="rect">
            <a:avLst/>
          </a:prstGeom>
          <a:noFill/>
          <a:ln/>
        </p:spPr>
        <p:txBody>
          <a:bodyPr wrap="square" lIns="0" tIns="0" rIns="0" bIns="0" rtlCol="0" anchor="ctr"/>
          <a:lstStyle/>
          <a:p>
            <a:pPr indent="0" marL="0">
              <a:buNone/>
            </a:pPr>
            <a:r>
              <a:rPr lang="en-US" sz="1400" b="1" dirty="0">
                <a:solidFill>
                  <a:srgbClr val="1A1A1A"/>
                </a:solidFill>
                <a:latin typeface="Apple SD Gothic Neo" pitchFamily="34" charset="0"/>
                <a:ea typeface="Apple SD Gothic Neo" pitchFamily="34" charset="-122"/>
                <a:cs typeface="Apple SD Gothic Neo" pitchFamily="34" charset="-120"/>
              </a:rPr>
              <a:t>사용자 직접 SQL</a:t>
            </a:r>
            <a:endParaRPr lang="en-US" sz="1400" dirty="0"/>
          </a:p>
        </p:txBody>
      </p:sp>
      <p:sp>
        <p:nvSpPr>
          <p:cNvPr id="50" name="Text 48"/>
          <p:cNvSpPr/>
          <p:nvPr/>
        </p:nvSpPr>
        <p:spPr>
          <a:xfrm>
            <a:off x="6775704" y="4828032"/>
            <a:ext cx="4572000" cy="457200"/>
          </a:xfrm>
          <a:prstGeom prst="rect">
            <a:avLst/>
          </a:prstGeom>
          <a:noFill/>
          <a:ln/>
        </p:spPr>
        <p:txBody>
          <a:bodyPr wrap="square" lIns="0" tIns="0" rIns="0" bIns="0" rtlCol="0" anchor="ctr"/>
          <a:lstStyle/>
          <a:p>
            <a:pPr indent="0" marL="0">
              <a:lnSpc>
                <a:spcPts val="1400"/>
              </a:lnSpc>
              <a:buNone/>
            </a:pPr>
            <a:r>
              <a:rPr lang="en-US" sz="1050" dirty="0">
                <a:solidFill>
                  <a:srgbClr val="6B7075"/>
                </a:solidFill>
                <a:latin typeface="Apple SD Gothic Neo" pitchFamily="34" charset="0"/>
                <a:ea typeface="Apple SD Gothic Neo" pitchFamily="34" charset="-122"/>
                <a:cs typeface="Apple SD Gothic Neo" pitchFamily="34" charset="-120"/>
              </a:rPr>
              <a:t>SELECT·WITH를 직접 넣은 경우. 의미 재작성 없이 정적 검증만 거쳐 실행.</a:t>
            </a:r>
            <a:endParaRPr lang="en-US" sz="1050" dirty="0"/>
          </a:p>
        </p:txBody>
      </p:sp>
      <p:sp>
        <p:nvSpPr>
          <p:cNvPr id="51" name="Text 49"/>
          <p:cNvSpPr/>
          <p:nvPr/>
        </p:nvSpPr>
        <p:spPr>
          <a:xfrm>
            <a:off x="6775704" y="5285232"/>
            <a:ext cx="4572000" cy="256032"/>
          </a:xfrm>
          <a:prstGeom prst="rect">
            <a:avLst/>
          </a:prstGeom>
          <a:noFill/>
          <a:ln/>
        </p:spPr>
        <p:txBody>
          <a:bodyPr wrap="square" lIns="0" tIns="0" rIns="0" bIns="0" rtlCol="0" anchor="ctr"/>
          <a:lstStyle/>
          <a:p>
            <a:pPr indent="0" marL="0">
              <a:buNone/>
            </a:pPr>
            <a:r>
              <a:rPr lang="en-US" sz="1000" b="1" dirty="0">
                <a:solidFill>
                  <a:srgbClr val="8A5E00"/>
                </a:solidFill>
                <a:latin typeface="Apple SD Gothic Neo" pitchFamily="34" charset="0"/>
                <a:ea typeface="Apple SD Gothic Neo" pitchFamily="34" charset="-122"/>
                <a:cs typeface="Apple SD Gothic Neo" pitchFamily="34" charset="-120"/>
              </a:rPr>
              <a:t>실패 처리  </a:t>
            </a:r>
            <a:pPr indent="0" marL="0">
              <a:buNone/>
            </a:pPr>
            <a:r>
              <a:rPr lang="en-US" sz="1000" dirty="0">
                <a:solidFill>
                  <a:srgbClr val="8A5E00"/>
                </a:solidFill>
                <a:latin typeface="Apple SD Gothic Neo" pitchFamily="34" charset="0"/>
                <a:ea typeface="Apple SD Gothic Neo" pitchFamily="34" charset="-122"/>
                <a:cs typeface="Apple SD Gothic Neo" pitchFamily="34" charset="-120"/>
              </a:rPr>
              <a:t>자동 수정 없이 오류를 그대로 알림</a:t>
            </a:r>
            <a:endParaRPr lang="en-US" sz="1000" dirty="0"/>
          </a:p>
        </p:txBody>
      </p:sp>
      <p:sp>
        <p:nvSpPr>
          <p:cNvPr id="52" name="Text 50"/>
          <p:cNvSpPr/>
          <p:nvPr/>
        </p:nvSpPr>
        <p:spPr>
          <a:xfrm>
            <a:off x="548640" y="5943600"/>
            <a:ext cx="11064240" cy="310896"/>
          </a:xfrm>
          <a:prstGeom prst="rect">
            <a:avLst/>
          </a:prstGeom>
          <a:noFill/>
          <a:ln/>
        </p:spPr>
        <p:txBody>
          <a:bodyPr wrap="square" lIns="0" tIns="0" rIns="0" bIns="0" rtlCol="0" anchor="ctr"/>
          <a:lstStyle/>
          <a:p>
            <a:pPr indent="0" marL="0">
              <a:buNone/>
            </a:pPr>
            <a:r>
              <a:rPr lang="en-US" sz="1100" dirty="0">
                <a:solidFill>
                  <a:srgbClr val="6B7075"/>
                </a:solidFill>
                <a:latin typeface="Apple SD Gothic Neo" pitchFamily="34" charset="0"/>
                <a:ea typeface="Apple SD Gothic Neo" pitchFamily="34" charset="-122"/>
                <a:cs typeface="Apple SD Gothic Neo" pitchFamily="34" charset="-120"/>
              </a:rPr>
              <a:t>검증된 쿼리가 실패했을 때 생성 SQL로 바꾸지 않는 이유는, 검증해 둔 업무 필터와 계산 규칙이 조용히 사라지는 것을 막기 위해서입니다.</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48640" y="420624"/>
            <a:ext cx="10058400" cy="256032"/>
          </a:xfrm>
          <a:prstGeom prst="rect">
            <a:avLst/>
          </a:prstGeom>
          <a:noFill/>
          <a:ln/>
        </p:spPr>
        <p:txBody>
          <a:bodyPr wrap="square" lIns="0" tIns="0" rIns="0" bIns="0" rtlCol="0" anchor="ctr"/>
          <a:lstStyle/>
          <a:p>
            <a:pPr indent="0" marL="0">
              <a:buNone/>
            </a:pPr>
            <a:r>
              <a:rPr lang="en-US" sz="1150" b="1" spc="160" kern="0" dirty="0">
                <a:solidFill>
                  <a:srgbClr val="FCAF17"/>
                </a:solidFill>
                <a:latin typeface="Apple SD Gothic Neo" pitchFamily="34" charset="0"/>
                <a:ea typeface="Apple SD Gothic Neo" pitchFamily="34" charset="-122"/>
                <a:cs typeface="Apple SD Gothic Neo" pitchFamily="34" charset="-120"/>
              </a:rPr>
              <a:t>SAFETY · QUALITY · OPS</a:t>
            </a:r>
            <a:endParaRPr lang="en-US" sz="1150" dirty="0"/>
          </a:p>
        </p:txBody>
      </p:sp>
      <p:sp>
        <p:nvSpPr>
          <p:cNvPr id="3" name="Text 1"/>
          <p:cNvSpPr/>
          <p:nvPr/>
        </p:nvSpPr>
        <p:spPr>
          <a:xfrm>
            <a:off x="548640" y="694944"/>
            <a:ext cx="10607040" cy="566928"/>
          </a:xfrm>
          <a:prstGeom prst="rect">
            <a:avLst/>
          </a:prstGeom>
          <a:noFill/>
          <a:ln/>
        </p:spPr>
        <p:txBody>
          <a:bodyPr wrap="square" lIns="0" tIns="0" rIns="0" bIns="0" rtlCol="0" anchor="ctr"/>
          <a:lstStyle/>
          <a:p>
            <a:pPr indent="0" marL="0">
              <a:buNone/>
            </a:pPr>
            <a:r>
              <a:rPr lang="en-US" sz="3200" b="1" dirty="0">
                <a:solidFill>
                  <a:srgbClr val="FFFFFF"/>
                </a:solidFill>
                <a:latin typeface="Apple SD Gothic Neo" pitchFamily="34" charset="0"/>
                <a:ea typeface="Apple SD Gothic Neo" pitchFamily="34" charset="-122"/>
                <a:cs typeface="Apple SD Gothic Neo" pitchFamily="34" charset="-120"/>
              </a:rPr>
              <a:t>안전장치 · 품질 · 운영</a:t>
            </a:r>
            <a:endParaRPr lang="en-US" sz="3200" dirty="0"/>
          </a:p>
        </p:txBody>
      </p:sp>
      <p:sp>
        <p:nvSpPr>
          <p:cNvPr id="4" name="Shape 2"/>
          <p:cNvSpPr/>
          <p:nvPr/>
        </p:nvSpPr>
        <p:spPr>
          <a:xfrm>
            <a:off x="548640" y="1517904"/>
            <a:ext cx="3611880" cy="3035808"/>
          </a:xfrm>
          <a:prstGeom prst="roundRect">
            <a:avLst>
              <a:gd name="adj" fmla="val 2410"/>
            </a:avLst>
          </a:prstGeom>
          <a:solidFill>
            <a:srgbClr val="272727"/>
          </a:solidFill>
          <a:ln/>
        </p:spPr>
      </p:sp>
      <p:sp>
        <p:nvSpPr>
          <p:cNvPr id="5" name="Text 3"/>
          <p:cNvSpPr/>
          <p:nvPr/>
        </p:nvSpPr>
        <p:spPr>
          <a:xfrm>
            <a:off x="822960" y="1737360"/>
            <a:ext cx="3108960" cy="292608"/>
          </a:xfrm>
          <a:prstGeom prst="rect">
            <a:avLst/>
          </a:prstGeom>
          <a:noFill/>
          <a:ln/>
        </p:spPr>
        <p:txBody>
          <a:bodyPr wrap="square" lIns="0" tIns="0" rIns="0" bIns="0" rtlCol="0" anchor="ctr"/>
          <a:lstStyle/>
          <a:p>
            <a:pP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조회 안전장치</a:t>
            </a:r>
            <a:endParaRPr lang="en-US" sz="1600" dirty="0"/>
          </a:p>
        </p:txBody>
      </p:sp>
      <p:sp>
        <p:nvSpPr>
          <p:cNvPr id="6" name="Text 4"/>
          <p:cNvSpPr/>
          <p:nvPr/>
        </p:nvSpPr>
        <p:spPr>
          <a:xfrm>
            <a:off x="822960" y="2121408"/>
            <a:ext cx="3154680" cy="2286000"/>
          </a:xfrm>
          <a:prstGeom prst="rect">
            <a:avLst/>
          </a:prstGeom>
          <a:noFill/>
          <a:ln/>
        </p:spPr>
        <p:txBody>
          <a:bodyPr wrap="square" lIns="0" tIns="0" rIns="0" bIns="0" rtlCol="0" anchor="t"/>
          <a:lstStyle/>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단일 읽기 전용 SELECT·WITH만 통과. 변경·다중문장 SQL은 차단</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민감 테이블과 직접식별 컬럼은 프롬프트·검증 경로에서 제외</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사업자등록번호 등 업무 식별자는 답변 LLM에 넘기기 전 마스킹</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관리기업 목록은 임시 테이블 없이 요청 범위 VALUES CTE로만 사용</a:t>
            </a:r>
            <a:endParaRPr lang="en-US" sz="1050" dirty="0"/>
          </a:p>
        </p:txBody>
      </p:sp>
      <p:sp>
        <p:nvSpPr>
          <p:cNvPr id="7" name="Shape 5"/>
          <p:cNvSpPr/>
          <p:nvPr/>
        </p:nvSpPr>
        <p:spPr>
          <a:xfrm>
            <a:off x="4343400" y="1517904"/>
            <a:ext cx="3611880" cy="3035808"/>
          </a:xfrm>
          <a:prstGeom prst="roundRect">
            <a:avLst>
              <a:gd name="adj" fmla="val 2410"/>
            </a:avLst>
          </a:prstGeom>
          <a:solidFill>
            <a:srgbClr val="272727"/>
          </a:solidFill>
          <a:ln/>
        </p:spPr>
      </p:sp>
      <p:sp>
        <p:nvSpPr>
          <p:cNvPr id="8" name="Text 6"/>
          <p:cNvSpPr/>
          <p:nvPr/>
        </p:nvSpPr>
        <p:spPr>
          <a:xfrm>
            <a:off x="4617720" y="1737360"/>
            <a:ext cx="3108960" cy="292608"/>
          </a:xfrm>
          <a:prstGeom prst="rect">
            <a:avLst/>
          </a:prstGeom>
          <a:noFill/>
          <a:ln/>
        </p:spPr>
        <p:txBody>
          <a:bodyPr wrap="square" lIns="0" tIns="0" rIns="0" bIns="0" rtlCol="0" anchor="ctr"/>
          <a:lstStyle/>
          <a:p>
            <a:pP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운영 구성</a:t>
            </a:r>
            <a:endParaRPr lang="en-US" sz="1600" dirty="0"/>
          </a:p>
        </p:txBody>
      </p:sp>
      <p:sp>
        <p:nvSpPr>
          <p:cNvPr id="9" name="Text 7"/>
          <p:cNvSpPr/>
          <p:nvPr/>
        </p:nvSpPr>
        <p:spPr>
          <a:xfrm>
            <a:off x="4617720" y="2121408"/>
            <a:ext cx="3154680" cy="2286000"/>
          </a:xfrm>
          <a:prstGeom prst="rect">
            <a:avLst/>
          </a:prstGeom>
          <a:noFill/>
          <a:ln/>
        </p:spPr>
        <p:txBody>
          <a:bodyPr wrap="square" lIns="0" tIns="0" rIns="0" bIns="0" rtlCol="0" anchor="t"/>
          <a:lstStyle/>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조회 DB는 Athena·PostgreSQL 중 환경변수 한 줄로 전환</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세션·메시지·결과는 PostgreSQL에 보관, Redis는 선택적 캐시</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로그는 stdout JSONL로 CloudWatch 전달, SQL 원문은 남기지 않음</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폐쇄망 배포는 wheels 묶음으로 오프라인 설치</a:t>
            </a:r>
            <a:endParaRPr lang="en-US" sz="1050" dirty="0"/>
          </a:p>
          <a:p>
            <a:pPr marL="152400" indent="-152400">
              <a:lnSpc>
                <a:spcPts val="1500"/>
              </a:lnSpc>
              <a:spcAft>
                <a:spcPts val="900"/>
              </a:spcAft>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세션·결과·다운로드 파일은 보존 기간이 지나면 자동 정리</a:t>
            </a:r>
            <a:endParaRPr lang="en-US" sz="1050" dirty="0"/>
          </a:p>
        </p:txBody>
      </p:sp>
      <p:sp>
        <p:nvSpPr>
          <p:cNvPr id="10" name="Shape 8"/>
          <p:cNvSpPr/>
          <p:nvPr/>
        </p:nvSpPr>
        <p:spPr>
          <a:xfrm>
            <a:off x="8138160" y="1517904"/>
            <a:ext cx="3474720" cy="3035808"/>
          </a:xfrm>
          <a:prstGeom prst="roundRect">
            <a:avLst>
              <a:gd name="adj" fmla="val 2410"/>
            </a:avLst>
          </a:prstGeom>
          <a:solidFill>
            <a:srgbClr val="272727"/>
          </a:solidFill>
          <a:ln/>
        </p:spPr>
      </p:sp>
      <p:sp>
        <p:nvSpPr>
          <p:cNvPr id="11" name="Text 9"/>
          <p:cNvSpPr/>
          <p:nvPr/>
        </p:nvSpPr>
        <p:spPr>
          <a:xfrm>
            <a:off x="8412480" y="1737360"/>
            <a:ext cx="2926080" cy="292608"/>
          </a:xfrm>
          <a:prstGeom prst="rect">
            <a:avLst/>
          </a:prstGeom>
          <a:noFill/>
          <a:ln/>
        </p:spPr>
        <p:txBody>
          <a:bodyPr wrap="square" lIns="0" tIns="0" rIns="0" bIns="0" rtlCol="0" anchor="ctr"/>
          <a:lstStyle/>
          <a:p>
            <a:pPr indent="0" marL="0">
              <a:buNone/>
            </a:pPr>
            <a:r>
              <a:rPr lang="en-US" sz="1600" b="1" dirty="0">
                <a:solidFill>
                  <a:srgbClr val="FCAF17"/>
                </a:solidFill>
                <a:latin typeface="Apple SD Gothic Neo" pitchFamily="34" charset="0"/>
                <a:ea typeface="Apple SD Gothic Neo" pitchFamily="34" charset="-122"/>
                <a:cs typeface="Apple SD Gothic Neo" pitchFamily="34" charset="-120"/>
              </a:rPr>
              <a:t>배포 전 오프라인 검증</a:t>
            </a:r>
            <a:endParaRPr lang="en-US" sz="1600" dirty="0"/>
          </a:p>
        </p:txBody>
      </p:sp>
      <p:sp>
        <p:nvSpPr>
          <p:cNvPr id="12" name="Text 10"/>
          <p:cNvSpPr/>
          <p:nvPr/>
        </p:nvSpPr>
        <p:spPr>
          <a:xfrm>
            <a:off x="8412480" y="2212848"/>
            <a:ext cx="2926080" cy="36576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40 / 40</a:t>
            </a:r>
            <a:endParaRPr lang="en-US" sz="2200" dirty="0"/>
          </a:p>
        </p:txBody>
      </p:sp>
      <p:sp>
        <p:nvSpPr>
          <p:cNvPr id="13" name="Text 11"/>
          <p:cNvSpPr/>
          <p:nvPr/>
        </p:nvSpPr>
        <p:spPr>
          <a:xfrm>
            <a:off x="8412480" y="2560320"/>
            <a:ext cx="2926080" cy="36576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품질 계약 — 파싱·재시도·조인 정합성</a:t>
            </a:r>
            <a:endParaRPr lang="en-US" sz="950" dirty="0"/>
          </a:p>
        </p:txBody>
      </p:sp>
      <p:sp>
        <p:nvSpPr>
          <p:cNvPr id="14" name="Text 12"/>
          <p:cNvSpPr/>
          <p:nvPr/>
        </p:nvSpPr>
        <p:spPr>
          <a:xfrm>
            <a:off x="8412480" y="2990088"/>
            <a:ext cx="2926080" cy="36576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990 / 1,000</a:t>
            </a:r>
            <a:endParaRPr lang="en-US" sz="2200" dirty="0"/>
          </a:p>
        </p:txBody>
      </p:sp>
      <p:sp>
        <p:nvSpPr>
          <p:cNvPr id="15" name="Text 13"/>
          <p:cNvSpPr/>
          <p:nvPr/>
        </p:nvSpPr>
        <p:spPr>
          <a:xfrm>
            <a:off x="8412480" y="3337560"/>
            <a:ext cx="2926080" cy="36576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시맨틱 골든셋 계약 일치 (99.0%)</a:t>
            </a:r>
            <a:endParaRPr lang="en-US" sz="950" dirty="0"/>
          </a:p>
        </p:txBody>
      </p:sp>
      <p:sp>
        <p:nvSpPr>
          <p:cNvPr id="16" name="Text 14"/>
          <p:cNvSpPr/>
          <p:nvPr/>
        </p:nvSpPr>
        <p:spPr>
          <a:xfrm>
            <a:off x="8412480" y="3767328"/>
            <a:ext cx="2926080" cy="365760"/>
          </a:xfrm>
          <a:prstGeom prst="rect">
            <a:avLst/>
          </a:prstGeom>
          <a:noFill/>
          <a:ln/>
        </p:spPr>
        <p:txBody>
          <a:bodyPr wrap="square" lIns="0" tIns="0" rIns="0" bIns="0" rtlCol="0" anchor="ctr"/>
          <a:lstStyle/>
          <a:p>
            <a:pP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1,373</a:t>
            </a:r>
            <a:endParaRPr lang="en-US" sz="2200" dirty="0"/>
          </a:p>
        </p:txBody>
      </p:sp>
      <p:sp>
        <p:nvSpPr>
          <p:cNvPr id="17" name="Text 15"/>
          <p:cNvSpPr/>
          <p:nvPr/>
        </p:nvSpPr>
        <p:spPr>
          <a:xfrm>
            <a:off x="8412480" y="4114800"/>
            <a:ext cx="2926080" cy="365760"/>
          </a:xfrm>
          <a:prstGeom prst="rect">
            <a:avLst/>
          </a:prstGeom>
          <a:noFill/>
          <a:ln/>
        </p:spPr>
        <p:txBody>
          <a:bodyPr wrap="square" lIns="0" tIns="0" rIns="0" bIns="0" rtlCol="0" anchor="ctr"/>
          <a:lstStyle/>
          <a:p>
            <a:pPr indent="0" marL="0">
              <a:lnSpc>
                <a:spcPts val="1300"/>
              </a:lnSpc>
              <a:buNone/>
            </a:pPr>
            <a:r>
              <a:rPr lang="en-US" sz="950" dirty="0">
                <a:solidFill>
                  <a:srgbClr val="A9AEB4"/>
                </a:solidFill>
                <a:latin typeface="Apple SD Gothic Neo" pitchFamily="34" charset="0"/>
                <a:ea typeface="Apple SD Gothic Neo" pitchFamily="34" charset="-122"/>
                <a:cs typeface="Apple SD Gothic Neo" pitchFamily="34" charset="-120"/>
              </a:rPr>
              <a:t>모델·DB 없이 도는 회귀 테스트</a:t>
            </a:r>
            <a:endParaRPr lang="en-US" sz="950" dirty="0"/>
          </a:p>
        </p:txBody>
      </p:sp>
      <p:sp>
        <p:nvSpPr>
          <p:cNvPr id="18" name="Shape 16"/>
          <p:cNvSpPr/>
          <p:nvPr/>
        </p:nvSpPr>
        <p:spPr>
          <a:xfrm>
            <a:off x="548640" y="4754880"/>
            <a:ext cx="11064240" cy="1298448"/>
          </a:xfrm>
          <a:prstGeom prst="roundRect">
            <a:avLst>
              <a:gd name="adj" fmla="val 5634"/>
            </a:avLst>
          </a:prstGeom>
          <a:solidFill>
            <a:srgbClr val="272727"/>
          </a:solidFill>
          <a:ln w="12700">
            <a:solidFill>
              <a:srgbClr val="3A3A3A"/>
            </a:solidFill>
            <a:prstDash val="solid"/>
          </a:ln>
        </p:spPr>
      </p:sp>
      <p:sp>
        <p:nvSpPr>
          <p:cNvPr id="19" name="Text 17"/>
          <p:cNvSpPr/>
          <p:nvPr/>
        </p:nvSpPr>
        <p:spPr>
          <a:xfrm>
            <a:off x="822960" y="4901184"/>
            <a:ext cx="3657600" cy="256032"/>
          </a:xfrm>
          <a:prstGeom prst="rect">
            <a:avLst/>
          </a:prstGeom>
          <a:noFill/>
          <a:ln/>
        </p:spPr>
        <p:txBody>
          <a:bodyPr wrap="square" lIns="0" tIns="0" rIns="0" bIns="0" rtlCol="0" anchor="ctr"/>
          <a:lstStyle/>
          <a:p>
            <a:pPr indent="0" marL="0">
              <a:buNone/>
            </a:pPr>
            <a:r>
              <a:rPr lang="en-US" sz="1300" b="1" dirty="0">
                <a:solidFill>
                  <a:srgbClr val="FCAF17"/>
                </a:solidFill>
                <a:latin typeface="Apple SD Gothic Neo" pitchFamily="34" charset="0"/>
                <a:ea typeface="Apple SD Gothic Neo" pitchFamily="34" charset="-122"/>
                <a:cs typeface="Apple SD Gothic Neo" pitchFamily="34" charset="-120"/>
              </a:rPr>
              <a:t>알아두어야 할 제약</a:t>
            </a:r>
            <a:endParaRPr lang="en-US" sz="1300" dirty="0"/>
          </a:p>
        </p:txBody>
      </p:sp>
      <p:sp>
        <p:nvSpPr>
          <p:cNvPr id="20" name="Text 18"/>
          <p:cNvSpPr/>
          <p:nvPr/>
        </p:nvSpPr>
        <p:spPr>
          <a:xfrm>
            <a:off x="822960" y="5175504"/>
            <a:ext cx="10515600" cy="786384"/>
          </a:xfrm>
          <a:prstGeom prst="rect">
            <a:avLst/>
          </a:prstGeom>
          <a:noFill/>
          <a:ln/>
        </p:spPr>
        <p:txBody>
          <a:bodyPr wrap="square" lIns="0" tIns="0" rIns="0" bIns="0" rtlCol="0" anchor="t"/>
          <a:lstStyle/>
          <a:p>
            <a:pPr marL="152400" indent="-152400">
              <a:lnSpc>
                <a:spcPts val="1500"/>
              </a:lnSpc>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위 수치는 모델·DB 없이 도는 오프라인 자기일관성 검증이며, 실제 LLM·DB 종단 검증을 대신하지 않습니다.</a:t>
            </a:r>
            <a:endParaRPr lang="en-US" sz="1050" dirty="0"/>
          </a:p>
          <a:p>
            <a:pPr marL="152400" indent="-152400">
              <a:lnSpc>
                <a:spcPts val="1500"/>
              </a:lnSpc>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사용자 인증은 애플리케이션 밖의 책임입니다. ALB·게이트웨이가 X-User-ID를 신뢰 가능한 값으로 덮어써야 합니다.</a:t>
            </a:r>
            <a:endParaRPr lang="en-US" sz="1050" dirty="0"/>
          </a:p>
          <a:p>
            <a:pPr marL="152400" indent="-152400">
              <a:lnSpc>
                <a:spcPts val="1500"/>
              </a:lnSpc>
              <a:buSzPct val="100000"/>
              <a:buChar char="•"/>
            </a:pPr>
            <a:r>
              <a:rPr lang="en-US" sz="1050" dirty="0">
                <a:solidFill>
                  <a:srgbClr val="FFFFFF"/>
                </a:solidFill>
                <a:latin typeface="Apple SD Gothic Neo" pitchFamily="34" charset="0"/>
                <a:ea typeface="Apple SD Gothic Neo" pitchFamily="34" charset="-122"/>
                <a:cs typeface="Apple SD Gothic Neo" pitchFamily="34" charset="-120"/>
              </a:rPr>
              <a:t>내보낸 파일은 컨테이너 로컬에 저장되고, 화면의 요청 취소는 브라우저 수신만 멈춥니다(서버 실행 즉시 중단은 아님).</a:t>
            </a:r>
            <a:endParaRPr lang="en-US" sz="1050" dirty="0"/>
          </a:p>
        </p:txBody>
      </p:sp>
      <p:sp>
        <p:nvSpPr>
          <p:cNvPr id="21" name="Text 19"/>
          <p:cNvSpPr/>
          <p:nvPr/>
        </p:nvSpPr>
        <p:spPr>
          <a:xfrm>
            <a:off x="548640" y="6199632"/>
            <a:ext cx="11064240" cy="274320"/>
          </a:xfrm>
          <a:prstGeom prst="rect">
            <a:avLst/>
          </a:prstGeom>
          <a:noFill/>
          <a:ln/>
        </p:spPr>
        <p:txBody>
          <a:bodyPr wrap="square" lIns="0" tIns="0" rIns="0" bIns="0" rtlCol="0" anchor="ctr"/>
          <a:lstStyle/>
          <a:p>
            <a:pPr indent="0" marL="0">
              <a:buNone/>
            </a:pPr>
            <a:r>
              <a:rPr lang="en-US" sz="950" dirty="0">
                <a:solidFill>
                  <a:srgbClr val="9AA0A6"/>
                </a:solidFill>
                <a:latin typeface="Apple SD Gothic Neo" pitchFamily="34" charset="0"/>
                <a:ea typeface="Apple SD Gothic Neo" pitchFamily="34" charset="-122"/>
                <a:cs typeface="Apple SD Gothic Neo" pitchFamily="34" charset="-120"/>
              </a:rPr>
              <a:t>검증 수치는 2026-08-24 작업 트리에서 run_quality_eval.py · run_semantic_golden_eval.py 실행 결과</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법인영업 Text2SQL 에이전트</dc:title>
  <dc:subject>PptxGenJS Presentation</dc:subject>
  <dc:creator>corporate-sales Text2SQL</dc:creator>
  <cp:lastModifiedBy>corporate-sales Text2SQL</cp:lastModifiedBy>
  <cp:revision>1</cp:revision>
  <dcterms:created xsi:type="dcterms:W3CDTF">2026-08-24T03:59:39Z</dcterms:created>
  <dcterms:modified xsi:type="dcterms:W3CDTF">2026-08-24T03:59:39Z</dcterms:modified>
</cp:coreProperties>
</file>